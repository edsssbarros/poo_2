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8"/>
  </p:notesMasterIdLst>
  <p:sldIdLst>
    <p:sldId id="280" r:id="rId5"/>
    <p:sldId id="257" r:id="rId6"/>
    <p:sldId id="281" r:id="rId7"/>
    <p:sldId id="290" r:id="rId8"/>
    <p:sldId id="268" r:id="rId9"/>
    <p:sldId id="260" r:id="rId10"/>
    <p:sldId id="335" r:id="rId11"/>
    <p:sldId id="291" r:id="rId12"/>
    <p:sldId id="292" r:id="rId13"/>
    <p:sldId id="288" r:id="rId14"/>
    <p:sldId id="289" r:id="rId15"/>
    <p:sldId id="336" r:id="rId16"/>
    <p:sldId id="337" r:id="rId1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29" autoAdjust="0"/>
    <p:restoredTop sz="94660"/>
  </p:normalViewPr>
  <p:slideViewPr>
    <p:cSldViewPr snapToGrid="0">
      <p:cViewPr varScale="1">
        <p:scale>
          <a:sx n="79" d="100"/>
          <a:sy n="79" d="100"/>
        </p:scale>
        <p:origin x="725" y="7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2F1281-0164-4B0C-B7F3-4E9F0798143B}" type="datetimeFigureOut">
              <a:rPr lang="pt-BR" smtClean="0"/>
              <a:pPr/>
              <a:t>03/05/2026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A4A0DE-A0E1-4C22-9858-F9895CD1A039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69231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7171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117333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95325"/>
            <a:ext cx="6096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219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1456885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95325"/>
            <a:ext cx="6096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1267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5331102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1">
            <a:extLst>
              <a:ext uri="{FF2B5EF4-FFF2-40B4-BE49-F238E27FC236}">
                <a16:creationId xmlns:a16="http://schemas.microsoft.com/office/drawing/2014/main" id="{E771188B-DCEF-9817-3810-26ABDB90BC2F}"/>
              </a:ext>
            </a:extLst>
          </p:cNvPr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95325"/>
            <a:ext cx="6096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A8CB4816-FE06-402D-61C9-8420088E4AEE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pt-BR" altLang="pt-BR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883A7A-291F-F58E-9CCD-DEABAB664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1">
            <a:extLst>
              <a:ext uri="{FF2B5EF4-FFF2-40B4-BE49-F238E27FC236}">
                <a16:creationId xmlns:a16="http://schemas.microsoft.com/office/drawing/2014/main" id="{9E4A7D5C-297E-6798-62E7-504A09BD3043}"/>
              </a:ext>
            </a:extLst>
          </p:cNvPr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95325"/>
            <a:ext cx="6096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91216704-2AD7-CC27-5AE1-24AD0EBDD89C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pt-BR" altLang="pt-BR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64296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2CAB3B-005C-F416-331C-90DD04A96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1">
            <a:extLst>
              <a:ext uri="{FF2B5EF4-FFF2-40B4-BE49-F238E27FC236}">
                <a16:creationId xmlns:a16="http://schemas.microsoft.com/office/drawing/2014/main" id="{2F0036D7-9AF6-46F7-DC62-83D938E9B537}"/>
              </a:ext>
            </a:extLst>
          </p:cNvPr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95325"/>
            <a:ext cx="6096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EAEF212D-45F7-5F4A-4614-A7E03FE959DA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pt-BR" altLang="pt-BR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45375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1">
            <a:extLst>
              <a:ext uri="{FF2B5EF4-FFF2-40B4-BE49-F238E27FC236}">
                <a16:creationId xmlns:a16="http://schemas.microsoft.com/office/drawing/2014/main" id="{E771188B-DCEF-9817-3810-26ABDB90BC2F}"/>
              </a:ext>
            </a:extLst>
          </p:cNvPr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95325"/>
            <a:ext cx="6096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A8CB4816-FE06-402D-61C9-8420088E4AEE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pt-BR" altLang="pt-BR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10098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16056C-0B73-AD71-DD82-A162A5678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1">
            <a:extLst>
              <a:ext uri="{FF2B5EF4-FFF2-40B4-BE49-F238E27FC236}">
                <a16:creationId xmlns:a16="http://schemas.microsoft.com/office/drawing/2014/main" id="{F59EF872-5C82-E76D-6FE2-9E7D0DF58785}"/>
              </a:ext>
            </a:extLst>
          </p:cNvPr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95325"/>
            <a:ext cx="6096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538AACED-EB81-41CA-E832-FDC2CC5D41FD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pt-BR" altLang="pt-BR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93968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7752CD-C5BF-36A3-F3DF-C652C88DF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1">
            <a:extLst>
              <a:ext uri="{FF2B5EF4-FFF2-40B4-BE49-F238E27FC236}">
                <a16:creationId xmlns:a16="http://schemas.microsoft.com/office/drawing/2014/main" id="{F36AD1CE-9AEA-A23E-F593-68F313C7AA0A}"/>
              </a:ext>
            </a:extLst>
          </p:cNvPr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95325"/>
            <a:ext cx="6096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182F9C4C-A24A-D204-3F4A-0E8066F4B3D8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pt-BR" altLang="pt-BR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16344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Rectangle 28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05BD65-9D67-4958-A090-E6DA150A9E2E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8710823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28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FE1F68-E54B-4796-A3C4-AF84862A1273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606808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Rectangle 28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3D4F75-D9C5-4AAC-966A-1207AAC10E6C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62399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564218" y="1981200"/>
            <a:ext cx="5075767" cy="4108450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843185" y="1981200"/>
            <a:ext cx="5075767" cy="4108450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28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7F79CF-F9A4-4E99-837A-83749F12FB5F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022789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Rectangle 28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BB1710-DE77-4986-83E2-7658DAEA4204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27990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Rectangle 28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BA725F-D45A-4BAB-8F17-23638C94CBEC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9825136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8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9250A1-E89D-40D9-97D4-DC774F77A173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4710143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Rectangle 28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0B1843-DB8A-4888-82DC-2A025E1B7B21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1103776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Rectangle 28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1099F6-8CFE-4DBF-B2F5-542B55FA809B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751953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28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DFC40D-F5B2-4A79-9950-0DBDBE063843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2625823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9330267" y="457200"/>
            <a:ext cx="2588684" cy="563245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1564218" y="457200"/>
            <a:ext cx="7562849" cy="5632450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28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D8A770-00C0-4BB7-B3FB-57DF39311029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9273479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1"/>
          <p:cNvGrpSpPr>
            <a:grpSpLocks/>
          </p:cNvGrpSpPr>
          <p:nvPr/>
        </p:nvGrpSpPr>
        <p:grpSpPr bwMode="auto">
          <a:xfrm>
            <a:off x="1" y="-4763"/>
            <a:ext cx="1409700" cy="6851651"/>
            <a:chOff x="0" y="-3"/>
            <a:chExt cx="666" cy="4316"/>
          </a:xfrm>
        </p:grpSpPr>
        <p:grpSp>
          <p:nvGrpSpPr>
            <p:cNvPr id="1032" name="Group 2"/>
            <p:cNvGrpSpPr>
              <a:grpSpLocks/>
            </p:cNvGrpSpPr>
            <p:nvPr/>
          </p:nvGrpSpPr>
          <p:grpSpPr bwMode="auto">
            <a:xfrm>
              <a:off x="24" y="-3"/>
              <a:ext cx="633" cy="4316"/>
              <a:chOff x="24" y="-3"/>
              <a:chExt cx="633" cy="4316"/>
            </a:xfrm>
          </p:grpSpPr>
          <p:sp>
            <p:nvSpPr>
              <p:cNvPr id="1035" name="Freeform 3"/>
              <p:cNvSpPr>
                <a:spLocks noChangeArrowheads="1"/>
              </p:cNvSpPr>
              <p:nvPr/>
            </p:nvSpPr>
            <p:spPr bwMode="auto">
              <a:xfrm flipH="1">
                <a:off x="29" y="-3"/>
                <a:ext cx="620" cy="4300"/>
              </a:xfrm>
              <a:custGeom>
                <a:avLst/>
                <a:gdLst>
                  <a:gd name="T0" fmla="*/ 0 w 1000"/>
                  <a:gd name="T1" fmla="*/ 0 h 720"/>
                  <a:gd name="T2" fmla="*/ 0 w 1000"/>
                  <a:gd name="T3" fmla="*/ 25704 h 720"/>
                  <a:gd name="T4" fmla="*/ 386 w 1000"/>
                  <a:gd name="T5" fmla="*/ 25704 h 720"/>
                  <a:gd name="T6" fmla="*/ 386 w 1000"/>
                  <a:gd name="T7" fmla="*/ 0 h 720"/>
                  <a:gd name="T8" fmla="*/ 0 w 1000"/>
                  <a:gd name="T9" fmla="*/ 0 h 72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00" h="720">
                    <a:moveTo>
                      <a:pt x="0" y="0"/>
                    </a:moveTo>
                    <a:lnTo>
                      <a:pt x="0" y="720"/>
                    </a:lnTo>
                    <a:lnTo>
                      <a:pt x="1000" y="720"/>
                    </a:lnTo>
                    <a:lnTo>
                      <a:pt x="10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99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 sz="1800"/>
              </a:p>
            </p:txBody>
          </p:sp>
          <p:sp>
            <p:nvSpPr>
              <p:cNvPr id="1036" name="Freeform 4"/>
              <p:cNvSpPr>
                <a:spLocks noChangeArrowheads="1"/>
              </p:cNvSpPr>
              <p:nvPr/>
            </p:nvSpPr>
            <p:spPr bwMode="auto">
              <a:xfrm flipH="1">
                <a:off x="29" y="1066"/>
                <a:ext cx="620" cy="312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265 h 317"/>
                  <a:gd name="T4" fmla="*/ 618 w 624"/>
                  <a:gd name="T5" fmla="*/ 265 h 317"/>
                  <a:gd name="T6" fmla="*/ 618 w 624"/>
                  <a:gd name="T7" fmla="*/ 0 h 317"/>
                  <a:gd name="T8" fmla="*/ 0 w 624"/>
                  <a:gd name="T9" fmla="*/ 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490A8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 sz="1800"/>
              </a:p>
            </p:txBody>
          </p:sp>
          <p:sp>
            <p:nvSpPr>
              <p:cNvPr id="1037" name="Freeform 5"/>
              <p:cNvSpPr>
                <a:spLocks noChangeArrowheads="1"/>
              </p:cNvSpPr>
              <p:nvPr/>
            </p:nvSpPr>
            <p:spPr bwMode="auto">
              <a:xfrm flipH="1">
                <a:off x="29" y="811"/>
                <a:ext cx="620" cy="312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265 h 317"/>
                  <a:gd name="T4" fmla="*/ 618 w 624"/>
                  <a:gd name="T5" fmla="*/ 265 h 317"/>
                  <a:gd name="T6" fmla="*/ 618 w 624"/>
                  <a:gd name="T7" fmla="*/ 0 h 317"/>
                  <a:gd name="T8" fmla="*/ 0 w 624"/>
                  <a:gd name="T9" fmla="*/ 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1E1B7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 sz="1800"/>
              </a:p>
            </p:txBody>
          </p:sp>
          <p:sp>
            <p:nvSpPr>
              <p:cNvPr id="1038" name="Freeform 6"/>
              <p:cNvSpPr>
                <a:spLocks noChangeArrowheads="1"/>
              </p:cNvSpPr>
              <p:nvPr/>
            </p:nvSpPr>
            <p:spPr bwMode="auto">
              <a:xfrm flipH="1">
                <a:off x="29" y="94"/>
                <a:ext cx="620" cy="187"/>
              </a:xfrm>
              <a:custGeom>
                <a:avLst/>
                <a:gdLst>
                  <a:gd name="T0" fmla="*/ 0 w 624"/>
                  <a:gd name="T1" fmla="*/ 14 h 370"/>
                  <a:gd name="T2" fmla="*/ 0 w 624"/>
                  <a:gd name="T3" fmla="*/ 84 h 370"/>
                  <a:gd name="T4" fmla="*/ 618 w 624"/>
                  <a:gd name="T5" fmla="*/ 84 h 370"/>
                  <a:gd name="T6" fmla="*/ 618 w 624"/>
                  <a:gd name="T7" fmla="*/ 14 h 370"/>
                  <a:gd name="T8" fmla="*/ 381 w 624"/>
                  <a:gd name="T9" fmla="*/ 2 h 370"/>
                  <a:gd name="T10" fmla="*/ 0 w 624"/>
                  <a:gd name="T11" fmla="*/ 14 h 37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rgbClr val="5490A8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 sz="1800"/>
              </a:p>
            </p:txBody>
          </p:sp>
          <p:sp>
            <p:nvSpPr>
              <p:cNvPr id="1039" name="Freeform 7"/>
              <p:cNvSpPr>
                <a:spLocks noChangeArrowheads="1"/>
              </p:cNvSpPr>
              <p:nvPr/>
            </p:nvSpPr>
            <p:spPr bwMode="auto">
              <a:xfrm flipH="1">
                <a:off x="29" y="620"/>
                <a:ext cx="620" cy="216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127 h 317"/>
                  <a:gd name="T4" fmla="*/ 618 w 624"/>
                  <a:gd name="T5" fmla="*/ 127 h 317"/>
                  <a:gd name="T6" fmla="*/ 618 w 624"/>
                  <a:gd name="T7" fmla="*/ 0 h 317"/>
                  <a:gd name="T8" fmla="*/ 0 w 624"/>
                  <a:gd name="T9" fmla="*/ 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520" y="317"/>
                      <a:pt x="624" y="272"/>
                    </a:cubicBezTo>
                    <a:lnTo>
                      <a:pt x="624" y="0"/>
                    </a:lnTo>
                    <a:cubicBezTo>
                      <a:pt x="240" y="42"/>
                      <a:pt x="130" y="0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 sz="1800"/>
              </a:p>
            </p:txBody>
          </p:sp>
          <p:sp>
            <p:nvSpPr>
              <p:cNvPr id="1040" name="Freeform 8"/>
              <p:cNvSpPr>
                <a:spLocks noChangeArrowheads="1"/>
              </p:cNvSpPr>
              <p:nvPr/>
            </p:nvSpPr>
            <p:spPr bwMode="auto">
              <a:xfrm flipH="1">
                <a:off x="29" y="428"/>
                <a:ext cx="620" cy="267"/>
              </a:xfrm>
              <a:custGeom>
                <a:avLst/>
                <a:gdLst>
                  <a:gd name="T0" fmla="*/ 0 w 624"/>
                  <a:gd name="T1" fmla="*/ 0 h 272"/>
                  <a:gd name="T2" fmla="*/ 0 w 624"/>
                  <a:gd name="T3" fmla="*/ 264 h 272"/>
                  <a:gd name="T4" fmla="*/ 237 w 624"/>
                  <a:gd name="T5" fmla="*/ 233 h 272"/>
                  <a:gd name="T6" fmla="*/ 618 w 624"/>
                  <a:gd name="T7" fmla="*/ 264 h 272"/>
                  <a:gd name="T8" fmla="*/ 618 w 624"/>
                  <a:gd name="T9" fmla="*/ 0 h 272"/>
                  <a:gd name="T10" fmla="*/ 0 w 624"/>
                  <a:gd name="T11" fmla="*/ 0 h 27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366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 sz="1800"/>
              </a:p>
            </p:txBody>
          </p:sp>
          <p:sp>
            <p:nvSpPr>
              <p:cNvPr id="1041" name="Freeform 9"/>
              <p:cNvSpPr>
                <a:spLocks noChangeArrowheads="1"/>
              </p:cNvSpPr>
              <p:nvPr/>
            </p:nvSpPr>
            <p:spPr bwMode="auto">
              <a:xfrm flipH="1">
                <a:off x="28" y="234"/>
                <a:ext cx="628" cy="232"/>
              </a:xfrm>
              <a:custGeom>
                <a:avLst/>
                <a:gdLst>
                  <a:gd name="T0" fmla="*/ 8 w 632"/>
                  <a:gd name="T1" fmla="*/ 19 h 362"/>
                  <a:gd name="T2" fmla="*/ 8 w 632"/>
                  <a:gd name="T3" fmla="*/ 131 h 362"/>
                  <a:gd name="T4" fmla="*/ 245 w 632"/>
                  <a:gd name="T5" fmla="*/ 131 h 362"/>
                  <a:gd name="T6" fmla="*/ 626 w 632"/>
                  <a:gd name="T7" fmla="*/ 131 h 362"/>
                  <a:gd name="T8" fmla="*/ 626 w 632"/>
                  <a:gd name="T9" fmla="*/ 19 h 362"/>
                  <a:gd name="T10" fmla="*/ 103 w 632"/>
                  <a:gd name="T11" fmla="*/ 19 h 362"/>
                  <a:gd name="T12" fmla="*/ 8 w 632"/>
                  <a:gd name="T13" fmla="*/ 19 h 36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rgbClr val="003366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 sz="1800"/>
              </a:p>
            </p:txBody>
          </p:sp>
          <p:sp>
            <p:nvSpPr>
              <p:cNvPr id="1042" name="Freeform 10"/>
              <p:cNvSpPr>
                <a:spLocks noChangeArrowheads="1"/>
              </p:cNvSpPr>
              <p:nvPr/>
            </p:nvSpPr>
            <p:spPr bwMode="auto">
              <a:xfrm flipH="1">
                <a:off x="24" y="2479"/>
                <a:ext cx="620" cy="311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264 h 317"/>
                  <a:gd name="T4" fmla="*/ 618 w 624"/>
                  <a:gd name="T5" fmla="*/ 264 h 317"/>
                  <a:gd name="T6" fmla="*/ 618 w 624"/>
                  <a:gd name="T7" fmla="*/ 0 h 317"/>
                  <a:gd name="T8" fmla="*/ 0 w 624"/>
                  <a:gd name="T9" fmla="*/ 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490A8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 sz="1800"/>
              </a:p>
            </p:txBody>
          </p:sp>
          <p:sp>
            <p:nvSpPr>
              <p:cNvPr id="1043" name="Freeform 11"/>
              <p:cNvSpPr>
                <a:spLocks noChangeArrowheads="1"/>
              </p:cNvSpPr>
              <p:nvPr/>
            </p:nvSpPr>
            <p:spPr bwMode="auto">
              <a:xfrm flipH="1">
                <a:off x="24" y="2223"/>
                <a:ext cx="620" cy="312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265 h 317"/>
                  <a:gd name="T4" fmla="*/ 618 w 624"/>
                  <a:gd name="T5" fmla="*/ 265 h 317"/>
                  <a:gd name="T6" fmla="*/ 618 w 624"/>
                  <a:gd name="T7" fmla="*/ 0 h 317"/>
                  <a:gd name="T8" fmla="*/ 0 w 624"/>
                  <a:gd name="T9" fmla="*/ 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 sz="1800"/>
              </a:p>
            </p:txBody>
          </p:sp>
          <p:sp>
            <p:nvSpPr>
              <p:cNvPr id="1044" name="Freeform 12"/>
              <p:cNvSpPr>
                <a:spLocks noChangeArrowheads="1"/>
              </p:cNvSpPr>
              <p:nvPr/>
            </p:nvSpPr>
            <p:spPr bwMode="auto">
              <a:xfrm flipH="1">
                <a:off x="24" y="1508"/>
                <a:ext cx="620" cy="187"/>
              </a:xfrm>
              <a:custGeom>
                <a:avLst/>
                <a:gdLst>
                  <a:gd name="T0" fmla="*/ 0 w 624"/>
                  <a:gd name="T1" fmla="*/ 14 h 370"/>
                  <a:gd name="T2" fmla="*/ 0 w 624"/>
                  <a:gd name="T3" fmla="*/ 84 h 370"/>
                  <a:gd name="T4" fmla="*/ 618 w 624"/>
                  <a:gd name="T5" fmla="*/ 84 h 370"/>
                  <a:gd name="T6" fmla="*/ 618 w 624"/>
                  <a:gd name="T7" fmla="*/ 14 h 370"/>
                  <a:gd name="T8" fmla="*/ 381 w 624"/>
                  <a:gd name="T9" fmla="*/ 2 h 370"/>
                  <a:gd name="T10" fmla="*/ 0 w 624"/>
                  <a:gd name="T11" fmla="*/ 14 h 37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rgbClr val="003366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 sz="1800"/>
              </a:p>
            </p:txBody>
          </p:sp>
          <p:sp>
            <p:nvSpPr>
              <p:cNvPr id="1045" name="Freeform 13"/>
              <p:cNvSpPr>
                <a:spLocks noChangeArrowheads="1"/>
              </p:cNvSpPr>
              <p:nvPr/>
            </p:nvSpPr>
            <p:spPr bwMode="auto">
              <a:xfrm flipH="1">
                <a:off x="24" y="2033"/>
                <a:ext cx="620" cy="216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127 h 317"/>
                  <a:gd name="T4" fmla="*/ 618 w 624"/>
                  <a:gd name="T5" fmla="*/ 127 h 317"/>
                  <a:gd name="T6" fmla="*/ 618 w 624"/>
                  <a:gd name="T7" fmla="*/ 0 h 317"/>
                  <a:gd name="T8" fmla="*/ 0 w 624"/>
                  <a:gd name="T9" fmla="*/ 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520" y="317"/>
                      <a:pt x="624" y="272"/>
                    </a:cubicBezTo>
                    <a:lnTo>
                      <a:pt x="624" y="0"/>
                    </a:lnTo>
                    <a:cubicBezTo>
                      <a:pt x="240" y="42"/>
                      <a:pt x="130" y="0"/>
                      <a:pt x="0" y="0"/>
                    </a:cubicBezTo>
                    <a:close/>
                  </a:path>
                </a:pathLst>
              </a:custGeom>
              <a:solidFill>
                <a:srgbClr val="E1E1B7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 sz="1800"/>
              </a:p>
            </p:txBody>
          </p:sp>
          <p:sp>
            <p:nvSpPr>
              <p:cNvPr id="1046" name="Freeform 14"/>
              <p:cNvSpPr>
                <a:spLocks noChangeArrowheads="1"/>
              </p:cNvSpPr>
              <p:nvPr/>
            </p:nvSpPr>
            <p:spPr bwMode="auto">
              <a:xfrm flipH="1">
                <a:off x="24" y="1842"/>
                <a:ext cx="620" cy="267"/>
              </a:xfrm>
              <a:custGeom>
                <a:avLst/>
                <a:gdLst>
                  <a:gd name="T0" fmla="*/ 0 w 624"/>
                  <a:gd name="T1" fmla="*/ 0 h 272"/>
                  <a:gd name="T2" fmla="*/ 0 w 624"/>
                  <a:gd name="T3" fmla="*/ 264 h 272"/>
                  <a:gd name="T4" fmla="*/ 237 w 624"/>
                  <a:gd name="T5" fmla="*/ 233 h 272"/>
                  <a:gd name="T6" fmla="*/ 618 w 624"/>
                  <a:gd name="T7" fmla="*/ 264 h 272"/>
                  <a:gd name="T8" fmla="*/ 618 w 624"/>
                  <a:gd name="T9" fmla="*/ 0 h 272"/>
                  <a:gd name="T10" fmla="*/ 0 w 624"/>
                  <a:gd name="T11" fmla="*/ 0 h 27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366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 sz="1800"/>
              </a:p>
            </p:txBody>
          </p:sp>
          <p:sp>
            <p:nvSpPr>
              <p:cNvPr id="1047" name="Freeform 15"/>
              <p:cNvSpPr>
                <a:spLocks noChangeArrowheads="1"/>
              </p:cNvSpPr>
              <p:nvPr/>
            </p:nvSpPr>
            <p:spPr bwMode="auto">
              <a:xfrm flipH="1">
                <a:off x="23" y="1649"/>
                <a:ext cx="628" cy="233"/>
              </a:xfrm>
              <a:custGeom>
                <a:avLst/>
                <a:gdLst>
                  <a:gd name="T0" fmla="*/ 8 w 632"/>
                  <a:gd name="T1" fmla="*/ 19 h 362"/>
                  <a:gd name="T2" fmla="*/ 8 w 632"/>
                  <a:gd name="T3" fmla="*/ 133 h 362"/>
                  <a:gd name="T4" fmla="*/ 245 w 632"/>
                  <a:gd name="T5" fmla="*/ 133 h 362"/>
                  <a:gd name="T6" fmla="*/ 626 w 632"/>
                  <a:gd name="T7" fmla="*/ 133 h 362"/>
                  <a:gd name="T8" fmla="*/ 626 w 632"/>
                  <a:gd name="T9" fmla="*/ 19 h 362"/>
                  <a:gd name="T10" fmla="*/ 103 w 632"/>
                  <a:gd name="T11" fmla="*/ 19 h 362"/>
                  <a:gd name="T12" fmla="*/ 8 w 632"/>
                  <a:gd name="T13" fmla="*/ 19 h 36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rgbClr val="99CC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 sz="1800"/>
              </a:p>
            </p:txBody>
          </p:sp>
          <p:sp>
            <p:nvSpPr>
              <p:cNvPr id="1048" name="Freeform 16"/>
              <p:cNvSpPr>
                <a:spLocks noChangeArrowheads="1"/>
              </p:cNvSpPr>
              <p:nvPr/>
            </p:nvSpPr>
            <p:spPr bwMode="auto">
              <a:xfrm flipH="1">
                <a:off x="29" y="3128"/>
                <a:ext cx="620" cy="311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264 h 317"/>
                  <a:gd name="T4" fmla="*/ 618 w 624"/>
                  <a:gd name="T5" fmla="*/ 264 h 317"/>
                  <a:gd name="T6" fmla="*/ 618 w 624"/>
                  <a:gd name="T7" fmla="*/ 0 h 317"/>
                  <a:gd name="T8" fmla="*/ 0 w 624"/>
                  <a:gd name="T9" fmla="*/ 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9CC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 sz="1800"/>
              </a:p>
            </p:txBody>
          </p:sp>
          <p:sp>
            <p:nvSpPr>
              <p:cNvPr id="1049" name="Freeform 17"/>
              <p:cNvSpPr>
                <a:spLocks noChangeArrowheads="1"/>
              </p:cNvSpPr>
              <p:nvPr/>
            </p:nvSpPr>
            <p:spPr bwMode="auto">
              <a:xfrm flipH="1">
                <a:off x="29" y="2872"/>
                <a:ext cx="620" cy="312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265 h 317"/>
                  <a:gd name="T4" fmla="*/ 618 w 624"/>
                  <a:gd name="T5" fmla="*/ 265 h 317"/>
                  <a:gd name="T6" fmla="*/ 618 w 624"/>
                  <a:gd name="T7" fmla="*/ 0 h 317"/>
                  <a:gd name="T8" fmla="*/ 0 w 624"/>
                  <a:gd name="T9" fmla="*/ 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3366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 sz="1800"/>
              </a:p>
            </p:txBody>
          </p:sp>
          <p:sp>
            <p:nvSpPr>
              <p:cNvPr id="1050" name="Freeform 18"/>
              <p:cNvSpPr>
                <a:spLocks noChangeArrowheads="1"/>
              </p:cNvSpPr>
              <p:nvPr/>
            </p:nvSpPr>
            <p:spPr bwMode="auto">
              <a:xfrm flipH="1">
                <a:off x="24" y="3570"/>
                <a:ext cx="620" cy="187"/>
              </a:xfrm>
              <a:custGeom>
                <a:avLst/>
                <a:gdLst>
                  <a:gd name="T0" fmla="*/ 0 w 624"/>
                  <a:gd name="T1" fmla="*/ 14 h 370"/>
                  <a:gd name="T2" fmla="*/ 0 w 624"/>
                  <a:gd name="T3" fmla="*/ 84 h 370"/>
                  <a:gd name="T4" fmla="*/ 618 w 624"/>
                  <a:gd name="T5" fmla="*/ 84 h 370"/>
                  <a:gd name="T6" fmla="*/ 618 w 624"/>
                  <a:gd name="T7" fmla="*/ 14 h 370"/>
                  <a:gd name="T8" fmla="*/ 381 w 624"/>
                  <a:gd name="T9" fmla="*/ 2 h 370"/>
                  <a:gd name="T10" fmla="*/ 0 w 624"/>
                  <a:gd name="T11" fmla="*/ 14 h 37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rgbClr val="E1E1B7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 sz="1800"/>
              </a:p>
            </p:txBody>
          </p:sp>
          <p:sp>
            <p:nvSpPr>
              <p:cNvPr id="1051" name="Freeform 19"/>
              <p:cNvSpPr>
                <a:spLocks noChangeArrowheads="1"/>
              </p:cNvSpPr>
              <p:nvPr/>
            </p:nvSpPr>
            <p:spPr bwMode="auto">
              <a:xfrm rot="16200000" flipH="1">
                <a:off x="233" y="3896"/>
                <a:ext cx="214" cy="622"/>
              </a:xfrm>
              <a:custGeom>
                <a:avLst/>
                <a:gdLst>
                  <a:gd name="T0" fmla="*/ 0 w 291"/>
                  <a:gd name="T1" fmla="*/ 619 h 625"/>
                  <a:gd name="T2" fmla="*/ 159 w 291"/>
                  <a:gd name="T3" fmla="*/ 620 h 625"/>
                  <a:gd name="T4" fmla="*/ 159 w 291"/>
                  <a:gd name="T5" fmla="*/ 6 h 625"/>
                  <a:gd name="T6" fmla="*/ 0 w 291"/>
                  <a:gd name="T7" fmla="*/ 0 h 625"/>
                  <a:gd name="T8" fmla="*/ 0 w 291"/>
                  <a:gd name="T9" fmla="*/ 619 h 6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1" h="625">
                    <a:moveTo>
                      <a:pt x="0" y="624"/>
                    </a:moveTo>
                    <a:lnTo>
                      <a:pt x="291" y="625"/>
                    </a:lnTo>
                    <a:lnTo>
                      <a:pt x="291" y="6"/>
                    </a:lnTo>
                    <a:lnTo>
                      <a:pt x="0" y="0"/>
                    </a:lnTo>
                    <a:cubicBezTo>
                      <a:pt x="39" y="384"/>
                      <a:pt x="0" y="494"/>
                      <a:pt x="0" y="624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 sz="1800"/>
              </a:p>
            </p:txBody>
          </p:sp>
          <p:sp>
            <p:nvSpPr>
              <p:cNvPr id="2" name="Freeform 20"/>
              <p:cNvSpPr>
                <a:spLocks noChangeArrowheads="1"/>
              </p:cNvSpPr>
              <p:nvPr/>
            </p:nvSpPr>
            <p:spPr bwMode="auto">
              <a:xfrm flipH="1">
                <a:off x="24" y="3905"/>
                <a:ext cx="620" cy="267"/>
              </a:xfrm>
              <a:custGeom>
                <a:avLst/>
                <a:gdLst>
                  <a:gd name="T0" fmla="*/ 0 w 624"/>
                  <a:gd name="T1" fmla="*/ 0 h 272"/>
                  <a:gd name="T2" fmla="*/ 0 w 624"/>
                  <a:gd name="T3" fmla="*/ 264 h 272"/>
                  <a:gd name="T4" fmla="*/ 237 w 624"/>
                  <a:gd name="T5" fmla="*/ 233 h 272"/>
                  <a:gd name="T6" fmla="*/ 618 w 624"/>
                  <a:gd name="T7" fmla="*/ 264 h 272"/>
                  <a:gd name="T8" fmla="*/ 618 w 624"/>
                  <a:gd name="T9" fmla="*/ 0 h 272"/>
                  <a:gd name="T10" fmla="*/ 0 w 624"/>
                  <a:gd name="T11" fmla="*/ 0 h 27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366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 sz="1800"/>
              </a:p>
            </p:txBody>
          </p:sp>
          <p:sp>
            <p:nvSpPr>
              <p:cNvPr id="1053" name="Freeform 21"/>
              <p:cNvSpPr>
                <a:spLocks noChangeArrowheads="1"/>
              </p:cNvSpPr>
              <p:nvPr/>
            </p:nvSpPr>
            <p:spPr bwMode="auto">
              <a:xfrm flipH="1">
                <a:off x="23" y="3710"/>
                <a:ext cx="628" cy="233"/>
              </a:xfrm>
              <a:custGeom>
                <a:avLst/>
                <a:gdLst>
                  <a:gd name="T0" fmla="*/ 8 w 632"/>
                  <a:gd name="T1" fmla="*/ 19 h 362"/>
                  <a:gd name="T2" fmla="*/ 8 w 632"/>
                  <a:gd name="T3" fmla="*/ 133 h 362"/>
                  <a:gd name="T4" fmla="*/ 245 w 632"/>
                  <a:gd name="T5" fmla="*/ 133 h 362"/>
                  <a:gd name="T6" fmla="*/ 626 w 632"/>
                  <a:gd name="T7" fmla="*/ 133 h 362"/>
                  <a:gd name="T8" fmla="*/ 626 w 632"/>
                  <a:gd name="T9" fmla="*/ 19 h 362"/>
                  <a:gd name="T10" fmla="*/ 103 w 632"/>
                  <a:gd name="T11" fmla="*/ 19 h 362"/>
                  <a:gd name="T12" fmla="*/ 8 w 632"/>
                  <a:gd name="T13" fmla="*/ 19 h 36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rgbClr val="003366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 sz="1800"/>
              </a:p>
            </p:txBody>
          </p:sp>
        </p:grpSp>
        <p:sp>
          <p:nvSpPr>
            <p:cNvPr id="1033" name="Freeform 22"/>
            <p:cNvSpPr>
              <a:spLocks noChangeArrowheads="1"/>
            </p:cNvSpPr>
            <p:nvPr/>
          </p:nvSpPr>
          <p:spPr bwMode="auto">
            <a:xfrm rot="16200000" flipH="1">
              <a:off x="-1953" y="1951"/>
              <a:ext cx="4316" cy="407"/>
            </a:xfrm>
            <a:custGeom>
              <a:avLst/>
              <a:gdLst>
                <a:gd name="T0" fmla="*/ 0 w 5762"/>
                <a:gd name="T1" fmla="*/ 220 h 385"/>
                <a:gd name="T2" fmla="*/ 3234 w 5762"/>
                <a:gd name="T3" fmla="*/ 211 h 385"/>
                <a:gd name="T4" fmla="*/ 3234 w 5762"/>
                <a:gd name="T5" fmla="*/ 4 h 385"/>
                <a:gd name="T6" fmla="*/ 0 w 5762"/>
                <a:gd name="T7" fmla="*/ 0 h 385"/>
                <a:gd name="T8" fmla="*/ 0 w 5762"/>
                <a:gd name="T9" fmla="*/ 220 h 38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762" h="385">
                  <a:moveTo>
                    <a:pt x="0" y="196"/>
                  </a:moveTo>
                  <a:cubicBezTo>
                    <a:pt x="1667" y="385"/>
                    <a:pt x="2275" y="93"/>
                    <a:pt x="5762" y="188"/>
                  </a:cubicBezTo>
                  <a:lnTo>
                    <a:pt x="5762" y="4"/>
                  </a:lnTo>
                  <a:lnTo>
                    <a:pt x="0" y="0"/>
                  </a:lnTo>
                  <a:lnTo>
                    <a:pt x="0" y="196"/>
                  </a:lnTo>
                  <a:close/>
                </a:path>
              </a:pathLst>
            </a:custGeom>
            <a:gradFill rotWithShape="0">
              <a:gsLst>
                <a:gs pos="0">
                  <a:srgbClr val="767676"/>
                </a:gs>
                <a:gs pos="100000">
                  <a:srgbClr val="FFFFFF"/>
                </a:gs>
              </a:gsLst>
              <a:lin ang="108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 sz="1800"/>
            </a:p>
          </p:txBody>
        </p:sp>
        <p:sp>
          <p:nvSpPr>
            <p:cNvPr id="1034" name="Freeform 23"/>
            <p:cNvSpPr>
              <a:spLocks noChangeArrowheads="1"/>
            </p:cNvSpPr>
            <p:nvPr/>
          </p:nvSpPr>
          <p:spPr bwMode="auto">
            <a:xfrm rot="16200000" flipH="1">
              <a:off x="-1583" y="2062"/>
              <a:ext cx="4315" cy="185"/>
            </a:xfrm>
            <a:custGeom>
              <a:avLst/>
              <a:gdLst>
                <a:gd name="T0" fmla="*/ 0 w 5761"/>
                <a:gd name="T1" fmla="*/ 27 h 189"/>
                <a:gd name="T2" fmla="*/ 3233 w 5761"/>
                <a:gd name="T3" fmla="*/ 0 h 189"/>
                <a:gd name="T4" fmla="*/ 3233 w 5761"/>
                <a:gd name="T5" fmla="*/ 183 h 189"/>
                <a:gd name="T6" fmla="*/ 1 w 5761"/>
                <a:gd name="T7" fmla="*/ 183 h 189"/>
                <a:gd name="T8" fmla="*/ 0 w 5761"/>
                <a:gd name="T9" fmla="*/ 27 h 1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761" h="189">
                  <a:moveTo>
                    <a:pt x="0" y="28"/>
                  </a:moveTo>
                  <a:cubicBezTo>
                    <a:pt x="961" y="0"/>
                    <a:pt x="4971" y="161"/>
                    <a:pt x="5761" y="0"/>
                  </a:cubicBezTo>
                  <a:lnTo>
                    <a:pt x="5761" y="189"/>
                  </a:lnTo>
                  <a:lnTo>
                    <a:pt x="1" y="189"/>
                  </a:lnTo>
                  <a:lnTo>
                    <a:pt x="0" y="28"/>
                  </a:lnTo>
                  <a:close/>
                </a:path>
              </a:pathLst>
            </a:custGeom>
            <a:gradFill rotWithShape="0">
              <a:gsLst>
                <a:gs pos="0">
                  <a:srgbClr val="FFFFFF"/>
                </a:gs>
                <a:gs pos="100000">
                  <a:srgbClr val="767676"/>
                </a:gs>
              </a:gsLst>
              <a:lin ang="108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 sz="1800"/>
            </a:p>
          </p:txBody>
        </p:sp>
      </p:grpSp>
      <p:sp>
        <p:nvSpPr>
          <p:cNvPr id="1027" name="Rectangle 24"/>
          <p:cNvSpPr>
            <a:spLocks noGrp="1" noChangeArrowheads="1"/>
          </p:cNvSpPr>
          <p:nvPr>
            <p:ph type="title"/>
          </p:nvPr>
        </p:nvSpPr>
        <p:spPr bwMode="auto">
          <a:xfrm>
            <a:off x="1564218" y="457200"/>
            <a:ext cx="10354733" cy="1136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pt-BR"/>
              <a:t>Clique para editar o formato do texto do título</a:t>
            </a:r>
          </a:p>
        </p:txBody>
      </p:sp>
      <p:sp>
        <p:nvSpPr>
          <p:cNvPr id="1028" name="Rectangle 25"/>
          <p:cNvSpPr>
            <a:spLocks noGrp="1" noChangeArrowheads="1"/>
          </p:cNvSpPr>
          <p:nvPr>
            <p:ph type="body" idx="1"/>
          </p:nvPr>
        </p:nvSpPr>
        <p:spPr bwMode="auto">
          <a:xfrm>
            <a:off x="1564218" y="1981200"/>
            <a:ext cx="10354733" cy="410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pt-BR"/>
              <a:t>Clique para editar o formato do texto da estrutura de tópicos</a:t>
            </a:r>
          </a:p>
          <a:p>
            <a:pPr lvl="1"/>
            <a:r>
              <a:rPr lang="en-GB" altLang="pt-BR"/>
              <a:t>2.º Nível da estrutura de tópicos</a:t>
            </a:r>
          </a:p>
          <a:p>
            <a:pPr lvl="2"/>
            <a:r>
              <a:rPr lang="en-GB" altLang="pt-BR"/>
              <a:t>3.º Nível da estrutura de tópicos</a:t>
            </a:r>
          </a:p>
          <a:p>
            <a:pPr lvl="3"/>
            <a:r>
              <a:rPr lang="en-GB" altLang="pt-BR"/>
              <a:t>4.º Nível da estrutura de tópicos</a:t>
            </a:r>
          </a:p>
          <a:p>
            <a:pPr lvl="4"/>
            <a:r>
              <a:rPr lang="en-GB" altLang="pt-BR"/>
              <a:t>5.º Nível da estrutura de tópicos</a:t>
            </a:r>
          </a:p>
          <a:p>
            <a:pPr lvl="4"/>
            <a:r>
              <a:rPr lang="en-GB" altLang="pt-BR"/>
              <a:t>6.º Nível da estrutura de tópicos</a:t>
            </a:r>
          </a:p>
          <a:p>
            <a:pPr lvl="4"/>
            <a:r>
              <a:rPr lang="en-GB" altLang="pt-BR"/>
              <a:t>7.º Nível da estrutura de tópicos</a:t>
            </a:r>
          </a:p>
          <a:p>
            <a:pPr lvl="4"/>
            <a:r>
              <a:rPr lang="en-GB" altLang="pt-BR"/>
              <a:t>8.º Nível da estrutura de tópicos</a:t>
            </a:r>
          </a:p>
          <a:p>
            <a:pPr lvl="4"/>
            <a:r>
              <a:rPr lang="en-GB" altLang="pt-BR"/>
              <a:t>9.º Nível da estrutura de tópicos</a:t>
            </a:r>
          </a:p>
        </p:txBody>
      </p:sp>
      <p:sp>
        <p:nvSpPr>
          <p:cNvPr id="1029" name="Text Box 26"/>
          <p:cNvSpPr txBox="1">
            <a:spLocks noChangeArrowheads="1"/>
          </p:cNvSpPr>
          <p:nvPr/>
        </p:nvSpPr>
        <p:spPr bwMode="auto">
          <a:xfrm>
            <a:off x="1564218" y="6265864"/>
            <a:ext cx="2535767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pt-BR" altLang="pt-BR" sz="1800"/>
          </a:p>
        </p:txBody>
      </p:sp>
      <p:sp>
        <p:nvSpPr>
          <p:cNvPr id="1030" name="Text Box 27"/>
          <p:cNvSpPr txBox="1">
            <a:spLocks noChangeArrowheads="1"/>
          </p:cNvSpPr>
          <p:nvPr/>
        </p:nvSpPr>
        <p:spPr bwMode="auto">
          <a:xfrm>
            <a:off x="4775201" y="6248401"/>
            <a:ext cx="3856567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pt-BR" altLang="pt-BR" sz="1800"/>
          </a:p>
        </p:txBody>
      </p:sp>
      <p:sp>
        <p:nvSpPr>
          <p:cNvPr id="1052" name="Rectangle 28"/>
          <p:cNvSpPr>
            <a:spLocks noGrp="1" noChangeArrowheads="1"/>
          </p:cNvSpPr>
          <p:nvPr>
            <p:ph type="sldNum"/>
          </p:nvPr>
        </p:nvSpPr>
        <p:spPr bwMode="auto">
          <a:xfrm>
            <a:off x="9347200" y="6248400"/>
            <a:ext cx="2531533" cy="450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eaLnBrk="1" hangingPunct="1">
              <a:buClrTx/>
              <a:buSzPct val="100000"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mtClean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6BE85A7B-F772-4A0A-B69B-FAD3A423D1F6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906969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 kern="1200">
          <a:solidFill>
            <a:srgbClr val="003366"/>
          </a:solidFill>
          <a:latin typeface="+mj-lt"/>
          <a:ea typeface="+mj-ea"/>
          <a:cs typeface="+mj-cs"/>
        </a:defRPr>
      </a:lvl1pPr>
      <a:lvl2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3366"/>
          </a:solidFill>
          <a:latin typeface="Times New Roman" panose="02020603050405020304" pitchFamily="18" charset="0"/>
          <a:ea typeface="Microsoft YaHei" panose="020B0503020204020204" pitchFamily="34" charset="-122"/>
        </a:defRPr>
      </a:lvl2pPr>
      <a:lvl3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3366"/>
          </a:solidFill>
          <a:latin typeface="Times New Roman" panose="02020603050405020304" pitchFamily="18" charset="0"/>
          <a:ea typeface="Microsoft YaHei" panose="020B0503020204020204" pitchFamily="34" charset="-122"/>
        </a:defRPr>
      </a:lvl3pPr>
      <a:lvl4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3366"/>
          </a:solidFill>
          <a:latin typeface="Times New Roman" panose="02020603050405020304" pitchFamily="18" charset="0"/>
          <a:ea typeface="Microsoft YaHei" panose="020B0503020204020204" pitchFamily="34" charset="-122"/>
        </a:defRPr>
      </a:lvl4pPr>
      <a:lvl5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3366"/>
          </a:solidFill>
          <a:latin typeface="Times New Roman" panose="02020603050405020304" pitchFamily="18" charset="0"/>
          <a:ea typeface="Microsoft YaHei" panose="020B0503020204020204" pitchFamily="34" charset="-122"/>
        </a:defRPr>
      </a:lvl5pPr>
      <a:lvl6pPr marL="25146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3366"/>
          </a:solidFill>
          <a:latin typeface="Times New Roman" panose="02020603050405020304" pitchFamily="18" charset="0"/>
          <a:ea typeface="Microsoft YaHei" panose="020B0503020204020204" pitchFamily="34" charset="-122"/>
        </a:defRPr>
      </a:lvl6pPr>
      <a:lvl7pPr marL="29718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3366"/>
          </a:solidFill>
          <a:latin typeface="Times New Roman" panose="02020603050405020304" pitchFamily="18" charset="0"/>
          <a:ea typeface="Microsoft YaHei" panose="020B0503020204020204" pitchFamily="34" charset="-122"/>
        </a:defRPr>
      </a:lvl7pPr>
      <a:lvl8pPr marL="34290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3366"/>
          </a:solidFill>
          <a:latin typeface="Times New Roman" panose="02020603050405020304" pitchFamily="18" charset="0"/>
          <a:ea typeface="Microsoft YaHei" panose="020B0503020204020204" pitchFamily="34" charset="-122"/>
        </a:defRPr>
      </a:lvl8pPr>
      <a:lvl9pPr marL="38862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3366"/>
          </a:solidFill>
          <a:latin typeface="Times New Roman" panose="02020603050405020304" pitchFamily="18" charset="0"/>
          <a:ea typeface="Microsoft YaHei" panose="020B0503020204020204" pitchFamily="34" charset="-122"/>
        </a:defRPr>
      </a:lvl9pPr>
    </p:titleStyle>
    <p:bodyStyle>
      <a:lvl1pPr marL="342900" indent="-342900" algn="l" defTabSz="449263" rtl="0" eaLnBrk="0" fontAlgn="base" hangingPunct="0"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 kern="1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 kern="12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49263" rtl="0" eaLnBrk="0" fontAlgn="base" hangingPunct="0"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400" kern="12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 kern="12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 kern="12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781300" y="1412777"/>
            <a:ext cx="7886700" cy="1656184"/>
          </a:xfrm>
        </p:spPr>
        <p:txBody>
          <a:bodyPr/>
          <a:lstStyle/>
          <a:p>
            <a:pPr algn="ctr"/>
            <a:r>
              <a:rPr lang="pt-BR"/>
              <a:t>Construção </a:t>
            </a:r>
            <a:r>
              <a:rPr lang="pt-BR" dirty="0"/>
              <a:t>de GUI</a:t>
            </a:r>
          </a:p>
        </p:txBody>
      </p:sp>
    </p:spTree>
    <p:extLst>
      <p:ext uri="{BB962C8B-B14F-4D97-AF65-F5344CB8AC3E}">
        <p14:creationId xmlns:p14="http://schemas.microsoft.com/office/powerpoint/2010/main" val="33427541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1"/>
          <p:cNvSpPr txBox="1">
            <a:spLocks noChangeArrowheads="1"/>
          </p:cNvSpPr>
          <p:nvPr/>
        </p:nvSpPr>
        <p:spPr bwMode="auto">
          <a:xfrm>
            <a:off x="2697163" y="228600"/>
            <a:ext cx="77724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9pPr>
          </a:lstStyle>
          <a:p>
            <a:pPr defTabSz="449263" fontAlgn="base">
              <a:spcBef>
                <a:spcPct val="0"/>
              </a:spcBef>
              <a:spcAft>
                <a:spcPct val="0"/>
              </a:spcAft>
              <a:buClrTx/>
            </a:pPr>
            <a:r>
              <a:rPr lang="pt-BR" altLang="pt-BR" sz="3600">
                <a:solidFill>
                  <a:srgbClr val="003366"/>
                </a:solidFill>
              </a:rPr>
              <a:t>Considerações Iniciais</a:t>
            </a:r>
          </a:p>
        </p:txBody>
      </p:sp>
      <p:pic>
        <p:nvPicPr>
          <p:cNvPr id="614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990601"/>
            <a:ext cx="6248400" cy="524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1"/>
          <p:cNvSpPr txBox="1">
            <a:spLocks noChangeArrowheads="1"/>
          </p:cNvSpPr>
          <p:nvPr/>
        </p:nvSpPr>
        <p:spPr bwMode="auto">
          <a:xfrm>
            <a:off x="2514601" y="1143000"/>
            <a:ext cx="7954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9pPr>
          </a:lstStyle>
          <a:p>
            <a:pPr defTabSz="449263" fontAlgn="base">
              <a:spcBef>
                <a:spcPct val="0"/>
              </a:spcBef>
              <a:spcAft>
                <a:spcPct val="0"/>
              </a:spcAft>
              <a:buClrTx/>
            </a:pPr>
            <a:r>
              <a:rPr lang="pt-BR" altLang="pt-BR" b="1" dirty="0">
                <a:solidFill>
                  <a:srgbClr val="000000"/>
                </a:solidFill>
              </a:rPr>
              <a:t>Estrutura Padrão de um a Aplicação GUI</a:t>
            </a:r>
          </a:p>
        </p:txBody>
      </p:sp>
      <p:sp>
        <p:nvSpPr>
          <p:cNvPr id="8196" name="Rectangle 8"/>
          <p:cNvSpPr>
            <a:spLocks noChangeArrowheads="1"/>
          </p:cNvSpPr>
          <p:nvPr/>
        </p:nvSpPr>
        <p:spPr bwMode="auto">
          <a:xfrm>
            <a:off x="2438400" y="152400"/>
            <a:ext cx="77724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9pPr>
          </a:lstStyle>
          <a:p>
            <a:pPr defTabSz="449263" fontAlgn="base">
              <a:spcBef>
                <a:spcPct val="0"/>
              </a:spcBef>
              <a:spcAft>
                <a:spcPct val="0"/>
              </a:spcAft>
              <a:buClrTx/>
            </a:pPr>
            <a:r>
              <a:rPr lang="pt-BR" altLang="pt-BR" sz="3600">
                <a:solidFill>
                  <a:srgbClr val="003366"/>
                </a:solidFill>
              </a:rPr>
              <a:t>Considerações Iniciais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9B9C6EA2-96AD-4B0F-9B56-F762FDB452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9556" y="1905000"/>
            <a:ext cx="5452534" cy="4503087"/>
          </a:xfrm>
          <a:prstGeom prst="rect">
            <a:avLst/>
          </a:prstGeom>
        </p:spPr>
      </p:pic>
      <p:sp>
        <p:nvSpPr>
          <p:cNvPr id="12" name="AutoShape 5">
            <a:extLst>
              <a:ext uri="{FF2B5EF4-FFF2-40B4-BE49-F238E27FC236}">
                <a16:creationId xmlns:a16="http://schemas.microsoft.com/office/drawing/2014/main" id="{54DFCE94-F8E1-4230-9A14-585F430E1AD7}"/>
              </a:ext>
            </a:extLst>
          </p:cNvPr>
          <p:cNvSpPr>
            <a:spLocks/>
          </p:cNvSpPr>
          <p:nvPr/>
        </p:nvSpPr>
        <p:spPr bwMode="auto">
          <a:xfrm>
            <a:off x="5870223" y="2752019"/>
            <a:ext cx="1582208" cy="676981"/>
          </a:xfrm>
          <a:prstGeom prst="borderCallout1">
            <a:avLst>
              <a:gd name="adj1" fmla="val 13583"/>
              <a:gd name="adj2" fmla="val 103773"/>
              <a:gd name="adj3" fmla="val -71859"/>
              <a:gd name="adj4" fmla="val 139595"/>
            </a:avLst>
          </a:prstGeom>
          <a:solidFill>
            <a:srgbClr val="FFFFFF"/>
          </a:solidFill>
          <a:ln w="9360" cap="sq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9pPr>
          </a:lstStyle>
          <a:p>
            <a:pPr algn="ctr" defTabSz="449263" fontAlgn="base">
              <a:spcBef>
                <a:spcPct val="0"/>
              </a:spcBef>
              <a:spcAft>
                <a:spcPct val="0"/>
              </a:spcAft>
              <a:buClrTx/>
            </a:pPr>
            <a:r>
              <a:rPr lang="pt-BR" altLang="pt-BR" sz="2000" b="1" dirty="0">
                <a:solidFill>
                  <a:srgbClr val="000000"/>
                </a:solidFill>
              </a:rPr>
              <a:t>Botões  de Controle</a:t>
            </a:r>
          </a:p>
        </p:txBody>
      </p:sp>
      <p:sp>
        <p:nvSpPr>
          <p:cNvPr id="13" name="AutoShape 4">
            <a:extLst>
              <a:ext uri="{FF2B5EF4-FFF2-40B4-BE49-F238E27FC236}">
                <a16:creationId xmlns:a16="http://schemas.microsoft.com/office/drawing/2014/main" id="{FD77F9E6-D554-43F9-B7CD-A7B018F2FA76}"/>
              </a:ext>
            </a:extLst>
          </p:cNvPr>
          <p:cNvSpPr>
            <a:spLocks/>
          </p:cNvSpPr>
          <p:nvPr/>
        </p:nvSpPr>
        <p:spPr bwMode="auto">
          <a:xfrm>
            <a:off x="3651425" y="2593975"/>
            <a:ext cx="1167342" cy="835025"/>
          </a:xfrm>
          <a:prstGeom prst="borderCallout1">
            <a:avLst>
              <a:gd name="adj1" fmla="val 13583"/>
              <a:gd name="adj2" fmla="val 104042"/>
              <a:gd name="adj3" fmla="val -40944"/>
              <a:gd name="adj4" fmla="val 142685"/>
            </a:avLst>
          </a:prstGeom>
          <a:solidFill>
            <a:srgbClr val="FFFFFF"/>
          </a:solidFill>
          <a:ln w="9360" cap="sq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9pPr>
          </a:lstStyle>
          <a:p>
            <a:pPr algn="ctr" defTabSz="449263" fontAlgn="base">
              <a:spcBef>
                <a:spcPct val="0"/>
              </a:spcBef>
              <a:spcAft>
                <a:spcPct val="0"/>
              </a:spcAft>
              <a:buClrTx/>
            </a:pPr>
            <a:r>
              <a:rPr lang="pt-BR" altLang="pt-BR" sz="2000" b="1" dirty="0">
                <a:solidFill>
                  <a:srgbClr val="000000"/>
                </a:solidFill>
              </a:rPr>
              <a:t>Barra de Título</a:t>
            </a:r>
          </a:p>
        </p:txBody>
      </p:sp>
      <p:sp>
        <p:nvSpPr>
          <p:cNvPr id="14" name="AutoShape 6">
            <a:extLst>
              <a:ext uri="{FF2B5EF4-FFF2-40B4-BE49-F238E27FC236}">
                <a16:creationId xmlns:a16="http://schemas.microsoft.com/office/drawing/2014/main" id="{3DE4762F-B0F2-4583-AF5D-71A8D10FE210}"/>
              </a:ext>
            </a:extLst>
          </p:cNvPr>
          <p:cNvSpPr>
            <a:spLocks/>
          </p:cNvSpPr>
          <p:nvPr/>
        </p:nvSpPr>
        <p:spPr bwMode="auto">
          <a:xfrm>
            <a:off x="1769049" y="5120570"/>
            <a:ext cx="1491104" cy="835025"/>
          </a:xfrm>
          <a:prstGeom prst="borderCallout1">
            <a:avLst>
              <a:gd name="adj1" fmla="val 13583"/>
              <a:gd name="adj2" fmla="val 103773"/>
              <a:gd name="adj3" fmla="val -40944"/>
              <a:gd name="adj4" fmla="val 147954"/>
            </a:avLst>
          </a:prstGeom>
          <a:solidFill>
            <a:srgbClr val="FFFFFF"/>
          </a:solidFill>
          <a:ln w="9360" cap="sq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9pPr>
          </a:lstStyle>
          <a:p>
            <a:pPr algn="ctr" defTabSz="449263" fontAlgn="base">
              <a:spcBef>
                <a:spcPct val="0"/>
              </a:spcBef>
              <a:spcAft>
                <a:spcPct val="0"/>
              </a:spcAft>
              <a:buClrTx/>
            </a:pPr>
            <a:r>
              <a:rPr lang="pt-BR" altLang="pt-BR" sz="2000" b="1" dirty="0">
                <a:solidFill>
                  <a:srgbClr val="000000"/>
                </a:solidFill>
              </a:rPr>
              <a:t>Área do Aplicativo</a:t>
            </a:r>
          </a:p>
        </p:txBody>
      </p:sp>
    </p:spTree>
    <p:extLst>
      <p:ext uri="{BB962C8B-B14F-4D97-AF65-F5344CB8AC3E}">
        <p14:creationId xmlns:p14="http://schemas.microsoft.com/office/powerpoint/2010/main" val="43128527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1"/>
          <p:cNvSpPr txBox="1">
            <a:spLocks noChangeArrowheads="1"/>
          </p:cNvSpPr>
          <p:nvPr/>
        </p:nvSpPr>
        <p:spPr bwMode="auto">
          <a:xfrm>
            <a:off x="1524000" y="304800"/>
            <a:ext cx="103632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pt-BR" altLang="pt-BR" sz="3600">
                <a:solidFill>
                  <a:srgbClr val="003366"/>
                </a:solidFill>
              </a:rPr>
              <a:t>Recursos de Interface Básicos</a:t>
            </a:r>
          </a:p>
        </p:txBody>
      </p:sp>
      <p:sp>
        <p:nvSpPr>
          <p:cNvPr id="10243" name="Text Box 2"/>
          <p:cNvSpPr txBox="1">
            <a:spLocks noChangeArrowheads="1"/>
          </p:cNvSpPr>
          <p:nvPr/>
        </p:nvSpPr>
        <p:spPr bwMode="auto">
          <a:xfrm>
            <a:off x="1524000" y="1219200"/>
            <a:ext cx="10363200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 indent="371475"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9125" algn="l"/>
                <a:tab pos="1078071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9125" algn="l"/>
                <a:tab pos="1078071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9125" algn="l"/>
                <a:tab pos="1078071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9125" algn="l"/>
                <a:tab pos="1078071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9125" algn="l"/>
                <a:tab pos="1078071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9125" algn="l"/>
                <a:tab pos="1078071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9125" algn="l"/>
                <a:tab pos="1078071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9125" algn="l"/>
                <a:tab pos="1078071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9125" algn="l"/>
                <a:tab pos="1078071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ts val="800"/>
              </a:spcBef>
              <a:buClr>
                <a:srgbClr val="0099CC"/>
              </a:buClr>
              <a:buSzPct val="80000"/>
              <a:buFont typeface="Wingdings" panose="05000000000000000000" pitchFamily="2" charset="2"/>
              <a:buChar char=""/>
            </a:pPr>
            <a:r>
              <a:rPr lang="pt-BR" altLang="pt-BR" sz="3200" dirty="0" err="1">
                <a:solidFill>
                  <a:srgbClr val="000000"/>
                </a:solidFill>
                <a:latin typeface="Arial" panose="020B0604020202020204" pitchFamily="34" charset="0"/>
              </a:rPr>
              <a:t>JLabel</a:t>
            </a:r>
            <a:r>
              <a:rPr lang="pt-BR" altLang="pt-BR" sz="3200" dirty="0">
                <a:solidFill>
                  <a:srgbClr val="000000"/>
                </a:solidFill>
                <a:latin typeface="Arial" panose="020B0604020202020204" pitchFamily="34" charset="0"/>
              </a:rPr>
              <a:t> 		 </a:t>
            </a:r>
          </a:p>
          <a:p>
            <a:pPr eaLnBrk="1" hangingPunct="1">
              <a:lnSpc>
                <a:spcPct val="90000"/>
              </a:lnSpc>
              <a:spcBef>
                <a:spcPts val="800"/>
              </a:spcBef>
              <a:buClr>
                <a:srgbClr val="0099CC"/>
              </a:buClr>
              <a:buSzPct val="80000"/>
              <a:buFont typeface="Wingdings" panose="05000000000000000000" pitchFamily="2" charset="2"/>
              <a:buChar char=""/>
            </a:pPr>
            <a:r>
              <a:rPr lang="pt-BR" altLang="pt-BR" sz="3200" dirty="0" err="1">
                <a:solidFill>
                  <a:srgbClr val="000000"/>
                </a:solidFill>
                <a:latin typeface="Arial" panose="020B0604020202020204" pitchFamily="34" charset="0"/>
              </a:rPr>
              <a:t>JTextField</a:t>
            </a:r>
            <a:r>
              <a:rPr lang="pt-BR" altLang="pt-BR" sz="3200" dirty="0">
                <a:solidFill>
                  <a:srgbClr val="000000"/>
                </a:solidFill>
                <a:latin typeface="Arial" panose="020B0604020202020204" pitchFamily="34" charset="0"/>
              </a:rPr>
              <a:t> 		   </a:t>
            </a:r>
          </a:p>
          <a:p>
            <a:pPr eaLnBrk="1" hangingPunct="1">
              <a:lnSpc>
                <a:spcPct val="90000"/>
              </a:lnSpc>
              <a:spcBef>
                <a:spcPts val="800"/>
              </a:spcBef>
              <a:buClr>
                <a:srgbClr val="0099CC"/>
              </a:buClr>
              <a:buSzPct val="80000"/>
              <a:buFont typeface="Wingdings" panose="05000000000000000000" pitchFamily="2" charset="2"/>
              <a:buChar char=""/>
            </a:pPr>
            <a:r>
              <a:rPr lang="pt-BR" altLang="pt-BR" sz="3200" dirty="0" err="1">
                <a:solidFill>
                  <a:srgbClr val="000000"/>
                </a:solidFill>
                <a:latin typeface="Arial" panose="020B0604020202020204" pitchFamily="34" charset="0"/>
              </a:rPr>
              <a:t>JButton</a:t>
            </a:r>
            <a:r>
              <a:rPr lang="pt-BR" altLang="pt-BR" sz="3200" dirty="0">
                <a:solidFill>
                  <a:srgbClr val="000000"/>
                </a:solidFill>
                <a:latin typeface="Arial" panose="020B0604020202020204" pitchFamily="34" charset="0"/>
              </a:rPr>
              <a:t> 	  </a:t>
            </a:r>
          </a:p>
          <a:p>
            <a:pPr eaLnBrk="1" hangingPunct="1">
              <a:lnSpc>
                <a:spcPct val="90000"/>
              </a:lnSpc>
              <a:spcBef>
                <a:spcPts val="800"/>
              </a:spcBef>
              <a:buClr>
                <a:srgbClr val="0099CC"/>
              </a:buClr>
              <a:buSzPct val="80000"/>
              <a:buFont typeface="Wingdings" panose="05000000000000000000" pitchFamily="2" charset="2"/>
              <a:buChar char=""/>
            </a:pPr>
            <a:r>
              <a:rPr lang="pt-BR" altLang="pt-BR" sz="3200" dirty="0" err="1">
                <a:solidFill>
                  <a:srgbClr val="000000"/>
                </a:solidFill>
                <a:latin typeface="Arial" panose="020B0604020202020204" pitchFamily="34" charset="0"/>
              </a:rPr>
              <a:t>JCheckBox</a:t>
            </a:r>
            <a:r>
              <a:rPr lang="pt-BR" altLang="pt-BR" sz="3200" dirty="0">
                <a:solidFill>
                  <a:srgbClr val="000000"/>
                </a:solidFill>
                <a:latin typeface="Arial" panose="020B0604020202020204" pitchFamily="34" charset="0"/>
              </a:rPr>
              <a:t>    </a:t>
            </a:r>
          </a:p>
          <a:p>
            <a:pPr eaLnBrk="1" hangingPunct="1">
              <a:lnSpc>
                <a:spcPct val="90000"/>
              </a:lnSpc>
              <a:spcBef>
                <a:spcPts val="800"/>
              </a:spcBef>
              <a:buClr>
                <a:srgbClr val="0099CC"/>
              </a:buClr>
              <a:buSzPct val="80000"/>
              <a:buFont typeface="Wingdings" panose="05000000000000000000" pitchFamily="2" charset="2"/>
              <a:buChar char=""/>
            </a:pPr>
            <a:r>
              <a:rPr lang="pt-BR" altLang="pt-BR" sz="3200" dirty="0" err="1">
                <a:solidFill>
                  <a:srgbClr val="000000"/>
                </a:solidFill>
                <a:latin typeface="Arial" panose="020B0604020202020204" pitchFamily="34" charset="0"/>
              </a:rPr>
              <a:t>JRadioButton</a:t>
            </a:r>
            <a:r>
              <a:rPr lang="pt-BR" altLang="pt-BR" sz="3200" dirty="0">
                <a:solidFill>
                  <a:srgbClr val="000000"/>
                </a:solidFill>
                <a:latin typeface="Arial" panose="020B0604020202020204" pitchFamily="34" charset="0"/>
              </a:rPr>
              <a:t>   </a:t>
            </a:r>
          </a:p>
          <a:p>
            <a:pPr eaLnBrk="1" hangingPunct="1">
              <a:lnSpc>
                <a:spcPct val="90000"/>
              </a:lnSpc>
              <a:spcBef>
                <a:spcPts val="800"/>
              </a:spcBef>
              <a:buClr>
                <a:srgbClr val="0099CC"/>
              </a:buClr>
              <a:buSzPct val="80000"/>
              <a:buFont typeface="Wingdings" panose="05000000000000000000" pitchFamily="2" charset="2"/>
              <a:buChar char=""/>
            </a:pPr>
            <a:r>
              <a:rPr lang="pt-BR" altLang="pt-BR" sz="3200" dirty="0" err="1">
                <a:solidFill>
                  <a:srgbClr val="000000"/>
                </a:solidFill>
                <a:latin typeface="Arial" panose="020B0604020202020204" pitchFamily="34" charset="0"/>
              </a:rPr>
              <a:t>JComboBox</a:t>
            </a:r>
            <a:r>
              <a:rPr lang="pt-BR" altLang="pt-BR" sz="3200" dirty="0">
                <a:solidFill>
                  <a:srgbClr val="000000"/>
                </a:solidFill>
                <a:latin typeface="Arial" panose="020B0604020202020204" pitchFamily="34" charset="0"/>
              </a:rPr>
              <a:t> 	  </a:t>
            </a:r>
          </a:p>
          <a:p>
            <a:pPr eaLnBrk="1" hangingPunct="1">
              <a:lnSpc>
                <a:spcPct val="90000"/>
              </a:lnSpc>
              <a:spcBef>
                <a:spcPts val="800"/>
              </a:spcBef>
              <a:buClr>
                <a:srgbClr val="0099CC"/>
              </a:buClr>
              <a:buSzPct val="80000"/>
              <a:buFont typeface="Wingdings" panose="05000000000000000000" pitchFamily="2" charset="2"/>
              <a:buChar char=""/>
            </a:pPr>
            <a:r>
              <a:rPr lang="pt-BR" altLang="pt-BR" sz="3200" dirty="0" err="1">
                <a:solidFill>
                  <a:srgbClr val="000000"/>
                </a:solidFill>
                <a:latin typeface="Arial" panose="020B0604020202020204" pitchFamily="34" charset="0"/>
              </a:rPr>
              <a:t>JList</a:t>
            </a:r>
            <a:r>
              <a:rPr lang="pt-BR" altLang="pt-BR" sz="3200" dirty="0">
                <a:solidFill>
                  <a:srgbClr val="000000"/>
                </a:solidFill>
                <a:latin typeface="Arial" panose="020B0604020202020204" pitchFamily="34" charset="0"/>
              </a:rPr>
              <a:t> 		 </a:t>
            </a:r>
          </a:p>
          <a:p>
            <a:pPr eaLnBrk="1" hangingPunct="1">
              <a:lnSpc>
                <a:spcPct val="90000"/>
              </a:lnSpc>
              <a:spcBef>
                <a:spcPts val="800"/>
              </a:spcBef>
              <a:buClr>
                <a:srgbClr val="0099CC"/>
              </a:buClr>
              <a:buSzPct val="80000"/>
              <a:buFont typeface="Wingdings" panose="05000000000000000000" pitchFamily="2" charset="2"/>
              <a:buChar char=""/>
            </a:pPr>
            <a:r>
              <a:rPr lang="pt-BR" altLang="pt-BR" sz="3200" dirty="0" err="1">
                <a:solidFill>
                  <a:srgbClr val="000000"/>
                </a:solidFill>
                <a:latin typeface="Arial" panose="020B0604020202020204" pitchFamily="34" charset="0"/>
              </a:rPr>
              <a:t>JScrollPane</a:t>
            </a:r>
            <a:r>
              <a:rPr lang="pt-BR" altLang="pt-BR" sz="32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</a:p>
          <a:p>
            <a:pPr>
              <a:lnSpc>
                <a:spcPct val="90000"/>
              </a:lnSpc>
              <a:spcBef>
                <a:spcPts val="800"/>
              </a:spcBef>
              <a:buClr>
                <a:srgbClr val="0099CC"/>
              </a:buClr>
              <a:buSzPct val="80000"/>
              <a:buFont typeface="Wingdings" panose="05000000000000000000" pitchFamily="2" charset="2"/>
              <a:buChar char=""/>
            </a:pPr>
            <a:r>
              <a:rPr lang="pt-BR" altLang="pt-BR" sz="3200" dirty="0" err="1">
                <a:solidFill>
                  <a:srgbClr val="000000"/>
                </a:solidFill>
                <a:latin typeface="Arial" panose="020B0604020202020204" pitchFamily="34" charset="0"/>
              </a:rPr>
              <a:t>Icon</a:t>
            </a:r>
            <a:r>
              <a:rPr lang="pt-BR" altLang="pt-BR" sz="3200" dirty="0">
                <a:solidFill>
                  <a:srgbClr val="000000"/>
                </a:solidFill>
                <a:latin typeface="Arial" panose="020B0604020202020204" pitchFamily="34" charset="0"/>
              </a:rPr>
              <a:t> 	  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1026">
            <a:extLst>
              <a:ext uri="{FF2B5EF4-FFF2-40B4-BE49-F238E27FC236}">
                <a16:creationId xmlns:a16="http://schemas.microsoft.com/office/drawing/2014/main" id="{C1CD85F5-81BA-53F6-9926-BACD63D25C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97163" y="228600"/>
            <a:ext cx="7772400" cy="762000"/>
          </a:xfrm>
        </p:spPr>
        <p:txBody>
          <a:bodyPr/>
          <a:lstStyle/>
          <a:p>
            <a:r>
              <a:rPr lang="pt-BR" altLang="pt-BR"/>
              <a:t>Exemplo </a:t>
            </a:r>
          </a:p>
        </p:txBody>
      </p:sp>
      <p:pic>
        <p:nvPicPr>
          <p:cNvPr id="19459" name="Picture 1027">
            <a:extLst>
              <a:ext uri="{FF2B5EF4-FFF2-40B4-BE49-F238E27FC236}">
                <a16:creationId xmlns:a16="http://schemas.microsoft.com/office/drawing/2014/main" id="{CA49A45E-18FD-E54D-E0CF-026FA3898E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1219201"/>
            <a:ext cx="8153400" cy="4994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1">
            <a:extLst>
              <a:ext uri="{FF2B5EF4-FFF2-40B4-BE49-F238E27FC236}">
                <a16:creationId xmlns:a16="http://schemas.microsoft.com/office/drawing/2014/main" id="{FB4C7DCD-722E-E131-8C4F-A356443864B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576514" y="123217"/>
            <a:ext cx="7772400" cy="838200"/>
          </a:xfrm>
        </p:spPr>
        <p:txBody>
          <a:bodyPr/>
          <a:lstStyle/>
          <a:p>
            <a:pPr algn="ctr" eaLnBrk="1" hangingPunct="1">
              <a:buClrTx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pt-BR" altLang="pt-BR" sz="2800" dirty="0"/>
              <a:t>Construção de Gui - Exemplo</a:t>
            </a:r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27255328-D361-CE5A-ECA0-B14E201552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1589" y="5781676"/>
            <a:ext cx="3492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pt-BR" altLang="pt-BR" sz="1100">
                <a:solidFill>
                  <a:srgbClr val="000000"/>
                </a:solidFill>
              </a:rPr>
              <a:t> 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040F2894-ABE3-7ABD-929E-AA779EFDAD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3544" y="2247200"/>
            <a:ext cx="6513449" cy="353776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625B8972-C089-4003-4C4E-DD1C26EBDC84}"/>
              </a:ext>
            </a:extLst>
          </p:cNvPr>
          <p:cNvSpPr txBox="1"/>
          <p:nvPr/>
        </p:nvSpPr>
        <p:spPr>
          <a:xfrm>
            <a:off x="1887166" y="1381328"/>
            <a:ext cx="401752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3000" b="1" dirty="0">
                <a:latin typeface="+mj-lt"/>
              </a:rPr>
              <a:t>Estrutura do Projeto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3216276" y="376238"/>
            <a:ext cx="6672263" cy="4376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ctr" defTabSz="449263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pt-BR" altLang="pt-BR" sz="2800" dirty="0">
                <a:solidFill>
                  <a:srgbClr val="003366"/>
                </a:solidFill>
                <a:latin typeface="+mj-lt"/>
                <a:ea typeface="+mj-ea"/>
                <a:cs typeface="+mj-cs"/>
              </a:rPr>
              <a:t>Construção de Gui - Exemplo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9C1955A8-FFCC-3065-8180-33A3B91A18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5183" y="975573"/>
            <a:ext cx="9215094" cy="566551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04E194-5258-09E5-6F95-FC19F8EAE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1">
            <a:extLst>
              <a:ext uri="{FF2B5EF4-FFF2-40B4-BE49-F238E27FC236}">
                <a16:creationId xmlns:a16="http://schemas.microsoft.com/office/drawing/2014/main" id="{213594A9-CB78-A720-B2EB-E7840E9AD9A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590800" y="35664"/>
            <a:ext cx="7772400" cy="838200"/>
          </a:xfrm>
        </p:spPr>
        <p:txBody>
          <a:bodyPr/>
          <a:lstStyle/>
          <a:p>
            <a:pPr algn="ctr" eaLnBrk="1" hangingPunct="1">
              <a:buClrTx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pt-BR" altLang="pt-BR" sz="2800" dirty="0"/>
              <a:t>Construção de Gui - Exemplo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22B3A4B-D176-5041-F26A-A4B4F56B230D}"/>
              </a:ext>
            </a:extLst>
          </p:cNvPr>
          <p:cNvSpPr txBox="1"/>
          <p:nvPr/>
        </p:nvSpPr>
        <p:spPr>
          <a:xfrm>
            <a:off x="1313234" y="612837"/>
            <a:ext cx="269280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3000" b="1" dirty="0" err="1">
                <a:latin typeface="+mj-lt"/>
              </a:rPr>
              <a:t>Lay-out</a:t>
            </a:r>
            <a:r>
              <a:rPr lang="pt-BR" sz="3000" b="1" dirty="0">
                <a:latin typeface="+mj-lt"/>
              </a:rPr>
              <a:t> Gui</a:t>
            </a: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B8172F6A-E3CE-83E3-E729-A5135BBABB40}"/>
              </a:ext>
            </a:extLst>
          </p:cNvPr>
          <p:cNvGrpSpPr/>
          <p:nvPr/>
        </p:nvGrpSpPr>
        <p:grpSpPr>
          <a:xfrm>
            <a:off x="1798359" y="1284057"/>
            <a:ext cx="10098572" cy="5379396"/>
            <a:chOff x="1584346" y="865760"/>
            <a:chExt cx="10098572" cy="5379396"/>
          </a:xfrm>
        </p:grpSpPr>
        <p:sp>
          <p:nvSpPr>
            <p:cNvPr id="20483" name="Rectangle 2">
              <a:extLst>
                <a:ext uri="{FF2B5EF4-FFF2-40B4-BE49-F238E27FC236}">
                  <a16:creationId xmlns:a16="http://schemas.microsoft.com/office/drawing/2014/main" id="{2F1127E2-5C79-9C12-ED52-D4761C3CF6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1589" y="5781676"/>
              <a:ext cx="34925" cy="168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</a:defRPr>
              </a:lvl1pPr>
              <a:lvl2pPr eaLnBrk="0" hangingPunct="0"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</a:defRPr>
              </a:lvl2pPr>
              <a:lvl3pPr eaLnBrk="0" hangingPunct="0"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</a:defRPr>
              </a:lvl3pPr>
              <a:lvl4pPr eaLnBrk="0" hangingPunct="0"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</a:defRPr>
              </a:lvl4pPr>
              <a:lvl5pPr eaLnBrk="0" hangingPunct="0"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buClrTx/>
                <a:buFontTx/>
                <a:buNone/>
              </a:pPr>
              <a:r>
                <a:rPr lang="pt-BR" altLang="pt-BR" sz="1100">
                  <a:solidFill>
                    <a:srgbClr val="000000"/>
                  </a:solidFill>
                </a:rPr>
                <a:t> </a:t>
              </a:r>
            </a:p>
          </p:txBody>
        </p:sp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8C264D69-0A2C-41D5-E57B-6B74AEECF53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85812" y="2126552"/>
              <a:ext cx="5382376" cy="3181794"/>
            </a:xfrm>
            <a:prstGeom prst="rect">
              <a:avLst/>
            </a:prstGeom>
          </p:spPr>
        </p:pic>
        <p:sp>
          <p:nvSpPr>
            <p:cNvPr id="6" name="Texto Explicativo: Linha 5">
              <a:extLst>
                <a:ext uri="{FF2B5EF4-FFF2-40B4-BE49-F238E27FC236}">
                  <a16:creationId xmlns:a16="http://schemas.microsoft.com/office/drawing/2014/main" id="{B920D839-DEE8-A534-5E92-1EEF361B7939}"/>
                </a:ext>
              </a:extLst>
            </p:cNvPr>
            <p:cNvSpPr/>
            <p:nvPr/>
          </p:nvSpPr>
          <p:spPr bwMode="auto">
            <a:xfrm>
              <a:off x="9666798" y="2266542"/>
              <a:ext cx="2016120" cy="544749"/>
            </a:xfrm>
            <a:prstGeom prst="borderCallout1">
              <a:avLst>
                <a:gd name="adj1" fmla="val 18750"/>
                <a:gd name="adj2" fmla="val -8333"/>
                <a:gd name="adj3" fmla="val 162500"/>
                <a:gd name="adj4" fmla="val -50559"/>
              </a:avLst>
            </a:prstGeom>
            <a:solidFill>
              <a:srgbClr val="00B8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  <a:tabLst/>
              </a:pPr>
              <a:r>
                <a:rPr lang="pt-BR" sz="2400" b="1" dirty="0" err="1">
                  <a:latin typeface="Times New Roman" panose="02020603050405020304" pitchFamily="18" charset="0"/>
                  <a:ea typeface="Microsoft YaHei" panose="020B0503020204020204" pitchFamily="34" charset="-122"/>
                </a:rPr>
                <a:t>lbl</a:t>
              </a:r>
              <a:r>
                <a:rPr kumimoji="0" lang="pt-BR" sz="2400" b="1" i="0" u="none" strike="noStrike" cap="none" normalizeH="0" baseline="0" dirty="0" err="1">
                  <a:ln>
                    <a:noFill/>
                  </a:ln>
                  <a:effectLst/>
                  <a:latin typeface="Times New Roman" panose="02020603050405020304" pitchFamily="18" charset="0"/>
                  <a:ea typeface="Microsoft YaHei" panose="020B0503020204020204" pitchFamily="34" charset="-122"/>
                </a:rPr>
                <a:t>Area</a:t>
              </a:r>
              <a:endParaRPr kumimoji="0" lang="pt-BR" sz="24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ea typeface="Microsoft YaHei" panose="020B0503020204020204" pitchFamily="34" charset="-122"/>
              </a:endParaRPr>
            </a:p>
          </p:txBody>
        </p:sp>
        <p:sp>
          <p:nvSpPr>
            <p:cNvPr id="7" name="Texto Explicativo: Linha 6">
              <a:extLst>
                <a:ext uri="{FF2B5EF4-FFF2-40B4-BE49-F238E27FC236}">
                  <a16:creationId xmlns:a16="http://schemas.microsoft.com/office/drawing/2014/main" id="{064C9504-1436-F340-B377-93EAA2B53F45}"/>
                </a:ext>
              </a:extLst>
            </p:cNvPr>
            <p:cNvSpPr/>
            <p:nvPr/>
          </p:nvSpPr>
          <p:spPr bwMode="auto">
            <a:xfrm>
              <a:off x="9647342" y="3035027"/>
              <a:ext cx="2016122" cy="544749"/>
            </a:xfrm>
            <a:prstGeom prst="borderCallout1">
              <a:avLst>
                <a:gd name="adj1" fmla="val 18750"/>
                <a:gd name="adj2" fmla="val -8333"/>
                <a:gd name="adj3" fmla="val 92857"/>
                <a:gd name="adj4" fmla="val -49256"/>
              </a:avLst>
            </a:prstGeom>
            <a:solidFill>
              <a:srgbClr val="00B8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  <a:tabLst/>
              </a:pPr>
              <a:r>
                <a:rPr lang="pt-BR" sz="2400" b="1" dirty="0" err="1">
                  <a:latin typeface="Times New Roman" panose="02020603050405020304" pitchFamily="18" charset="0"/>
                  <a:ea typeface="Microsoft YaHei" panose="020B0503020204020204" pitchFamily="34" charset="-122"/>
                </a:rPr>
                <a:t>lbl</a:t>
              </a:r>
              <a:r>
                <a:rPr kumimoji="0" lang="pt-BR" sz="2400" b="1" i="0" u="none" strike="noStrike" cap="none" normalizeH="0" baseline="0" dirty="0" err="1">
                  <a:ln>
                    <a:noFill/>
                  </a:ln>
                  <a:effectLst/>
                  <a:latin typeface="Times New Roman" panose="02020603050405020304" pitchFamily="18" charset="0"/>
                  <a:ea typeface="Microsoft YaHei" panose="020B0503020204020204" pitchFamily="34" charset="-122"/>
                </a:rPr>
                <a:t>Perimetro</a:t>
              </a:r>
              <a:endParaRPr kumimoji="0" lang="pt-BR" sz="24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ea typeface="Microsoft YaHei" panose="020B0503020204020204" pitchFamily="34" charset="-122"/>
              </a:endParaRPr>
            </a:p>
          </p:txBody>
        </p:sp>
        <p:sp>
          <p:nvSpPr>
            <p:cNvPr id="8" name="Texto Explicativo: Linha 7">
              <a:extLst>
                <a:ext uri="{FF2B5EF4-FFF2-40B4-BE49-F238E27FC236}">
                  <a16:creationId xmlns:a16="http://schemas.microsoft.com/office/drawing/2014/main" id="{17F1F9F9-4F05-EC52-3F42-03EC8ACC6F5F}"/>
                </a:ext>
              </a:extLst>
            </p:cNvPr>
            <p:cNvSpPr/>
            <p:nvPr/>
          </p:nvSpPr>
          <p:spPr bwMode="auto">
            <a:xfrm>
              <a:off x="9601946" y="4046710"/>
              <a:ext cx="2016121" cy="544749"/>
            </a:xfrm>
            <a:prstGeom prst="borderCallout1">
              <a:avLst>
                <a:gd name="adj1" fmla="val 18750"/>
                <a:gd name="adj2" fmla="val -8333"/>
                <a:gd name="adj3" fmla="val -17856"/>
                <a:gd name="adj4" fmla="val -47082"/>
              </a:avLst>
            </a:prstGeom>
            <a:solidFill>
              <a:srgbClr val="00B8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  <a:tabLst/>
              </a:pPr>
              <a:r>
                <a:rPr lang="pt-BR" sz="2400" b="1" dirty="0" err="1">
                  <a:latin typeface="Times New Roman" panose="02020603050405020304" pitchFamily="18" charset="0"/>
                  <a:ea typeface="Microsoft YaHei" panose="020B0503020204020204" pitchFamily="34" charset="-122"/>
                </a:rPr>
                <a:t>lbl</a:t>
              </a:r>
              <a:r>
                <a:rPr kumimoji="0" lang="pt-BR" sz="2400" b="1" i="0" u="none" strike="noStrike" cap="none" normalizeH="0" baseline="0" dirty="0" err="1">
                  <a:ln>
                    <a:noFill/>
                  </a:ln>
                  <a:effectLst/>
                  <a:latin typeface="Times New Roman" panose="02020603050405020304" pitchFamily="18" charset="0"/>
                  <a:ea typeface="Microsoft YaHei" panose="020B0503020204020204" pitchFamily="34" charset="-122"/>
                </a:rPr>
                <a:t>Diagonal</a:t>
              </a:r>
              <a:endParaRPr kumimoji="0" lang="pt-BR" sz="24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ea typeface="Microsoft YaHei" panose="020B0503020204020204" pitchFamily="34" charset="-122"/>
              </a:endParaRPr>
            </a:p>
          </p:txBody>
        </p:sp>
        <p:sp>
          <p:nvSpPr>
            <p:cNvPr id="9" name="Texto Explicativo: Linha 8">
              <a:extLst>
                <a:ext uri="{FF2B5EF4-FFF2-40B4-BE49-F238E27FC236}">
                  <a16:creationId xmlns:a16="http://schemas.microsoft.com/office/drawing/2014/main" id="{912E6F73-9055-0AF7-9E1B-D7D9C3E19914}"/>
                </a:ext>
              </a:extLst>
            </p:cNvPr>
            <p:cNvSpPr/>
            <p:nvPr/>
          </p:nvSpPr>
          <p:spPr bwMode="auto">
            <a:xfrm>
              <a:off x="9601945" y="5236927"/>
              <a:ext cx="2016121" cy="544749"/>
            </a:xfrm>
            <a:prstGeom prst="borderCallout1">
              <a:avLst>
                <a:gd name="adj1" fmla="val 18750"/>
                <a:gd name="adj2" fmla="val -8333"/>
                <a:gd name="adj3" fmla="val -39285"/>
                <a:gd name="adj4" fmla="val -46600"/>
              </a:avLst>
            </a:prstGeom>
            <a:solidFill>
              <a:srgbClr val="00B8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  <a:tabLst/>
              </a:pPr>
              <a:r>
                <a:rPr lang="pt-BR" sz="2400" b="1" dirty="0" err="1">
                  <a:latin typeface="Times New Roman" panose="02020603050405020304" pitchFamily="18" charset="0"/>
                  <a:ea typeface="Microsoft YaHei" panose="020B0503020204020204" pitchFamily="34" charset="-122"/>
                </a:rPr>
                <a:t>btnSair</a:t>
              </a:r>
              <a:endParaRPr kumimoji="0" lang="pt-BR" sz="24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ea typeface="Microsoft YaHei" panose="020B0503020204020204" pitchFamily="34" charset="-122"/>
              </a:endParaRPr>
            </a:p>
          </p:txBody>
        </p:sp>
        <p:sp>
          <p:nvSpPr>
            <p:cNvPr id="10" name="Texto Explicativo: Linha 9">
              <a:extLst>
                <a:ext uri="{FF2B5EF4-FFF2-40B4-BE49-F238E27FC236}">
                  <a16:creationId xmlns:a16="http://schemas.microsoft.com/office/drawing/2014/main" id="{20E2ABF6-1519-188C-F350-8BBD6A886DDA}"/>
                </a:ext>
              </a:extLst>
            </p:cNvPr>
            <p:cNvSpPr/>
            <p:nvPr/>
          </p:nvSpPr>
          <p:spPr bwMode="auto">
            <a:xfrm>
              <a:off x="7249344" y="5700407"/>
              <a:ext cx="2016121" cy="544749"/>
            </a:xfrm>
            <a:prstGeom prst="borderCallout1">
              <a:avLst>
                <a:gd name="adj1" fmla="val -11607"/>
                <a:gd name="adj2" fmla="val 22064"/>
                <a:gd name="adj3" fmla="val -128570"/>
                <a:gd name="adj4" fmla="val -18133"/>
              </a:avLst>
            </a:prstGeom>
            <a:solidFill>
              <a:srgbClr val="00B8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  <a:tabLst/>
              </a:pPr>
              <a:r>
                <a:rPr kumimoji="0" lang="pt-BR" sz="2400" b="1" i="0" u="none" strike="noStrike" cap="none" normalizeH="0" baseline="0" dirty="0" err="1">
                  <a:ln>
                    <a:noFill/>
                  </a:ln>
                  <a:effectLst/>
                  <a:latin typeface="Times New Roman" panose="02020603050405020304" pitchFamily="18" charset="0"/>
                  <a:ea typeface="Microsoft YaHei" panose="020B0503020204020204" pitchFamily="34" charset="-122"/>
                </a:rPr>
                <a:t>btnConsultar</a:t>
              </a:r>
              <a:endParaRPr kumimoji="0" lang="pt-BR" sz="24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ea typeface="Microsoft YaHei" panose="020B0503020204020204" pitchFamily="34" charset="-122"/>
              </a:endParaRPr>
            </a:p>
          </p:txBody>
        </p:sp>
        <p:sp>
          <p:nvSpPr>
            <p:cNvPr id="11" name="Texto Explicativo: Linha 10">
              <a:extLst>
                <a:ext uri="{FF2B5EF4-FFF2-40B4-BE49-F238E27FC236}">
                  <a16:creationId xmlns:a16="http://schemas.microsoft.com/office/drawing/2014/main" id="{A769317A-BA54-FAF6-DB0D-484039787545}"/>
                </a:ext>
              </a:extLst>
            </p:cNvPr>
            <p:cNvSpPr/>
            <p:nvPr/>
          </p:nvSpPr>
          <p:spPr bwMode="auto">
            <a:xfrm>
              <a:off x="1584346" y="5321064"/>
              <a:ext cx="2016121" cy="544749"/>
            </a:xfrm>
            <a:prstGeom prst="borderCallout1">
              <a:avLst>
                <a:gd name="adj1" fmla="val -6250"/>
                <a:gd name="adj2" fmla="val 50049"/>
                <a:gd name="adj3" fmla="val -241070"/>
                <a:gd name="adj4" fmla="val 186927"/>
              </a:avLst>
            </a:prstGeom>
            <a:solidFill>
              <a:srgbClr val="00B8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  <a:tabLst/>
              </a:pPr>
              <a:r>
                <a:rPr kumimoji="0" lang="pt-BR" sz="2400" b="1" i="0" u="none" strike="noStrike" cap="none" normalizeH="0" baseline="0" dirty="0" err="1">
                  <a:ln>
                    <a:noFill/>
                  </a:ln>
                  <a:effectLst/>
                  <a:latin typeface="Times New Roman" panose="02020603050405020304" pitchFamily="18" charset="0"/>
                  <a:ea typeface="Microsoft YaHei" panose="020B0503020204020204" pitchFamily="34" charset="-122"/>
                </a:rPr>
                <a:t>txtBase</a:t>
              </a:r>
              <a:endParaRPr kumimoji="0" lang="pt-BR" sz="24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ea typeface="Microsoft YaHei" panose="020B0503020204020204" pitchFamily="34" charset="-122"/>
              </a:endParaRPr>
            </a:p>
          </p:txBody>
        </p:sp>
        <p:sp>
          <p:nvSpPr>
            <p:cNvPr id="12" name="Texto Explicativo: Linha 11">
              <a:extLst>
                <a:ext uri="{FF2B5EF4-FFF2-40B4-BE49-F238E27FC236}">
                  <a16:creationId xmlns:a16="http://schemas.microsoft.com/office/drawing/2014/main" id="{1AB7B16B-6C6B-9BE3-8BBD-D899BADB163F}"/>
                </a:ext>
              </a:extLst>
            </p:cNvPr>
            <p:cNvSpPr/>
            <p:nvPr/>
          </p:nvSpPr>
          <p:spPr bwMode="auto">
            <a:xfrm>
              <a:off x="5051161" y="1218911"/>
              <a:ext cx="2016121" cy="544749"/>
            </a:xfrm>
            <a:prstGeom prst="borderCallout1">
              <a:avLst>
                <a:gd name="adj1" fmla="val 111607"/>
                <a:gd name="adj2" fmla="val 34609"/>
                <a:gd name="adj3" fmla="val 344645"/>
                <a:gd name="adj4" fmla="val 36871"/>
              </a:avLst>
            </a:prstGeom>
            <a:solidFill>
              <a:srgbClr val="00B8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  <a:tabLst/>
              </a:pPr>
              <a:r>
                <a:rPr lang="pt-BR" sz="2400" b="1" dirty="0" err="1">
                  <a:latin typeface="Times New Roman" panose="02020603050405020304" pitchFamily="18" charset="0"/>
                  <a:ea typeface="Microsoft YaHei" panose="020B0503020204020204" pitchFamily="34" charset="-122"/>
                </a:rPr>
                <a:t>txtUnidade</a:t>
              </a:r>
              <a:endParaRPr kumimoji="0" lang="pt-BR" sz="24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ea typeface="Microsoft YaHei" panose="020B0503020204020204" pitchFamily="34" charset="-122"/>
              </a:endParaRPr>
            </a:p>
          </p:txBody>
        </p:sp>
        <p:sp>
          <p:nvSpPr>
            <p:cNvPr id="13" name="Texto Explicativo: Linha 12">
              <a:extLst>
                <a:ext uri="{FF2B5EF4-FFF2-40B4-BE49-F238E27FC236}">
                  <a16:creationId xmlns:a16="http://schemas.microsoft.com/office/drawing/2014/main" id="{8C78FFBD-1929-9401-5246-53903289BECB}"/>
                </a:ext>
              </a:extLst>
            </p:cNvPr>
            <p:cNvSpPr/>
            <p:nvPr/>
          </p:nvSpPr>
          <p:spPr bwMode="auto">
            <a:xfrm>
              <a:off x="7363366" y="865760"/>
              <a:ext cx="2016121" cy="544749"/>
            </a:xfrm>
            <a:prstGeom prst="borderCallout1">
              <a:avLst>
                <a:gd name="adj1" fmla="val 111607"/>
                <a:gd name="adj2" fmla="val 34609"/>
                <a:gd name="adj3" fmla="val 478573"/>
                <a:gd name="adj4" fmla="val -70242"/>
              </a:avLst>
            </a:prstGeom>
            <a:solidFill>
              <a:srgbClr val="00B8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  <a:tabLst/>
              </a:pPr>
              <a:r>
                <a:rPr kumimoji="0" lang="pt-BR" sz="2400" b="1" i="0" u="none" strike="noStrike" cap="none" normalizeH="0" baseline="0" dirty="0" err="1">
                  <a:ln>
                    <a:noFill/>
                  </a:ln>
                  <a:effectLst/>
                  <a:latin typeface="Times New Roman" panose="02020603050405020304" pitchFamily="18" charset="0"/>
                  <a:ea typeface="Microsoft YaHei" panose="020B0503020204020204" pitchFamily="34" charset="-122"/>
                </a:rPr>
                <a:t>txtAltura</a:t>
              </a:r>
              <a:endParaRPr kumimoji="0" lang="pt-BR" sz="24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ea typeface="Microsoft YaHei" panose="020B0503020204020204" pitchFamily="34" charset="-122"/>
              </a:endParaRPr>
            </a:p>
          </p:txBody>
        </p:sp>
        <p:sp>
          <p:nvSpPr>
            <p:cNvPr id="15" name="Texto Explicativo: Linha 14">
              <a:extLst>
                <a:ext uri="{FF2B5EF4-FFF2-40B4-BE49-F238E27FC236}">
                  <a16:creationId xmlns:a16="http://schemas.microsoft.com/office/drawing/2014/main" id="{F683BA24-7DEA-E313-D07E-C2D64787857E}"/>
                </a:ext>
              </a:extLst>
            </p:cNvPr>
            <p:cNvSpPr/>
            <p:nvPr/>
          </p:nvSpPr>
          <p:spPr bwMode="auto">
            <a:xfrm>
              <a:off x="4661787" y="5700407"/>
              <a:ext cx="2016121" cy="544749"/>
            </a:xfrm>
            <a:prstGeom prst="borderCallout1">
              <a:avLst>
                <a:gd name="adj1" fmla="val -4464"/>
                <a:gd name="adj2" fmla="val 12897"/>
                <a:gd name="adj3" fmla="val -133927"/>
                <a:gd name="adj4" fmla="val 33012"/>
              </a:avLst>
            </a:prstGeom>
            <a:solidFill>
              <a:srgbClr val="00B8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449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  <a:tabLst/>
              </a:pPr>
              <a:r>
                <a:rPr kumimoji="0" lang="pt-BR" sz="2400" b="1" i="0" u="none" strike="noStrike" cap="none" normalizeH="0" baseline="0" dirty="0" err="1">
                  <a:ln>
                    <a:noFill/>
                  </a:ln>
                  <a:effectLst/>
                  <a:latin typeface="Times New Roman" panose="02020603050405020304" pitchFamily="18" charset="0"/>
                  <a:ea typeface="Microsoft YaHei" panose="020B0503020204020204" pitchFamily="34" charset="-122"/>
                </a:rPr>
                <a:t>btnMontar</a:t>
              </a:r>
              <a:endParaRPr kumimoji="0" lang="pt-BR" sz="24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ea typeface="Microsoft YaHei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1535214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EE15BA-3605-48F4-151E-0CAE3780B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1">
            <a:extLst>
              <a:ext uri="{FF2B5EF4-FFF2-40B4-BE49-F238E27FC236}">
                <a16:creationId xmlns:a16="http://schemas.microsoft.com/office/drawing/2014/main" id="{012F3B68-E233-D642-3E5D-01A643A6EE3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590800" y="152400"/>
            <a:ext cx="7772400" cy="838200"/>
          </a:xfrm>
        </p:spPr>
        <p:txBody>
          <a:bodyPr/>
          <a:lstStyle/>
          <a:p>
            <a:pPr algn="ctr" eaLnBrk="1" hangingPunct="1">
              <a:buClrTx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pt-BR" altLang="pt-BR" sz="2800" dirty="0"/>
              <a:t>Construção de Gui - Exemplo</a:t>
            </a:r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46CBA7C0-77B8-F4BD-9AB5-8FE513DBC0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1589" y="5781676"/>
            <a:ext cx="3492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pt-BR" altLang="pt-BR" sz="1100">
                <a:solidFill>
                  <a:srgbClr val="000000"/>
                </a:solidFill>
              </a:rPr>
              <a:t> </a:t>
            </a:r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3811BF7C-D0E0-3ABB-6318-988DD4AAA5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4384645"/>
              </p:ext>
            </p:extLst>
          </p:nvPr>
        </p:nvGraphicFramePr>
        <p:xfrm>
          <a:off x="3696511" y="1311611"/>
          <a:ext cx="5680953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80944">
                  <a:extLst>
                    <a:ext uri="{9D8B030D-6E8A-4147-A177-3AD203B41FA5}">
                      <a16:colId xmlns:a16="http://schemas.microsoft.com/office/drawing/2014/main" val="1274863082"/>
                    </a:ext>
                  </a:extLst>
                </a:gridCol>
                <a:gridCol w="2500009">
                  <a:extLst>
                    <a:ext uri="{9D8B030D-6E8A-4147-A177-3AD203B41FA5}">
                      <a16:colId xmlns:a16="http://schemas.microsoft.com/office/drawing/2014/main" val="12133411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500" dirty="0"/>
                        <a:t>Recurso de Interface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500" dirty="0"/>
                        <a:t> Abreviação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88764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500" dirty="0" err="1"/>
                        <a:t>JLabel</a:t>
                      </a:r>
                      <a:endParaRPr lang="pt-BR" sz="2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500" dirty="0" err="1"/>
                        <a:t>lbl</a:t>
                      </a:r>
                      <a:endParaRPr lang="pt-BR" sz="2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96575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500" dirty="0" err="1"/>
                        <a:t>JTextField</a:t>
                      </a:r>
                      <a:endParaRPr lang="pt-BR" sz="2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500" dirty="0" err="1"/>
                        <a:t>txt</a:t>
                      </a:r>
                      <a:endParaRPr lang="pt-BR" sz="2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14255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500" dirty="0" err="1"/>
                        <a:t>JButton</a:t>
                      </a:r>
                      <a:endParaRPr lang="pt-BR" sz="2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500" dirty="0" err="1"/>
                        <a:t>btn</a:t>
                      </a:r>
                      <a:endParaRPr lang="pt-BR" sz="2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8762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500" dirty="0" err="1"/>
                        <a:t>JRadionButton</a:t>
                      </a:r>
                      <a:endParaRPr lang="pt-BR" sz="2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500" dirty="0" err="1"/>
                        <a:t>rdb</a:t>
                      </a:r>
                      <a:endParaRPr lang="pt-BR" sz="2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53047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500" dirty="0" err="1"/>
                        <a:t>JCheckBox</a:t>
                      </a:r>
                      <a:endParaRPr lang="pt-BR" sz="2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500" dirty="0" err="1"/>
                        <a:t>chk</a:t>
                      </a:r>
                      <a:endParaRPr lang="pt-BR" sz="2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24072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500" dirty="0" err="1"/>
                        <a:t>JComboBox</a:t>
                      </a:r>
                      <a:endParaRPr lang="pt-BR" sz="2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500" dirty="0" err="1"/>
                        <a:t>cmb</a:t>
                      </a:r>
                      <a:endParaRPr lang="pt-BR" sz="2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81236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500" dirty="0" err="1"/>
                        <a:t>JList</a:t>
                      </a:r>
                      <a:endParaRPr lang="pt-BR" sz="2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500" dirty="0" err="1"/>
                        <a:t>lst</a:t>
                      </a:r>
                      <a:endParaRPr lang="pt-BR" sz="2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55831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585304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B0FAFAE7-97D3-004E-543F-D87BBE958174}"/>
              </a:ext>
            </a:extLst>
          </p:cNvPr>
          <p:cNvSpPr txBox="1"/>
          <p:nvPr/>
        </p:nvSpPr>
        <p:spPr>
          <a:xfrm>
            <a:off x="1478605" y="262647"/>
            <a:ext cx="474709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500" b="1" dirty="0">
                <a:highlight>
                  <a:srgbClr val="FFFF00"/>
                </a:highlight>
                <a:latin typeface="+mj-lt"/>
              </a:rPr>
              <a:t>Implementação do botão Sair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0F9FE7D-F1D7-8FB1-3395-52998A5852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8945" y="5088791"/>
            <a:ext cx="10402111" cy="1646406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ACDEB854-6978-8003-C662-02E052A8D8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3479" y="1023834"/>
            <a:ext cx="5111641" cy="1826367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F996266C-3A50-6FE5-4ABE-B002C5B354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8945" y="2317611"/>
            <a:ext cx="4558475" cy="1680454"/>
          </a:xfrm>
          <a:prstGeom prst="rect">
            <a:avLst/>
          </a:prstGeom>
        </p:spPr>
      </p:pic>
      <p:cxnSp>
        <p:nvCxnSpPr>
          <p:cNvPr id="17" name="Conector: Curvo 16">
            <a:extLst>
              <a:ext uri="{FF2B5EF4-FFF2-40B4-BE49-F238E27FC236}">
                <a16:creationId xmlns:a16="http://schemas.microsoft.com/office/drawing/2014/main" id="{5DD6D3F4-4009-EE1A-DEE1-3783E0560239}"/>
              </a:ext>
            </a:extLst>
          </p:cNvPr>
          <p:cNvCxnSpPr>
            <a:cxnSpLocks/>
            <a:stCxn id="39" idx="6"/>
          </p:cNvCxnSpPr>
          <p:nvPr/>
        </p:nvCxnSpPr>
        <p:spPr bwMode="auto">
          <a:xfrm>
            <a:off x="6614631" y="1182918"/>
            <a:ext cx="3044935" cy="694520"/>
          </a:xfrm>
          <a:prstGeom prst="curvedConnector3">
            <a:avLst>
              <a:gd name="adj1" fmla="val 50000"/>
            </a:avLst>
          </a:prstGeom>
          <a:ln w="28575">
            <a:solidFill>
              <a:srgbClr val="FF0000"/>
            </a:solidFill>
            <a:headEnd type="none" w="med" len="med"/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2" name="Conector: Angulado 31">
            <a:extLst>
              <a:ext uri="{FF2B5EF4-FFF2-40B4-BE49-F238E27FC236}">
                <a16:creationId xmlns:a16="http://schemas.microsoft.com/office/drawing/2014/main" id="{1535DBDF-3317-A9A5-5997-7860DBF74EE2}"/>
              </a:ext>
            </a:extLst>
          </p:cNvPr>
          <p:cNvCxnSpPr/>
          <p:nvPr/>
        </p:nvCxnSpPr>
        <p:spPr bwMode="auto">
          <a:xfrm rot="10800000" flipV="1">
            <a:off x="6137421" y="2850200"/>
            <a:ext cx="2345099" cy="992219"/>
          </a:xfrm>
          <a:prstGeom prst="bentConnector3">
            <a:avLst>
              <a:gd name="adj1" fmla="val 223"/>
            </a:avLst>
          </a:prstGeom>
          <a:solidFill>
            <a:srgbClr val="00B8FF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6" name="Elipse 35">
            <a:extLst>
              <a:ext uri="{FF2B5EF4-FFF2-40B4-BE49-F238E27FC236}">
                <a16:creationId xmlns:a16="http://schemas.microsoft.com/office/drawing/2014/main" id="{082776E4-4AB7-8AF4-265E-344D80F0DDBE}"/>
              </a:ext>
            </a:extLst>
          </p:cNvPr>
          <p:cNvSpPr/>
          <p:nvPr/>
        </p:nvSpPr>
        <p:spPr bwMode="auto">
          <a:xfrm>
            <a:off x="9756848" y="1692610"/>
            <a:ext cx="856034" cy="321013"/>
          </a:xfrm>
          <a:prstGeom prst="ellipse">
            <a:avLst/>
          </a:prstGeom>
          <a:noFill/>
          <a:ln w="38100" cap="flat" cmpd="sng" algn="ctr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</a:pPr>
            <a:endParaRPr kumimoji="0" lang="pt-BR" sz="2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ea typeface="Microsoft YaHei" panose="020B0503020204020204" pitchFamily="34" charset="-122"/>
            </a:endParaRPr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74AAEFC0-4B44-335D-FF2E-3893C02D3745}"/>
              </a:ext>
            </a:extLst>
          </p:cNvPr>
          <p:cNvSpPr/>
          <p:nvPr/>
        </p:nvSpPr>
        <p:spPr bwMode="auto">
          <a:xfrm>
            <a:off x="3608962" y="3647868"/>
            <a:ext cx="2487038" cy="417892"/>
          </a:xfrm>
          <a:prstGeom prst="ellipse">
            <a:avLst/>
          </a:prstGeom>
          <a:noFill/>
          <a:ln w="38100" cap="flat" cmpd="sng" algn="ctr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</a:pPr>
            <a:endParaRPr kumimoji="0" lang="pt-BR" sz="2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ea typeface="Microsoft YaHei" panose="020B0503020204020204" pitchFamily="34" charset="-122"/>
            </a:endParaRPr>
          </a:p>
        </p:txBody>
      </p:sp>
      <p:sp>
        <p:nvSpPr>
          <p:cNvPr id="3" name="Seta: para Baixo 2">
            <a:extLst>
              <a:ext uri="{FF2B5EF4-FFF2-40B4-BE49-F238E27FC236}">
                <a16:creationId xmlns:a16="http://schemas.microsoft.com/office/drawing/2014/main" id="{8F789BE0-4E64-8E7B-4900-D09D7C034AC0}"/>
              </a:ext>
            </a:extLst>
          </p:cNvPr>
          <p:cNvSpPr/>
          <p:nvPr/>
        </p:nvSpPr>
        <p:spPr bwMode="auto">
          <a:xfrm>
            <a:off x="4494179" y="4103847"/>
            <a:ext cx="622570" cy="837797"/>
          </a:xfrm>
          <a:prstGeom prst="downArrow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</a:pPr>
            <a:endParaRPr kumimoji="0" lang="pt-BR" sz="2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ea typeface="Microsoft YaHei" panose="020B0503020204020204" pitchFamily="34" charset="-122"/>
            </a:endParaRP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EE5E2BEC-BBBF-8518-CE22-A1B6191450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6310" y="942370"/>
            <a:ext cx="5186240" cy="494502"/>
          </a:xfrm>
          <a:prstGeom prst="rect">
            <a:avLst/>
          </a:prstGeom>
        </p:spPr>
      </p:pic>
      <p:sp>
        <p:nvSpPr>
          <p:cNvPr id="39" name="Elipse 38">
            <a:extLst>
              <a:ext uri="{FF2B5EF4-FFF2-40B4-BE49-F238E27FC236}">
                <a16:creationId xmlns:a16="http://schemas.microsoft.com/office/drawing/2014/main" id="{76FCC13D-C207-F8C5-BA90-7DD57BCEB68A}"/>
              </a:ext>
            </a:extLst>
          </p:cNvPr>
          <p:cNvSpPr/>
          <p:nvPr/>
        </p:nvSpPr>
        <p:spPr bwMode="auto">
          <a:xfrm>
            <a:off x="4708187" y="1022411"/>
            <a:ext cx="1906444" cy="321013"/>
          </a:xfrm>
          <a:prstGeom prst="ellipse">
            <a:avLst/>
          </a:prstGeom>
          <a:noFill/>
          <a:ln w="38100" cap="flat" cmpd="sng" algn="ctr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</a:pPr>
            <a:endParaRPr kumimoji="0" lang="pt-BR" sz="2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736668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1">
            <a:extLst>
              <a:ext uri="{FF2B5EF4-FFF2-40B4-BE49-F238E27FC236}">
                <a16:creationId xmlns:a16="http://schemas.microsoft.com/office/drawing/2014/main" id="{FB4C7DCD-722E-E131-8C4F-A356443864B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590800" y="152400"/>
            <a:ext cx="7772400" cy="838200"/>
          </a:xfrm>
        </p:spPr>
        <p:txBody>
          <a:bodyPr/>
          <a:lstStyle/>
          <a:p>
            <a:pPr algn="ctr" eaLnBrk="1" hangingPunct="1">
              <a:buClrTx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pt-BR" altLang="pt-BR" sz="2800" dirty="0"/>
              <a:t>Construção de Gui</a:t>
            </a:r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27255328-D361-CE5A-ECA0-B14E201552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1589" y="5781676"/>
            <a:ext cx="3492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pt-BR" altLang="pt-BR" sz="1100">
                <a:solidFill>
                  <a:srgbClr val="000000"/>
                </a:solidFill>
              </a:rPr>
              <a:t> 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5B41BE2-E7C0-7990-44EB-71E75265C3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5141" y="990600"/>
            <a:ext cx="10164594" cy="3697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07303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14B31-0356-51AB-A1C8-3F9196A98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1">
            <a:extLst>
              <a:ext uri="{FF2B5EF4-FFF2-40B4-BE49-F238E27FC236}">
                <a16:creationId xmlns:a16="http://schemas.microsoft.com/office/drawing/2014/main" id="{975302E3-79E9-A92B-F2C5-C9F8BD26B6F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590800" y="152400"/>
            <a:ext cx="7772400" cy="838200"/>
          </a:xfrm>
        </p:spPr>
        <p:txBody>
          <a:bodyPr/>
          <a:lstStyle/>
          <a:p>
            <a:pPr algn="ctr" eaLnBrk="1" hangingPunct="1">
              <a:buClrTx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pt-BR" altLang="pt-BR" sz="2800" dirty="0"/>
              <a:t>Construção de Gui</a:t>
            </a:r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CC49B4E8-887B-2B61-6CB8-1446B47634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1589" y="5781676"/>
            <a:ext cx="3492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pt-BR" altLang="pt-BR" sz="1100">
                <a:solidFill>
                  <a:srgbClr val="000000"/>
                </a:solidFill>
              </a:rPr>
              <a:t> 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A7A338E6-80BC-AE0F-7CA0-AC0D37DEEA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1371" y="1223269"/>
            <a:ext cx="10590197" cy="3022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10893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5CDAF-9903-D5FF-84E6-0579FB885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1">
            <a:extLst>
              <a:ext uri="{FF2B5EF4-FFF2-40B4-BE49-F238E27FC236}">
                <a16:creationId xmlns:a16="http://schemas.microsoft.com/office/drawing/2014/main" id="{46C302C1-6651-8811-1593-E292A35D074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590800" y="152400"/>
            <a:ext cx="7772400" cy="838200"/>
          </a:xfrm>
        </p:spPr>
        <p:txBody>
          <a:bodyPr/>
          <a:lstStyle/>
          <a:p>
            <a:pPr algn="ctr" eaLnBrk="1" hangingPunct="1">
              <a:buClrTx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pt-BR" altLang="pt-BR" sz="2800" dirty="0"/>
              <a:t>Construção de Gui</a:t>
            </a:r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77DA9130-B633-E2CC-8971-0C133BEFAC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1589" y="5781676"/>
            <a:ext cx="3492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pt-BR" altLang="pt-BR" sz="1100">
                <a:solidFill>
                  <a:srgbClr val="000000"/>
                </a:solidFill>
              </a:rPr>
              <a:t> 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093BB973-343F-25D7-5982-7629BC0A58EE}"/>
              </a:ext>
            </a:extLst>
          </p:cNvPr>
          <p:cNvSpPr txBox="1"/>
          <p:nvPr/>
        </p:nvSpPr>
        <p:spPr>
          <a:xfrm>
            <a:off x="1690991" y="1077618"/>
            <a:ext cx="95720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/>
              <a:t>	</a:t>
            </a:r>
            <a:r>
              <a:rPr lang="pt-BR" dirty="0">
                <a:latin typeface="+mj-lt"/>
              </a:rPr>
              <a:t>A partir da classe Circulo definida no projeto do </a:t>
            </a:r>
            <a:r>
              <a:rPr lang="pt-BR" b="1" dirty="0" err="1">
                <a:latin typeface="+mj-lt"/>
              </a:rPr>
              <a:t>prjCirculo</a:t>
            </a:r>
            <a:r>
              <a:rPr lang="pt-BR" dirty="0">
                <a:latin typeface="+mj-lt"/>
              </a:rPr>
              <a:t> crie o projeto </a:t>
            </a:r>
            <a:r>
              <a:rPr lang="pt-BR" b="1" dirty="0" err="1">
                <a:latin typeface="+mj-lt"/>
              </a:rPr>
              <a:t>prjExercGuiCirculo</a:t>
            </a:r>
            <a:r>
              <a:rPr lang="pt-BR" dirty="0">
                <a:latin typeface="+mj-lt"/>
              </a:rPr>
              <a:t> que </a:t>
            </a:r>
            <a:r>
              <a:rPr lang="pt-BR" dirty="0" err="1">
                <a:latin typeface="+mj-lt"/>
              </a:rPr>
              <a:t>permitar</a:t>
            </a:r>
            <a:r>
              <a:rPr lang="pt-BR" dirty="0">
                <a:latin typeface="+mj-lt"/>
              </a:rPr>
              <a:t> instanciar um objeto da classe Circulo e fazer a consulta da área, do perímetro e do diâmetro. Para a construção da </a:t>
            </a:r>
            <a:r>
              <a:rPr lang="pt-BR" dirty="0" err="1">
                <a:latin typeface="+mj-lt"/>
              </a:rPr>
              <a:t>gui</a:t>
            </a:r>
            <a:r>
              <a:rPr lang="pt-BR" dirty="0">
                <a:latin typeface="+mj-lt"/>
              </a:rPr>
              <a:t> utilize o </a:t>
            </a:r>
            <a:r>
              <a:rPr lang="pt-BR" dirty="0" err="1">
                <a:latin typeface="+mj-lt"/>
              </a:rPr>
              <a:t>lay-out</a:t>
            </a:r>
            <a:r>
              <a:rPr lang="pt-BR" dirty="0">
                <a:latin typeface="+mj-lt"/>
              </a:rPr>
              <a:t> abaixo.</a:t>
            </a:r>
          </a:p>
        </p:txBody>
      </p:sp>
    </p:spTree>
    <p:extLst>
      <p:ext uri="{BB962C8B-B14F-4D97-AF65-F5344CB8AC3E}">
        <p14:creationId xmlns:p14="http://schemas.microsoft.com/office/powerpoint/2010/main" val="426224612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1_Tema do Office">
  <a:themeElements>
    <a:clrScheme name="Tema do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Tema do Office">
      <a:majorFont>
        <a:latin typeface="Times New Roman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tabLst/>
          <a:defRPr kumimoji="0" lang="en-GB" altLang="pt-BR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anose="02020603050405020304" pitchFamily="18" charset="0"/>
            <a:ea typeface="Microsoft YaHei" panose="020B0503020204020204" pitchFamily="34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tabLst/>
          <a:defRPr kumimoji="0" lang="en-GB" altLang="pt-BR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anose="02020603050405020304" pitchFamily="18" charset="0"/>
            <a:ea typeface="Microsoft YaHei" panose="020B0503020204020204" pitchFamily="34" charset="-122"/>
          </a:defRPr>
        </a:defPPr>
      </a:lstStyle>
    </a:lnDef>
  </a:objectDefaults>
  <a:extraClrSchemeLst>
    <a:extraClrScheme>
      <a:clrScheme name="Tema do Offic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o Offic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ma do Offic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o Offic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o Offic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o Offic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o Offic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91CF7CAD3336F43B26E249B762A2551" ma:contentTypeVersion="3" ma:contentTypeDescription="Crie um novo documento." ma:contentTypeScope="" ma:versionID="becddeeb878757024d27ed3877adb00d">
  <xsd:schema xmlns:xsd="http://www.w3.org/2001/XMLSchema" xmlns:xs="http://www.w3.org/2001/XMLSchema" xmlns:p="http://schemas.microsoft.com/office/2006/metadata/properties" xmlns:ns2="93ef4152-5b54-4863-b2fe-232a2898b913" targetNamespace="http://schemas.microsoft.com/office/2006/metadata/properties" ma:root="true" ma:fieldsID="ef5903bcf913c8284653ea490ce1a702" ns2:_="">
    <xsd:import namespace="93ef4152-5b54-4863-b2fe-232a2898b91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ef4152-5b54-4863-b2fe-232a2898b91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BA6B118-75C0-4A40-AC13-286870BF7F7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A4E1499-4404-4078-8125-1DAB1F144C4B}"/>
</file>

<file path=customXml/itemProps3.xml><?xml version="1.0" encoding="utf-8"?>
<ds:datastoreItem xmlns:ds="http://schemas.openxmlformats.org/officeDocument/2006/customXml" ds:itemID="{011787F2-8F24-4FED-81D7-AF8FEB1DF758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625</TotalTime>
  <Words>170</Words>
  <Application>Microsoft Office PowerPoint</Application>
  <PresentationFormat>Widescreen</PresentationFormat>
  <Paragraphs>60</Paragraphs>
  <Slides>13</Slides>
  <Notes>9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8" baseType="lpstr">
      <vt:lpstr>Arial</vt:lpstr>
      <vt:lpstr>Calibri</vt:lpstr>
      <vt:lpstr>Times New Roman</vt:lpstr>
      <vt:lpstr>Wingdings</vt:lpstr>
      <vt:lpstr>1_Tema do Office</vt:lpstr>
      <vt:lpstr>Construção de GUI</vt:lpstr>
      <vt:lpstr>Apresentação do PowerPoint</vt:lpstr>
      <vt:lpstr>Apresentação do PowerPoint</vt:lpstr>
      <vt:lpstr>Apresentação do PowerPoint</vt:lpstr>
      <vt:lpstr>Exemplo </vt:lpstr>
      <vt:lpstr>Construção de Gui - Exemplo</vt:lpstr>
      <vt:lpstr>Apresentação do PowerPoint</vt:lpstr>
      <vt:lpstr>Construção de Gui - Exemplo</vt:lpstr>
      <vt:lpstr>Construção de Gui - Exemplo</vt:lpstr>
      <vt:lpstr>Apresentação do PowerPoint</vt:lpstr>
      <vt:lpstr>Construção de Gui</vt:lpstr>
      <vt:lpstr>Construção de Gui</vt:lpstr>
      <vt:lpstr>Construção de Gui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Construção de GUI</dc:title>
  <dc:creator>DIMAS   CARDOSO</dc:creator>
  <cp:lastModifiedBy>Dimas Cardoso</cp:lastModifiedBy>
  <cp:revision>40</cp:revision>
  <dcterms:created xsi:type="dcterms:W3CDTF">2021-05-02T20:11:55Z</dcterms:created>
  <dcterms:modified xsi:type="dcterms:W3CDTF">2026-05-03T22:36:44Z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0x010100A91CF7CAD3336F43B26E249B762A2551</vt:lpwstr>
  </property>
</Properties>
</file>