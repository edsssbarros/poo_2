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8" r:id="rId6"/>
    <p:sldId id="259" r:id="rId7"/>
    <p:sldId id="260" r:id="rId8"/>
    <p:sldId id="261" r:id="rId9"/>
    <p:sldId id="264" r:id="rId10"/>
    <p:sldId id="339" r:id="rId11"/>
    <p:sldId id="340" r:id="rId12"/>
    <p:sldId id="341" r:id="rId13"/>
    <p:sldId id="303" r:id="rId14"/>
    <p:sldId id="302" r:id="rId15"/>
    <p:sldId id="317" r:id="rId16"/>
    <p:sldId id="312" r:id="rId17"/>
    <p:sldId id="313" r:id="rId18"/>
    <p:sldId id="297" r:id="rId19"/>
    <p:sldId id="318" r:id="rId20"/>
    <p:sldId id="335" r:id="rId21"/>
    <p:sldId id="336" r:id="rId22"/>
    <p:sldId id="337" r:id="rId23"/>
    <p:sldId id="338" r:id="rId24"/>
    <p:sldId id="319" r:id="rId25"/>
    <p:sldId id="321" r:id="rId26"/>
    <p:sldId id="342" r:id="rId27"/>
    <p:sldId id="332" r:id="rId28"/>
    <p:sldId id="322" r:id="rId29"/>
    <p:sldId id="333" r:id="rId30"/>
    <p:sldId id="323" r:id="rId31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66"/>
    <a:srgbClr val="CC99FF"/>
    <a:srgbClr val="CCFF99"/>
    <a:srgbClr val="669900"/>
    <a:srgbClr val="CCCCFF"/>
    <a:srgbClr val="FF99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05" autoAdjust="0"/>
    <p:restoredTop sz="90929"/>
  </p:normalViewPr>
  <p:slideViewPr>
    <p:cSldViewPr>
      <p:cViewPr varScale="1">
        <p:scale>
          <a:sx n="71" d="100"/>
          <a:sy n="71" d="100"/>
        </p:scale>
        <p:origin x="1838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2D44A3C-C1B1-48C9-B2D9-EA8B123C4F6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7C25A1-03F7-486F-AABD-DD5699A6779A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pt-BR" altLang="pt-BR"/>
              <a:t>Prof. Dimas Ferreira Cardoso</a:t>
            </a: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48C8867-8403-4054-9357-FB80DB050C52}" type="slidenum">
              <a:rPr lang="pt-BR" altLang="pt-BR"/>
              <a:pPr/>
              <a:t>1</a:t>
            </a:fld>
            <a:endParaRPr lang="pt-BR" altLang="pt-BR"/>
          </a:p>
        </p:txBody>
      </p:sp>
      <p:sp>
        <p:nvSpPr>
          <p:cNvPr id="6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1 w 1000"/>
                  <a:gd name="T5" fmla="*/ 2147483646 h 720"/>
                  <a:gd name="T6" fmla="*/ 1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3 h 317"/>
                  <a:gd name="T4" fmla="*/ 624 w 624"/>
                  <a:gd name="T5" fmla="*/ 33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3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3165 h 272"/>
                  <a:gd name="T4" fmla="*/ 240 w 624"/>
                  <a:gd name="T5" fmla="*/ 717890 h 272"/>
                  <a:gd name="T6" fmla="*/ 624 w 624"/>
                  <a:gd name="T7" fmla="*/ 813165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4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8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3 h 317"/>
                  <a:gd name="T4" fmla="*/ 624 w 624"/>
                  <a:gd name="T5" fmla="*/ 33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9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752547 h 272"/>
                  <a:gd name="T4" fmla="*/ 240 w 624"/>
                  <a:gd name="T5" fmla="*/ 665307 h 272"/>
                  <a:gd name="T6" fmla="*/ 624 w 624"/>
                  <a:gd name="T7" fmla="*/ 752547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2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3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4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5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752547 h 272"/>
                  <a:gd name="T4" fmla="*/ 240 w 624"/>
                  <a:gd name="T5" fmla="*/ 665307 h 272"/>
                  <a:gd name="T6" fmla="*/ 624 w 624"/>
                  <a:gd name="T7" fmla="*/ 752547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6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6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>
                <a:gd name="T0" fmla="*/ 0 w 5762"/>
                <a:gd name="T1" fmla="*/ 1312 h 385"/>
                <a:gd name="T2" fmla="*/ 5762 w 5762"/>
                <a:gd name="T3" fmla="*/ 1255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312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7" name="Rectangle 27"/>
          <p:cNvSpPr>
            <a:spLocks noGrp="1" noChangeArrowheads="1"/>
          </p:cNvSpPr>
          <p:nvPr>
            <p:ph type="dt" sz="half" idx="10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28" name="Rectangle 2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29" name="Rectangle 2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31735A66-AE83-4F66-B1A5-20C2DCEFA87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CA09AF-3E56-49E9-AE8B-38E8F8DAED3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00F70C-A55D-4E73-B11F-F4B61223643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B021C-6BD7-49BE-9039-5C95B51129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8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9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8FFDBF-FC6F-4E78-B480-488EC4B59E1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0C2C56-4FFE-4975-89D2-F8E6066EF15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A5FA95-9EF7-4EB1-BBF9-E6042C3E84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840C13-392A-4E34-9D7C-86059D9467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A16449-E201-4F30-A07B-5284E7FB4E6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8E7847-0E55-457C-9118-F84C351891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5089B-7931-473F-8286-F870E8FB33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Imagem Online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47A4A-4203-46C0-9865-3A607D8AD42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1035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1 w 1000"/>
                  <a:gd name="T5" fmla="*/ 2147483646 h 720"/>
                  <a:gd name="T6" fmla="*/ 1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3 h 317"/>
                  <a:gd name="T4" fmla="*/ 624 w 624"/>
                  <a:gd name="T5" fmla="*/ 33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3165 h 272"/>
                  <a:gd name="T4" fmla="*/ 240 w 624"/>
                  <a:gd name="T5" fmla="*/ 717890 h 272"/>
                  <a:gd name="T6" fmla="*/ 624 w 624"/>
                  <a:gd name="T7" fmla="*/ 813165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3 h 317"/>
                  <a:gd name="T4" fmla="*/ 624 w 624"/>
                  <a:gd name="T5" fmla="*/ 33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752547 h 272"/>
                  <a:gd name="T4" fmla="*/ 240 w 624"/>
                  <a:gd name="T5" fmla="*/ 665307 h 272"/>
                  <a:gd name="T6" fmla="*/ 624 w 624"/>
                  <a:gd name="T7" fmla="*/ 752547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0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1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2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752547 h 272"/>
                  <a:gd name="T4" fmla="*/ 240 w 624"/>
                  <a:gd name="T5" fmla="*/ 665307 h 272"/>
                  <a:gd name="T6" fmla="*/ 624 w 624"/>
                  <a:gd name="T7" fmla="*/ 752547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>
                <a:gd name="T0" fmla="*/ 0 w 5762"/>
                <a:gd name="T1" fmla="*/ 1312 h 385"/>
                <a:gd name="T2" fmla="*/ 1 w 5762"/>
                <a:gd name="T3" fmla="*/ 1255 h 385"/>
                <a:gd name="T4" fmla="*/ 1 w 5762"/>
                <a:gd name="T5" fmla="*/ 4 h 385"/>
                <a:gd name="T6" fmla="*/ 0 w 5762"/>
                <a:gd name="T7" fmla="*/ 0 h 385"/>
                <a:gd name="T8" fmla="*/ 0 w 5762"/>
                <a:gd name="T9" fmla="*/ 1312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>
                <a:gd name="T0" fmla="*/ 0 w 5761"/>
                <a:gd name="T1" fmla="*/ 28 h 189"/>
                <a:gd name="T2" fmla="*/ 1 w 5761"/>
                <a:gd name="T3" fmla="*/ 0 h 189"/>
                <a:gd name="T4" fmla="*/ 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Arial" charset="0"/>
              </a:defRPr>
            </a:lvl1pPr>
          </a:lstStyle>
          <a:p>
            <a:fld id="{AF1F4615-A563-449E-AB61-D933B088383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/>
              <a:t>Programação Orientada a Objetos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altLang="pt-BR"/>
              <a:t>- Introdução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33375"/>
            <a:ext cx="7954963" cy="6296025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pt-BR" altLang="pt-BR" sz="2400"/>
              <a:t>Evolução das Abordagens de Desenvolvimento</a:t>
            </a:r>
          </a:p>
          <a:p>
            <a:pPr algn="just">
              <a:buFont typeface="Monotype Sorts" pitchFamily="2" charset="2"/>
              <a:buNone/>
            </a:pPr>
            <a:r>
              <a:rPr lang="pt-BR" altLang="pt-BR" sz="2400"/>
              <a:t>				 de Sistemas</a:t>
            </a:r>
          </a:p>
          <a:p>
            <a:pPr lvl="1">
              <a:buFontTx/>
              <a:buNone/>
            </a:pPr>
            <a:endParaRPr lang="pt-BR" altLang="pt-BR" b="1" u="sng">
              <a:solidFill>
                <a:schemeClr val="accent2"/>
              </a:solidFill>
            </a:endParaRPr>
          </a:p>
          <a:p>
            <a:pPr lvl="1">
              <a:buFontTx/>
              <a:buNone/>
            </a:pPr>
            <a:r>
              <a:rPr lang="pt-BR" altLang="pt-BR" b="1" u="sng">
                <a:solidFill>
                  <a:schemeClr val="accent2"/>
                </a:solidFill>
              </a:rPr>
              <a:t>Monolítico</a:t>
            </a:r>
          </a:p>
          <a:p>
            <a:pPr lvl="1">
              <a:buFontTx/>
              <a:buNone/>
            </a:pPr>
            <a:endParaRPr lang="pt-BR" altLang="pt-BR" sz="1200" b="1" u="sng">
              <a:solidFill>
                <a:schemeClr val="accent2"/>
              </a:solidFill>
            </a:endParaRPr>
          </a:p>
          <a:p>
            <a:pPr lvl="2"/>
            <a:r>
              <a:rPr lang="pt-BR" altLang="pt-BR" sz="2200"/>
              <a:t>Década de 60</a:t>
            </a:r>
          </a:p>
          <a:p>
            <a:pPr lvl="2" algn="just"/>
            <a:r>
              <a:rPr lang="pt-BR" altLang="pt-BR" sz="2200"/>
              <a:t>Aplicações/Sistemas eram pequenos e relativamente simples</a:t>
            </a:r>
          </a:p>
          <a:p>
            <a:pPr lvl="2"/>
            <a:r>
              <a:rPr lang="pt-BR" altLang="pt-BR" sz="2200"/>
              <a:t>Linguagens simples (Fortran, Cobol)</a:t>
            </a:r>
          </a:p>
          <a:p>
            <a:pPr lvl="2" algn="just"/>
            <a:r>
              <a:rPr lang="pt-BR" altLang="pt-BR" sz="2200"/>
              <a:t>Os desenvolvedores não tinham um método para desenvolver sistemas, utilizavam de sua criatividade pessoal</a:t>
            </a:r>
          </a:p>
          <a:p>
            <a:pPr lvl="2" algn="just"/>
            <a:r>
              <a:rPr lang="pt-BR" altLang="pt-BR" sz="2200"/>
              <a:t>A programação era considerada uma atividade artesanal e criativa</a:t>
            </a:r>
          </a:p>
          <a:p>
            <a:pPr lvl="2" algn="just"/>
            <a:r>
              <a:rPr lang="pt-BR" altLang="pt-BR" sz="2200"/>
              <a:t>Os códigos do tipo </a:t>
            </a:r>
            <a:r>
              <a:rPr lang="pt-BR" altLang="pt-BR" sz="2800" b="1">
                <a:solidFill>
                  <a:srgbClr val="669900"/>
                </a:solidFill>
              </a:rPr>
              <a:t>Spaghetti</a:t>
            </a:r>
            <a:r>
              <a:rPr lang="pt-BR" altLang="pt-BR" sz="2200" b="1">
                <a:solidFill>
                  <a:srgbClr val="669900"/>
                </a:solidFill>
              </a:rPr>
              <a:t> </a:t>
            </a:r>
            <a:r>
              <a:rPr lang="pt-BR" altLang="pt-BR" sz="2200"/>
              <a:t>e de difícil manutenção</a:t>
            </a:r>
            <a:endParaRPr lang="pt-BR" altLang="pt-BR" sz="2200" u="s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88913"/>
            <a:ext cx="7954962" cy="5562600"/>
          </a:xfrm>
        </p:spPr>
        <p:txBody>
          <a:bodyPr/>
          <a:lstStyle/>
          <a:p>
            <a:pPr lvl="1">
              <a:buFontTx/>
              <a:buNone/>
            </a:pPr>
            <a:endParaRPr lang="pt-BR" altLang="pt-BR" b="1" u="sng">
              <a:solidFill>
                <a:schemeClr val="accent2"/>
              </a:solidFill>
            </a:endParaRPr>
          </a:p>
          <a:p>
            <a:pPr lvl="1">
              <a:buFontTx/>
              <a:buNone/>
            </a:pPr>
            <a:r>
              <a:rPr lang="pt-BR" altLang="pt-BR" b="1" u="sng">
                <a:solidFill>
                  <a:schemeClr val="accent2"/>
                </a:solidFill>
              </a:rPr>
              <a:t>Estruturado</a:t>
            </a:r>
          </a:p>
          <a:p>
            <a:pPr lvl="1">
              <a:buFontTx/>
              <a:buNone/>
            </a:pPr>
            <a:endParaRPr lang="pt-BR" altLang="pt-BR" b="1" u="sng">
              <a:solidFill>
                <a:schemeClr val="accent2"/>
              </a:solidFill>
            </a:endParaRPr>
          </a:p>
          <a:p>
            <a:pPr marL="719138" lvl="2"/>
            <a:r>
              <a:rPr lang="pt-BR" altLang="pt-BR" sz="2200"/>
              <a:t>Década de 70</a:t>
            </a:r>
          </a:p>
          <a:p>
            <a:pPr marL="719138" lvl="2"/>
            <a:endParaRPr lang="pt-BR" altLang="pt-BR" sz="2200"/>
          </a:p>
          <a:p>
            <a:pPr marL="719138" lvl="2" algn="just"/>
            <a:r>
              <a:rPr lang="pt-BR" altLang="pt-BR" sz="2200"/>
              <a:t>Al Constantine e Yourdon criaram uma abordagem de desenvolvimento de sistemas que utilizava a função como seu bloco de construção. Este método foi denominado </a:t>
            </a:r>
            <a:r>
              <a:rPr lang="pt-BR" altLang="pt-BR" sz="2800" b="1">
                <a:solidFill>
                  <a:srgbClr val="669900"/>
                </a:solidFill>
              </a:rPr>
              <a:t>análise e desenho estruturado</a:t>
            </a:r>
            <a:r>
              <a:rPr lang="pt-BR" altLang="pt-BR" sz="2200"/>
              <a:t>.</a:t>
            </a:r>
          </a:p>
          <a:p>
            <a:pPr marL="719138" lvl="2" algn="just"/>
            <a:endParaRPr lang="pt-BR" altLang="pt-BR" sz="2200"/>
          </a:p>
          <a:p>
            <a:pPr marL="719138" lvl="2" algn="just"/>
            <a:r>
              <a:rPr lang="pt-BR" altLang="pt-BR" sz="2200"/>
              <a:t>Surgiu a </a:t>
            </a:r>
            <a:r>
              <a:rPr lang="pt-BR" altLang="pt-BR" sz="2800" b="1">
                <a:solidFill>
                  <a:srgbClr val="669900"/>
                </a:solidFill>
              </a:rPr>
              <a:t>programação modular</a:t>
            </a:r>
            <a:r>
              <a:rPr lang="pt-BR" altLang="pt-BR" sz="2200"/>
              <a:t> que facilitou a manutenção dos sistemas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60350"/>
            <a:ext cx="7886700" cy="4681538"/>
          </a:xfrm>
        </p:spPr>
        <p:txBody>
          <a:bodyPr/>
          <a:lstStyle/>
          <a:p>
            <a:pPr marL="574675" lvl="1">
              <a:buFontTx/>
              <a:buNone/>
            </a:pPr>
            <a:r>
              <a:rPr lang="pt-BR" altLang="pt-BR" b="1" u="sng">
                <a:solidFill>
                  <a:schemeClr val="accent2"/>
                </a:solidFill>
              </a:rPr>
              <a:t>Estruturado</a:t>
            </a:r>
          </a:p>
          <a:p>
            <a:pPr marL="574675" lvl="1">
              <a:buFontTx/>
              <a:buNone/>
            </a:pPr>
            <a:endParaRPr lang="pt-BR" altLang="pt-BR" b="1" u="sng">
              <a:solidFill>
                <a:schemeClr val="accent2"/>
              </a:solidFill>
            </a:endParaRPr>
          </a:p>
          <a:p>
            <a:pPr marL="1181100" lvl="2" indent="-415925" algn="just"/>
            <a:r>
              <a:rPr lang="pt-BR" altLang="pt-BR" sz="2200"/>
              <a:t>Utilização de diagramas gráficos para representar os fluxos de dados (</a:t>
            </a:r>
            <a:r>
              <a:rPr lang="pt-BR" altLang="pt-BR" sz="2200" b="1">
                <a:solidFill>
                  <a:srgbClr val="669900"/>
                </a:solidFill>
              </a:rPr>
              <a:t>DFD</a:t>
            </a:r>
            <a:r>
              <a:rPr lang="pt-BR" altLang="pt-BR" sz="2200"/>
              <a:t>) e para representar as lógicas de programação (</a:t>
            </a:r>
            <a:r>
              <a:rPr lang="pt-BR" altLang="pt-BR" sz="2200" b="1">
                <a:solidFill>
                  <a:srgbClr val="669900"/>
                </a:solidFill>
              </a:rPr>
              <a:t>Fluxogramas</a:t>
            </a:r>
            <a:r>
              <a:rPr lang="pt-BR" altLang="pt-BR" sz="2200"/>
              <a:t>)</a:t>
            </a:r>
          </a:p>
          <a:p>
            <a:pPr marL="1181100" lvl="2" indent="-415925" algn="just"/>
            <a:endParaRPr lang="pt-BR" altLang="pt-BR" sz="2200"/>
          </a:p>
          <a:p>
            <a:pPr marL="1181100" lvl="2" indent="-415925" algn="just"/>
            <a:r>
              <a:rPr lang="pt-BR" altLang="pt-BR" sz="2200"/>
              <a:t>Década de 80, Peter Chen (criador do diagrama de</a:t>
            </a:r>
            <a:r>
              <a:rPr lang="pt-BR" altLang="pt-BR" sz="2200" b="1">
                <a:solidFill>
                  <a:srgbClr val="669900"/>
                </a:solidFill>
              </a:rPr>
              <a:t> entidade e relacionamentos</a:t>
            </a:r>
            <a:r>
              <a:rPr lang="pt-BR" altLang="pt-BR" sz="2200"/>
              <a:t>) e Ed Codd (desenhista do banco de dados relacional) criando um método (Modelagem de Dados) de desenvolvimento de sistemas baseados em dados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990600"/>
            <a:ext cx="7954963" cy="53340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pt-BR" altLang="pt-BR" b="1" u="sng">
                <a:solidFill>
                  <a:schemeClr val="accent2"/>
                </a:solidFill>
              </a:rPr>
              <a:t>Orientado a Objetos</a:t>
            </a:r>
          </a:p>
          <a:p>
            <a:pPr lvl="1">
              <a:buFontTx/>
              <a:buNone/>
            </a:pPr>
            <a:endParaRPr lang="pt-BR" altLang="pt-BR" b="1" u="sng">
              <a:solidFill>
                <a:schemeClr val="accent2"/>
              </a:solidFill>
            </a:endParaRPr>
          </a:p>
          <a:p>
            <a:pPr lvl="2" algn="just"/>
            <a:r>
              <a:rPr lang="pt-BR" altLang="pt-BR" sz="2200"/>
              <a:t>Década de 90</a:t>
            </a:r>
          </a:p>
          <a:p>
            <a:pPr lvl="2" algn="just"/>
            <a:r>
              <a:rPr lang="pt-BR" altLang="pt-BR" sz="2200"/>
              <a:t>Visa complementar o método estruturado</a:t>
            </a:r>
          </a:p>
          <a:p>
            <a:pPr lvl="2" algn="just"/>
            <a:r>
              <a:rPr lang="pt-BR" altLang="pt-BR" sz="2200"/>
              <a:t>Fornece ao desenvolvedor uma </a:t>
            </a:r>
            <a:r>
              <a:rPr lang="pt-BR" altLang="pt-BR" sz="2800" b="1">
                <a:solidFill>
                  <a:srgbClr val="669900"/>
                </a:solidFill>
              </a:rPr>
              <a:t>perspectiva ortogonal</a:t>
            </a:r>
            <a:r>
              <a:rPr lang="pt-BR" altLang="pt-BR" sz="2200"/>
              <a:t>, permitindo administrar a complexidade  do domínio do problema e sua tecnologia de suporte</a:t>
            </a:r>
          </a:p>
          <a:p>
            <a:pPr lvl="2" algn="just"/>
            <a:r>
              <a:rPr lang="pt-BR" altLang="pt-BR" sz="2200"/>
              <a:t>Facilita a administração dos </a:t>
            </a:r>
            <a:r>
              <a:rPr lang="pt-BR" altLang="pt-BR" sz="2800" b="1">
                <a:solidFill>
                  <a:srgbClr val="669900"/>
                </a:solidFill>
              </a:rPr>
              <a:t>dados</a:t>
            </a:r>
            <a:r>
              <a:rPr lang="pt-BR" altLang="pt-BR" sz="2200"/>
              <a:t> e o controle das funções (</a:t>
            </a:r>
            <a:r>
              <a:rPr lang="pt-BR" altLang="pt-BR" sz="2800" b="1">
                <a:solidFill>
                  <a:srgbClr val="669900"/>
                </a:solidFill>
              </a:rPr>
              <a:t>código</a:t>
            </a:r>
            <a:r>
              <a:rPr lang="pt-BR" altLang="pt-BR" sz="2200"/>
              <a:t>)</a:t>
            </a:r>
          </a:p>
          <a:p>
            <a:pPr lvl="2" algn="just"/>
            <a:r>
              <a:rPr lang="pt-BR" altLang="pt-BR" sz="2200"/>
              <a:t>Permite a produção de software mais flexível e de fácil </a:t>
            </a:r>
            <a:r>
              <a:rPr lang="pt-BR" altLang="pt-BR"/>
              <a:t>manutenção </a:t>
            </a:r>
          </a:p>
          <a:p>
            <a:pPr lvl="2" algn="just"/>
            <a:endParaRPr lang="pt-BR" altLang="pt-BR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5225" y="228600"/>
            <a:ext cx="7772400" cy="838200"/>
          </a:xfrm>
        </p:spPr>
        <p:txBody>
          <a:bodyPr/>
          <a:lstStyle/>
          <a:p>
            <a:r>
              <a:rPr lang="pt-BR" altLang="pt-BR"/>
              <a:t>Programação Orientada a Objetos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3163" y="1447800"/>
            <a:ext cx="7772400" cy="4114800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pt-BR" altLang="pt-BR" sz="2600"/>
              <a:t>A</a:t>
            </a:r>
            <a:r>
              <a:rPr lang="pt-BR" altLang="pt-BR" sz="2600" b="1">
                <a:solidFill>
                  <a:srgbClr val="FF0000"/>
                </a:solidFill>
              </a:rPr>
              <a:t> Complexidade</a:t>
            </a:r>
            <a:r>
              <a:rPr lang="pt-BR" altLang="pt-BR" sz="2600"/>
              <a:t> faz parte da </a:t>
            </a:r>
            <a:r>
              <a:rPr lang="pt-BR" altLang="pt-BR" sz="2600" b="1">
                <a:solidFill>
                  <a:schemeClr val="accent2"/>
                </a:solidFill>
              </a:rPr>
              <a:t>essência</a:t>
            </a:r>
            <a:r>
              <a:rPr lang="pt-BR" altLang="pt-BR" sz="2600"/>
              <a:t> do software</a:t>
            </a:r>
          </a:p>
          <a:p>
            <a:pPr algn="just">
              <a:buFont typeface="Wingdings" pitchFamily="2" charset="2"/>
              <a:buChar char="§"/>
            </a:pPr>
            <a:r>
              <a:rPr lang="pt-BR" altLang="pt-BR" sz="2600"/>
              <a:t>Devemos utilizar de </a:t>
            </a:r>
            <a:r>
              <a:rPr lang="pt-BR" altLang="pt-BR" sz="2600" b="1">
                <a:solidFill>
                  <a:schemeClr val="accent2"/>
                </a:solidFill>
              </a:rPr>
              <a:t>mecanismos</a:t>
            </a:r>
            <a:r>
              <a:rPr lang="pt-BR" altLang="pt-BR" sz="2600"/>
              <a:t> que permitem </a:t>
            </a:r>
            <a:r>
              <a:rPr lang="pt-BR" altLang="pt-BR" sz="2600" b="1">
                <a:solidFill>
                  <a:schemeClr val="accent2"/>
                </a:solidFill>
              </a:rPr>
              <a:t>administrar</a:t>
            </a:r>
            <a:r>
              <a:rPr lang="pt-BR" altLang="pt-BR" sz="2600"/>
              <a:t> a </a:t>
            </a:r>
            <a:r>
              <a:rPr lang="pt-BR" altLang="pt-BR" sz="2600" b="1">
                <a:solidFill>
                  <a:srgbClr val="FF0000"/>
                </a:solidFill>
              </a:rPr>
              <a:t>complexidade</a:t>
            </a:r>
            <a:r>
              <a:rPr lang="pt-BR" altLang="pt-BR" sz="2600"/>
              <a:t> do software</a:t>
            </a:r>
          </a:p>
          <a:p>
            <a:pPr algn="just">
              <a:buFont typeface="Wingdings" pitchFamily="2" charset="2"/>
              <a:buChar char="§"/>
            </a:pPr>
            <a:r>
              <a:rPr lang="pt-BR" altLang="pt-BR" sz="2600"/>
              <a:t>A </a:t>
            </a:r>
            <a:r>
              <a:rPr lang="pt-BR" altLang="pt-BR" sz="2600" b="1">
                <a:solidFill>
                  <a:srgbClr val="FF0000"/>
                </a:solidFill>
              </a:rPr>
              <a:t>complexidade</a:t>
            </a:r>
            <a:r>
              <a:rPr lang="pt-BR" altLang="pt-BR" sz="2600"/>
              <a:t> gera </a:t>
            </a:r>
            <a:r>
              <a:rPr lang="pt-BR" altLang="pt-BR" sz="2600" b="1">
                <a:solidFill>
                  <a:srgbClr val="FF0000"/>
                </a:solidFill>
              </a:rPr>
              <a:t>dificuldades</a:t>
            </a:r>
            <a:endParaRPr lang="pt-BR" altLang="pt-BR" sz="2600"/>
          </a:p>
          <a:p>
            <a:pPr algn="just">
              <a:buFont typeface="Wingdings" pitchFamily="2" charset="2"/>
              <a:buChar char="§"/>
            </a:pPr>
            <a:r>
              <a:rPr lang="pt-BR" altLang="pt-BR" sz="2600"/>
              <a:t>Muitas </a:t>
            </a:r>
            <a:r>
              <a:rPr lang="pt-BR" altLang="pt-BR" sz="2600" b="1">
                <a:solidFill>
                  <a:srgbClr val="FF0000"/>
                </a:solidFill>
              </a:rPr>
              <a:t>dificuldades</a:t>
            </a:r>
            <a:r>
              <a:rPr lang="pt-BR" altLang="pt-BR" sz="2600"/>
              <a:t> encontradas no desenvolvimento de um software podem surgir devido a forma empregada para construí-lo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14422"/>
            <a:ext cx="8017614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714488"/>
            <a:ext cx="6521864" cy="3633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000100" y="457200"/>
            <a:ext cx="8143899" cy="68578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kumimoji="1" lang="pt-BR" sz="3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Etapas para o Desenvolvimento de uma Aplicação</a:t>
            </a:r>
          </a:p>
        </p:txBody>
      </p:sp>
      <p:sp>
        <p:nvSpPr>
          <p:cNvPr id="6" name="Elipse 5"/>
          <p:cNvSpPr/>
          <p:nvPr/>
        </p:nvSpPr>
        <p:spPr bwMode="auto">
          <a:xfrm>
            <a:off x="4643438" y="2928934"/>
            <a:ext cx="2143140" cy="714380"/>
          </a:xfrm>
          <a:prstGeom prst="ellips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6"/>
          <p:cNvGrpSpPr>
            <a:grpSpLocks/>
          </p:cNvGrpSpPr>
          <p:nvPr/>
        </p:nvGrpSpPr>
        <p:grpSpPr bwMode="auto">
          <a:xfrm>
            <a:off x="3541713" y="0"/>
            <a:ext cx="5634037" cy="6850063"/>
            <a:chOff x="3541713" y="0"/>
            <a:chExt cx="5634037" cy="6850063"/>
          </a:xfrm>
        </p:grpSpPr>
        <p:pic>
          <p:nvPicPr>
            <p:cNvPr id="21512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41713" y="0"/>
              <a:ext cx="5634037" cy="685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3" name="Retângulo 5"/>
            <p:cNvSpPr>
              <a:spLocks noChangeArrowheads="1"/>
            </p:cNvSpPr>
            <p:nvPr/>
          </p:nvSpPr>
          <p:spPr bwMode="auto">
            <a:xfrm>
              <a:off x="5373816" y="2070576"/>
              <a:ext cx="217968" cy="36004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endParaRPr lang="pt-BR" altLang="pt-BR"/>
            </a:p>
          </p:txBody>
        </p:sp>
      </p:grp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4495800" y="1447800"/>
            <a:ext cx="1295400" cy="12954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5581650" y="3552825"/>
            <a:ext cx="1582738" cy="931863"/>
          </a:xfrm>
          <a:prstGeom prst="ellipse">
            <a:avLst/>
          </a:prstGeom>
          <a:noFill/>
          <a:ln w="38100">
            <a:solidFill>
              <a:srgbClr val="FF9966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1000100" y="142852"/>
            <a:ext cx="2500330" cy="116955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2000" b="1" dirty="0"/>
              <a:t>Abordagem </a:t>
            </a:r>
            <a:r>
              <a:rPr lang="pt-BR" altLang="pt-BR" sz="2000" b="1" dirty="0" err="1"/>
              <a:t>O.O.</a:t>
            </a:r>
            <a:endParaRPr lang="pt-BR" altLang="pt-BR" sz="2000" b="1" dirty="0"/>
          </a:p>
          <a:p>
            <a:pPr algn="ctr">
              <a:spcBef>
                <a:spcPct val="50000"/>
              </a:spcBef>
            </a:pPr>
            <a:r>
              <a:rPr lang="pt-BR" altLang="pt-BR" sz="2000" b="1" dirty="0"/>
              <a:t>- Linguagem de Especificação UML -</a:t>
            </a:r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818035" y="6453188"/>
            <a:ext cx="2743200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pt-BR" altLang="pt-BR" sz="900" b="1" dirty="0"/>
              <a:t>Figura extraída do Livro Utilizando UML e Padrões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pt-BR" altLang="pt-BR" sz="900" b="1" dirty="0"/>
              <a:t> - </a:t>
            </a:r>
            <a:r>
              <a:rPr lang="pt-BR" altLang="pt-BR" sz="900" b="1" dirty="0" err="1"/>
              <a:t>Graig</a:t>
            </a:r>
            <a:r>
              <a:rPr lang="pt-BR" altLang="pt-BR" sz="900" b="1" dirty="0"/>
              <a:t> </a:t>
            </a:r>
            <a:r>
              <a:rPr lang="pt-BR" altLang="pt-BR" sz="900" b="1" dirty="0" err="1"/>
              <a:t>Lerman</a:t>
            </a:r>
            <a:r>
              <a:rPr lang="pt-BR" altLang="pt-BR" sz="900" b="1" dirty="0"/>
              <a:t> - 2a. Edição -</a:t>
            </a:r>
          </a:p>
        </p:txBody>
      </p:sp>
      <p:sp>
        <p:nvSpPr>
          <p:cNvPr id="10" name="Elipse 9"/>
          <p:cNvSpPr>
            <a:spLocks noChangeArrowheads="1"/>
          </p:cNvSpPr>
          <p:nvPr/>
        </p:nvSpPr>
        <p:spPr bwMode="auto">
          <a:xfrm>
            <a:off x="6443663" y="3876675"/>
            <a:ext cx="431800" cy="415925"/>
          </a:xfrm>
          <a:prstGeom prst="ellipse">
            <a:avLst/>
          </a:prstGeom>
          <a:noFill/>
          <a:ln w="254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848600" cy="914400"/>
          </a:xfrm>
        </p:spPr>
        <p:txBody>
          <a:bodyPr/>
          <a:lstStyle/>
          <a:p>
            <a:pPr algn="ctr"/>
            <a:r>
              <a:rPr lang="pt-BR" altLang="pt-BR" sz="3600">
                <a:solidFill>
                  <a:schemeClr val="tx1"/>
                </a:solidFill>
              </a:rPr>
              <a:t>Fundamentos da Programação </a:t>
            </a:r>
            <a:br>
              <a:rPr lang="pt-BR" altLang="pt-BR" sz="3600">
                <a:solidFill>
                  <a:schemeClr val="tx1"/>
                </a:solidFill>
              </a:rPr>
            </a:br>
            <a:r>
              <a:rPr lang="pt-BR" altLang="pt-BR" sz="3600">
                <a:solidFill>
                  <a:schemeClr val="tx1"/>
                </a:solidFill>
              </a:rPr>
              <a:t>Orientada a Objetos</a:t>
            </a:r>
            <a:endParaRPr lang="pt-BR" altLang="pt-BR" b="1">
              <a:solidFill>
                <a:schemeClr val="tx1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349500"/>
            <a:ext cx="7620000" cy="4203700"/>
          </a:xfrm>
        </p:spPr>
        <p:txBody>
          <a:bodyPr/>
          <a:lstStyle/>
          <a:p>
            <a:pPr marL="0" indent="0" algn="just">
              <a:buFont typeface="Monotype Sorts" pitchFamily="2" charset="2"/>
              <a:buNone/>
            </a:pPr>
            <a:r>
              <a:rPr lang="pt-BR" altLang="pt-BR" sz="2400"/>
              <a:t>	Uma </a:t>
            </a:r>
            <a:r>
              <a:rPr lang="pt-BR" altLang="pt-BR" sz="2400" b="1">
                <a:solidFill>
                  <a:schemeClr val="accent2"/>
                </a:solidFill>
              </a:rPr>
              <a:t>classe</a:t>
            </a:r>
            <a:r>
              <a:rPr lang="pt-BR" altLang="pt-BR" sz="2400"/>
              <a:t> representa um conjunto de </a:t>
            </a:r>
            <a:r>
              <a:rPr lang="pt-BR" altLang="pt-BR" sz="2400" b="1">
                <a:solidFill>
                  <a:schemeClr val="accent2"/>
                </a:solidFill>
              </a:rPr>
              <a:t>elementos</a:t>
            </a:r>
            <a:r>
              <a:rPr lang="pt-BR" altLang="pt-BR" sz="2400"/>
              <a:t> (</a:t>
            </a:r>
            <a:r>
              <a:rPr lang="pt-BR" altLang="pt-BR" sz="2400" b="1">
                <a:solidFill>
                  <a:srgbClr val="009900"/>
                </a:solidFill>
              </a:rPr>
              <a:t>objetos</a:t>
            </a:r>
            <a:r>
              <a:rPr lang="pt-BR" altLang="pt-BR" sz="2400"/>
              <a:t>) que possuem as mesmas propriedades (</a:t>
            </a:r>
            <a:r>
              <a:rPr lang="pt-BR" altLang="pt-BR" sz="2400" b="1">
                <a:solidFill>
                  <a:srgbClr val="009900"/>
                </a:solidFill>
              </a:rPr>
              <a:t>atributos</a:t>
            </a:r>
            <a:r>
              <a:rPr lang="pt-BR" altLang="pt-BR" sz="2400"/>
              <a:t>) e as mesmas </a:t>
            </a:r>
            <a:r>
              <a:rPr lang="pt-BR" altLang="pt-BR" sz="2400" b="1">
                <a:solidFill>
                  <a:schemeClr val="accent2"/>
                </a:solidFill>
              </a:rPr>
              <a:t>operações</a:t>
            </a:r>
            <a:r>
              <a:rPr lang="pt-BR" altLang="pt-BR" sz="2400"/>
              <a:t> (</a:t>
            </a:r>
            <a:r>
              <a:rPr lang="pt-BR" altLang="pt-BR" sz="2400" b="1">
                <a:solidFill>
                  <a:srgbClr val="009900"/>
                </a:solidFill>
              </a:rPr>
              <a:t>métodos</a:t>
            </a:r>
            <a:r>
              <a:rPr lang="pt-BR" altLang="pt-BR" sz="2400"/>
              <a:t>).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741488" y="4005263"/>
          <a:ext cx="6792912" cy="280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bitmap" r:id="rId2" imgW="4238095" imgH="1752381" progId="PBrush">
                  <p:embed/>
                </p:oleObj>
              </mc:Choice>
              <mc:Fallback>
                <p:oleObj name="Imagem bitmap" r:id="rId2" imgW="4238095" imgH="1752381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4005263"/>
                        <a:ext cx="6792912" cy="280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914400" y="1436688"/>
            <a:ext cx="201612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kumimoji="1" lang="pt-BR" sz="3600" b="1" u="sng" dirty="0">
                <a:solidFill>
                  <a:schemeClr val="accent2"/>
                </a:solidFill>
                <a:latin typeface="+mn-lt"/>
              </a:rPr>
              <a:t>Classe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333375"/>
            <a:ext cx="7620000" cy="2590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pt-BR" altLang="pt-BR" sz="2500"/>
              <a:t>Os </a:t>
            </a:r>
            <a:r>
              <a:rPr lang="pt-BR" altLang="pt-BR" sz="2500" b="1">
                <a:solidFill>
                  <a:srgbClr val="009900"/>
                </a:solidFill>
              </a:rPr>
              <a:t>atributos</a:t>
            </a:r>
            <a:r>
              <a:rPr lang="pt-BR" altLang="pt-BR" sz="2500"/>
              <a:t> de uma classe representa uma </a:t>
            </a:r>
            <a:r>
              <a:rPr lang="pt-BR" altLang="pt-BR" sz="2500" b="1">
                <a:solidFill>
                  <a:srgbClr val="FF0000"/>
                </a:solidFill>
              </a:rPr>
              <a:t>estrutura de dados </a:t>
            </a:r>
            <a:r>
              <a:rPr lang="pt-BR" altLang="pt-BR" sz="2500"/>
              <a:t>e os </a:t>
            </a:r>
            <a:r>
              <a:rPr lang="pt-BR" altLang="pt-BR" sz="2500" b="1">
                <a:solidFill>
                  <a:srgbClr val="009900"/>
                </a:solidFill>
              </a:rPr>
              <a:t>métodos</a:t>
            </a:r>
            <a:r>
              <a:rPr lang="pt-BR" altLang="pt-BR" sz="2500" b="1">
                <a:solidFill>
                  <a:srgbClr val="FF0000"/>
                </a:solidFill>
              </a:rPr>
              <a:t> </a:t>
            </a:r>
            <a:r>
              <a:rPr lang="pt-BR" altLang="pt-BR" sz="2500"/>
              <a:t>representam um</a:t>
            </a:r>
            <a:r>
              <a:rPr lang="pt-BR" altLang="pt-BR" sz="2500" b="1">
                <a:solidFill>
                  <a:srgbClr val="FF0000"/>
                </a:solidFill>
              </a:rPr>
              <a:t> código</a:t>
            </a:r>
            <a:r>
              <a:rPr lang="pt-BR" altLang="pt-BR" sz="2500" b="1">
                <a:solidFill>
                  <a:srgbClr val="009900"/>
                </a:solidFill>
              </a:rPr>
              <a:t> </a:t>
            </a:r>
            <a:r>
              <a:rPr lang="pt-BR" altLang="pt-BR" sz="2500"/>
              <a:t>definido a partir de uma </a:t>
            </a:r>
            <a:r>
              <a:rPr lang="pt-BR" altLang="pt-BR" sz="2500" b="1">
                <a:solidFill>
                  <a:srgbClr val="FF0000"/>
                </a:solidFill>
              </a:rPr>
              <a:t>lógica de programação</a:t>
            </a:r>
            <a:r>
              <a:rPr lang="pt-BR" altLang="pt-BR" sz="2500" b="1"/>
              <a:t>.</a:t>
            </a:r>
            <a:r>
              <a:rPr lang="pt-BR" altLang="pt-BR" sz="2500"/>
              <a:t> 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§"/>
            </a:pPr>
            <a:endParaRPr lang="pt-BR" altLang="pt-BR" sz="2500"/>
          </a:p>
          <a:p>
            <a:pPr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pt-BR" altLang="pt-BR" sz="2500"/>
              <a:t>A representação de uma classe é feita a partir da seguinte simbologia .</a:t>
            </a:r>
          </a:p>
          <a:p>
            <a:pPr algn="just">
              <a:lnSpc>
                <a:spcPct val="90000"/>
              </a:lnSpc>
            </a:pPr>
            <a:endParaRPr lang="pt-BR" altLang="pt-BR" sz="2800"/>
          </a:p>
        </p:txBody>
      </p:sp>
      <p:graphicFrame>
        <p:nvGraphicFramePr>
          <p:cNvPr id="16387" name="Object 4"/>
          <p:cNvGraphicFramePr>
            <a:graphicFrameLocks noChangeAspect="1"/>
          </p:cNvGraphicFramePr>
          <p:nvPr/>
        </p:nvGraphicFramePr>
        <p:xfrm>
          <a:off x="2582863" y="3086100"/>
          <a:ext cx="4953000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m bitmap" r:id="rId2" imgW="2676899" imgH="1924319" progId="PBrush">
                  <p:embed/>
                </p:oleObj>
              </mc:Choice>
              <mc:Fallback>
                <p:oleObj name="Imagem bitmap" r:id="rId2" imgW="2676899" imgH="1924319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3086100"/>
                        <a:ext cx="4953000" cy="35623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99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5490A8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7411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1187450" y="836613"/>
            <a:ext cx="75438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pt-BR" altLang="pt-BR" sz="2200" b="1" u="sng" dirty="0"/>
              <a:t>Definição dos Atributos:</a:t>
            </a:r>
            <a:r>
              <a:rPr lang="pt-BR" altLang="pt-BR" sz="2200" dirty="0"/>
              <a:t> Todos os objetos de uma classe terão o mesmos </a:t>
            </a:r>
            <a:r>
              <a:rPr lang="pt-BR" altLang="pt-BR" sz="2200" b="1" dirty="0">
                <a:solidFill>
                  <a:schemeClr val="accent2"/>
                </a:solidFill>
              </a:rPr>
              <a:t>atributos</a:t>
            </a:r>
            <a:r>
              <a:rPr lang="pt-BR" altLang="pt-BR" sz="2200" dirty="0"/>
              <a:t>. Cada atributo representa um tipo de dado (inteiro, real, </a:t>
            </a:r>
            <a:r>
              <a:rPr lang="pt-BR" altLang="pt-BR" sz="2200" dirty="0" err="1"/>
              <a:t>caracter</a:t>
            </a:r>
            <a:r>
              <a:rPr lang="pt-BR" altLang="pt-BR" sz="2200" dirty="0"/>
              <a:t>, matriz, ponteiro, </a:t>
            </a:r>
            <a:r>
              <a:rPr lang="pt-BR" altLang="pt-BR" sz="2200" dirty="0" err="1"/>
              <a:t>etc</a:t>
            </a:r>
            <a:r>
              <a:rPr lang="pt-BR" altLang="pt-BR" sz="2200" dirty="0"/>
              <a:t> ...). A diferença entre os objetos de uma mesma classe é representada pelo armazenamento de diferentes valores para estes seus atributos. </a:t>
            </a:r>
          </a:p>
          <a:p>
            <a:pPr algn="just"/>
            <a:endParaRPr lang="pt-BR" altLang="pt-BR" sz="2200" dirty="0"/>
          </a:p>
          <a:p>
            <a:pPr algn="just"/>
            <a:endParaRPr lang="pt-BR" altLang="pt-BR" sz="2200" dirty="0"/>
          </a:p>
          <a:p>
            <a:pPr algn="just"/>
            <a:r>
              <a:rPr lang="pt-BR" altLang="pt-BR" sz="2200" b="1" u="sng" dirty="0"/>
              <a:t>Definição dos Métodos:</a:t>
            </a:r>
            <a:r>
              <a:rPr lang="pt-BR" altLang="pt-BR" sz="2200" b="1" dirty="0"/>
              <a:t> </a:t>
            </a:r>
            <a:r>
              <a:rPr lang="pt-BR" altLang="pt-BR" sz="2200" dirty="0"/>
              <a:t>Todo método é um bloco de instruções cuja finalidade é permitir que o objeto execute uma determinada operação pré-estabelecida. Os objetos instanciados a partir de uma mesma classe utilizam os mesmos </a:t>
            </a:r>
            <a:r>
              <a:rPr lang="pt-BR" altLang="pt-BR" sz="2200" b="1" dirty="0">
                <a:solidFill>
                  <a:schemeClr val="accent2"/>
                </a:solidFill>
              </a:rPr>
              <a:t>métodos</a:t>
            </a:r>
            <a:r>
              <a:rPr lang="pt-BR" altLang="pt-BR" sz="2200" dirty="0"/>
              <a:t> (código) e </a:t>
            </a:r>
            <a:r>
              <a:rPr lang="pt-BR" altLang="pt-BR" sz="2200" b="1" u="sng" dirty="0">
                <a:solidFill>
                  <a:srgbClr val="FF0000"/>
                </a:solidFill>
              </a:rPr>
              <a:t>somente os métodos do próprio objeto terão acesso sobre os seus atributos</a:t>
            </a:r>
            <a:r>
              <a:rPr lang="pt-BR" altLang="pt-BR" sz="2200" dirty="0"/>
              <a:t>.</a:t>
            </a:r>
            <a:r>
              <a:rPr lang="pt-BR" altLang="pt-BR" dirty="0"/>
              <a:t>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8435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1476375" y="1052513"/>
            <a:ext cx="69342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/>
              <a:t>	Representa um elemento (instância) de uma determinada classe. Objetos de uma mesma classe possuem  os  mesmos </a:t>
            </a:r>
            <a:r>
              <a:rPr lang="pt-BR" altLang="pt-BR" b="1">
                <a:solidFill>
                  <a:schemeClr val="accent2"/>
                </a:solidFill>
              </a:rPr>
              <a:t>atributos</a:t>
            </a:r>
            <a:r>
              <a:rPr lang="pt-BR" altLang="pt-BR"/>
              <a:t> e realizam as mesmas </a:t>
            </a:r>
            <a:r>
              <a:rPr lang="pt-BR" altLang="pt-BR" b="1">
                <a:solidFill>
                  <a:schemeClr val="accent2"/>
                </a:solidFill>
              </a:rPr>
              <a:t>operações</a:t>
            </a:r>
            <a:r>
              <a:rPr lang="pt-BR" altLang="pt-BR"/>
              <a:t>. Dentro da orientação a objetos as operações realizadas por um objeto são denominadas de</a:t>
            </a:r>
            <a:r>
              <a:rPr lang="pt-BR" altLang="pt-BR" b="1">
                <a:solidFill>
                  <a:schemeClr val="accent2"/>
                </a:solidFill>
              </a:rPr>
              <a:t> métodos</a:t>
            </a:r>
            <a:r>
              <a:rPr lang="pt-BR" altLang="pt-BR"/>
              <a:t>.</a:t>
            </a:r>
            <a:endParaRPr lang="pt-BR" altLang="pt-BR" u="sng"/>
          </a:p>
        </p:txBody>
      </p:sp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1187450" y="188913"/>
            <a:ext cx="1676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4000" u="sng"/>
              <a:t>Objeto</a:t>
            </a:r>
          </a:p>
        </p:txBody>
      </p:sp>
      <p:sp>
        <p:nvSpPr>
          <p:cNvPr id="18438" name="Text Box 20"/>
          <p:cNvSpPr txBox="1">
            <a:spLocks noChangeArrowheads="1"/>
          </p:cNvSpPr>
          <p:nvPr/>
        </p:nvSpPr>
        <p:spPr bwMode="auto">
          <a:xfrm>
            <a:off x="4875213" y="4098925"/>
            <a:ext cx="39449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2000" b="1"/>
              <a:t>M1, M2, M3, M4, M5, M6, M7,M8              (Métodos -Código)</a:t>
            </a:r>
            <a:endParaRPr lang="pt-BR" altLang="pt-BR"/>
          </a:p>
        </p:txBody>
      </p:sp>
      <p:pic>
        <p:nvPicPr>
          <p:cNvPr id="18439" name="Imagem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75" y="3644900"/>
            <a:ext cx="3170238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1524000" y="2847975"/>
            <a:ext cx="6934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/>
              <a:t>	Representa  o processo de criação de um objeto a partir de uma determinada classe.</a:t>
            </a: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1143000" y="1752600"/>
            <a:ext cx="3429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4000" u="sng"/>
              <a:t>Instanciação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173163" y="457200"/>
            <a:ext cx="777240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kumimoji="1" lang="pt-BR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Classe/Instância/Objeto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8" name="Group 4"/>
          <p:cNvGrpSpPr>
            <a:grpSpLocks/>
          </p:cNvGrpSpPr>
          <p:nvPr/>
        </p:nvGrpSpPr>
        <p:grpSpPr bwMode="auto">
          <a:xfrm>
            <a:off x="990600" y="685800"/>
            <a:ext cx="2438400" cy="2743200"/>
            <a:chOff x="576" y="1152"/>
            <a:chExt cx="1536" cy="1728"/>
          </a:xfrm>
        </p:grpSpPr>
        <p:sp>
          <p:nvSpPr>
            <p:cNvPr id="20509" name="Text Box 5"/>
            <p:cNvSpPr txBox="1">
              <a:spLocks noChangeArrowheads="1"/>
            </p:cNvSpPr>
            <p:nvPr/>
          </p:nvSpPr>
          <p:spPr bwMode="auto">
            <a:xfrm>
              <a:off x="720" y="2649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800" b="1"/>
                <a:t>Objeto Caneta 1</a:t>
              </a:r>
              <a:endParaRPr lang="pt-BR" altLang="pt-BR"/>
            </a:p>
          </p:txBody>
        </p:sp>
        <p:sp>
          <p:nvSpPr>
            <p:cNvPr id="20510" name="Oval 6"/>
            <p:cNvSpPr>
              <a:spLocks noChangeArrowheads="1"/>
            </p:cNvSpPr>
            <p:nvPr/>
          </p:nvSpPr>
          <p:spPr bwMode="auto">
            <a:xfrm>
              <a:off x="576" y="1152"/>
              <a:ext cx="1536" cy="1392"/>
            </a:xfrm>
            <a:prstGeom prst="ellipse">
              <a:avLst/>
            </a:prstGeom>
            <a:solidFill>
              <a:srgbClr val="FFFFCC"/>
            </a:soli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endParaRPr lang="pt-BR" altLang="pt-BR"/>
            </a:p>
          </p:txBody>
        </p:sp>
        <p:sp>
          <p:nvSpPr>
            <p:cNvPr id="20511" name="Text Box 7"/>
            <p:cNvSpPr txBox="1">
              <a:spLocks noChangeArrowheads="1"/>
            </p:cNvSpPr>
            <p:nvPr/>
          </p:nvSpPr>
          <p:spPr bwMode="auto">
            <a:xfrm>
              <a:off x="752" y="1440"/>
              <a:ext cx="1200" cy="736"/>
            </a:xfrm>
            <a:prstGeom prst="rect">
              <a:avLst/>
            </a:prstGeom>
            <a:solidFill>
              <a:srgbClr val="CCCCFF"/>
            </a:solidFill>
            <a:ln w="9525">
              <a:miter lim="800000"/>
              <a:headEnd/>
              <a:tailEnd/>
            </a:ln>
            <a:effectLst/>
            <a:scene3d>
              <a:camera prst="legacyPerspectiveTop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CCFF"/>
              </a:extrusionClr>
            </a:sp3d>
          </p:spPr>
          <p:txBody>
            <a:bodyPr>
              <a:spAutoFit/>
              <a:flatTx/>
            </a:bodyPr>
            <a:lstStyle/>
            <a:p>
              <a:r>
                <a:rPr lang="pt-BR" altLang="pt-BR" sz="1000" b="1"/>
                <a:t>Tamanho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Tipo de Escrita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Cor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Constituição</a:t>
              </a:r>
              <a:endParaRPr lang="pt-BR" altLang="pt-BR"/>
            </a:p>
          </p:txBody>
        </p:sp>
        <p:sp>
          <p:nvSpPr>
            <p:cNvPr id="20512" name="Text Box 8"/>
            <p:cNvSpPr txBox="1">
              <a:spLocks noChangeArrowheads="1"/>
            </p:cNvSpPr>
            <p:nvPr/>
          </p:nvSpPr>
          <p:spPr bwMode="auto">
            <a:xfrm>
              <a:off x="1392" y="1446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Pequena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13" name="Text Box 9"/>
            <p:cNvSpPr txBox="1">
              <a:spLocks noChangeArrowheads="1"/>
            </p:cNvSpPr>
            <p:nvPr/>
          </p:nvSpPr>
          <p:spPr bwMode="auto">
            <a:xfrm>
              <a:off x="1392" y="1638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Fina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14" name="Text Box 10"/>
            <p:cNvSpPr txBox="1">
              <a:spLocks noChangeArrowheads="1"/>
            </p:cNvSpPr>
            <p:nvPr/>
          </p:nvSpPr>
          <p:spPr bwMode="auto">
            <a:xfrm>
              <a:off x="1384" y="1814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135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Azul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15" name="Text Box 11"/>
            <p:cNvSpPr txBox="1">
              <a:spLocks noChangeArrowheads="1"/>
            </p:cNvSpPr>
            <p:nvPr/>
          </p:nvSpPr>
          <p:spPr bwMode="auto">
            <a:xfrm>
              <a:off x="1392" y="2006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Plástico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16" name="Text Box 12"/>
            <p:cNvSpPr txBox="1">
              <a:spLocks noChangeArrowheads="1"/>
            </p:cNvSpPr>
            <p:nvPr/>
          </p:nvSpPr>
          <p:spPr bwMode="auto">
            <a:xfrm>
              <a:off x="960" y="2208"/>
              <a:ext cx="720" cy="192"/>
            </a:xfrm>
            <a:prstGeom prst="rect">
              <a:avLst/>
            </a:prstGeom>
            <a:solidFill>
              <a:srgbClr val="99FFCC"/>
            </a:solidFill>
            <a:ln w="9525">
              <a:miter lim="800000"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>
              <a:spAutoFit/>
              <a:flatTx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400" b="1"/>
                <a:t>Escrever( )</a:t>
              </a:r>
              <a:endParaRPr lang="pt-BR" altLang="pt-BR" sz="1600" b="1"/>
            </a:p>
          </p:txBody>
        </p:sp>
      </p:grpSp>
      <p:grpSp>
        <p:nvGrpSpPr>
          <p:cNvPr id="47117" name="Group 13"/>
          <p:cNvGrpSpPr>
            <a:grpSpLocks/>
          </p:cNvGrpSpPr>
          <p:nvPr/>
        </p:nvGrpSpPr>
        <p:grpSpPr bwMode="auto">
          <a:xfrm>
            <a:off x="6019800" y="609600"/>
            <a:ext cx="2438400" cy="2743200"/>
            <a:chOff x="4128" y="1056"/>
            <a:chExt cx="1536" cy="1728"/>
          </a:xfrm>
        </p:grpSpPr>
        <p:sp>
          <p:nvSpPr>
            <p:cNvPr id="20501" name="Text Box 14"/>
            <p:cNvSpPr txBox="1">
              <a:spLocks noChangeArrowheads="1"/>
            </p:cNvSpPr>
            <p:nvPr/>
          </p:nvSpPr>
          <p:spPr bwMode="auto">
            <a:xfrm>
              <a:off x="4272" y="2553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800" b="1"/>
                <a:t>Objeto Caneta 2</a:t>
              </a:r>
              <a:endParaRPr lang="pt-BR" altLang="pt-BR"/>
            </a:p>
          </p:txBody>
        </p:sp>
        <p:sp>
          <p:nvSpPr>
            <p:cNvPr id="20502" name="Oval 15"/>
            <p:cNvSpPr>
              <a:spLocks noChangeArrowheads="1"/>
            </p:cNvSpPr>
            <p:nvPr/>
          </p:nvSpPr>
          <p:spPr bwMode="auto">
            <a:xfrm>
              <a:off x="4128" y="1056"/>
              <a:ext cx="1536" cy="1392"/>
            </a:xfrm>
            <a:prstGeom prst="ellipse">
              <a:avLst/>
            </a:prstGeom>
            <a:solidFill>
              <a:srgbClr val="FFFFCC"/>
            </a:soli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endParaRPr lang="pt-BR" altLang="pt-BR"/>
            </a:p>
          </p:txBody>
        </p:sp>
        <p:sp>
          <p:nvSpPr>
            <p:cNvPr id="20503" name="Text Box 16"/>
            <p:cNvSpPr txBox="1">
              <a:spLocks noChangeArrowheads="1"/>
            </p:cNvSpPr>
            <p:nvPr/>
          </p:nvSpPr>
          <p:spPr bwMode="auto">
            <a:xfrm>
              <a:off x="4304" y="1344"/>
              <a:ext cx="1200" cy="736"/>
            </a:xfrm>
            <a:prstGeom prst="rect">
              <a:avLst/>
            </a:prstGeom>
            <a:solidFill>
              <a:srgbClr val="CCCCFF"/>
            </a:solidFill>
            <a:ln w="9525">
              <a:miter lim="800000"/>
              <a:headEnd/>
              <a:tailEnd/>
            </a:ln>
            <a:effectLst/>
            <a:scene3d>
              <a:camera prst="legacyPerspectiveTop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CCFF"/>
              </a:extrusionClr>
            </a:sp3d>
          </p:spPr>
          <p:txBody>
            <a:bodyPr>
              <a:spAutoFit/>
              <a:flatTx/>
            </a:bodyPr>
            <a:lstStyle/>
            <a:p>
              <a:r>
                <a:rPr lang="pt-BR" altLang="pt-BR" sz="1000" b="1"/>
                <a:t>Tamanho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Tipo de Escrita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Cor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Constituição</a:t>
              </a:r>
              <a:endParaRPr lang="pt-BR" altLang="pt-BR"/>
            </a:p>
          </p:txBody>
        </p:sp>
        <p:sp>
          <p:nvSpPr>
            <p:cNvPr id="20504" name="Text Box 17"/>
            <p:cNvSpPr txBox="1">
              <a:spLocks noChangeArrowheads="1"/>
            </p:cNvSpPr>
            <p:nvPr/>
          </p:nvSpPr>
          <p:spPr bwMode="auto">
            <a:xfrm>
              <a:off x="4944" y="1350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Grande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5" name="Text Box 18"/>
            <p:cNvSpPr txBox="1">
              <a:spLocks noChangeArrowheads="1"/>
            </p:cNvSpPr>
            <p:nvPr/>
          </p:nvSpPr>
          <p:spPr bwMode="auto">
            <a:xfrm>
              <a:off x="4944" y="1542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Grossa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6" name="Text Box 19"/>
            <p:cNvSpPr txBox="1">
              <a:spLocks noChangeArrowheads="1"/>
            </p:cNvSpPr>
            <p:nvPr/>
          </p:nvSpPr>
          <p:spPr bwMode="auto">
            <a:xfrm>
              <a:off x="4936" y="1718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135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Azul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7" name="Text Box 20"/>
            <p:cNvSpPr txBox="1">
              <a:spLocks noChangeArrowheads="1"/>
            </p:cNvSpPr>
            <p:nvPr/>
          </p:nvSpPr>
          <p:spPr bwMode="auto">
            <a:xfrm>
              <a:off x="4944" y="1910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Ferro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8" name="Text Box 21"/>
            <p:cNvSpPr txBox="1">
              <a:spLocks noChangeArrowheads="1"/>
            </p:cNvSpPr>
            <p:nvPr/>
          </p:nvSpPr>
          <p:spPr bwMode="auto">
            <a:xfrm>
              <a:off x="4512" y="2112"/>
              <a:ext cx="720" cy="192"/>
            </a:xfrm>
            <a:prstGeom prst="rect">
              <a:avLst/>
            </a:prstGeom>
            <a:solidFill>
              <a:srgbClr val="99FFCC"/>
            </a:solidFill>
            <a:ln w="9525">
              <a:miter lim="800000"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>
              <a:spAutoFit/>
              <a:flatTx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400" b="1"/>
                <a:t>Escrever( )</a:t>
              </a:r>
              <a:endParaRPr lang="pt-BR" altLang="pt-BR" sz="1600" b="1"/>
            </a:p>
          </p:txBody>
        </p:sp>
      </p:grpSp>
      <p:grpSp>
        <p:nvGrpSpPr>
          <p:cNvPr id="47141" name="Group 37"/>
          <p:cNvGrpSpPr>
            <a:grpSpLocks/>
          </p:cNvGrpSpPr>
          <p:nvPr/>
        </p:nvGrpSpPr>
        <p:grpSpPr bwMode="auto">
          <a:xfrm>
            <a:off x="3657600" y="4114800"/>
            <a:ext cx="4267200" cy="2209800"/>
            <a:chOff x="2304" y="2592"/>
            <a:chExt cx="2688" cy="1392"/>
          </a:xfrm>
        </p:grpSpPr>
        <p:sp>
          <p:nvSpPr>
            <p:cNvPr id="20493" name="Text Box 22"/>
            <p:cNvSpPr txBox="1">
              <a:spLocks noChangeArrowheads="1"/>
            </p:cNvSpPr>
            <p:nvPr/>
          </p:nvSpPr>
          <p:spPr bwMode="auto">
            <a:xfrm>
              <a:off x="3744" y="3552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800" b="1"/>
                <a:t>Objeto Caneta 3</a:t>
              </a:r>
              <a:endParaRPr lang="pt-BR" altLang="pt-BR"/>
            </a:p>
          </p:txBody>
        </p:sp>
        <p:sp>
          <p:nvSpPr>
            <p:cNvPr id="20494" name="Oval 23"/>
            <p:cNvSpPr>
              <a:spLocks noChangeArrowheads="1"/>
            </p:cNvSpPr>
            <p:nvPr/>
          </p:nvSpPr>
          <p:spPr bwMode="auto">
            <a:xfrm>
              <a:off x="2304" y="2592"/>
              <a:ext cx="1536" cy="1392"/>
            </a:xfrm>
            <a:prstGeom prst="ellipse">
              <a:avLst/>
            </a:prstGeom>
            <a:solidFill>
              <a:srgbClr val="FFFFCC"/>
            </a:soli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endParaRPr lang="pt-BR" altLang="pt-BR"/>
            </a:p>
          </p:txBody>
        </p:sp>
        <p:sp>
          <p:nvSpPr>
            <p:cNvPr id="20495" name="Text Box 24"/>
            <p:cNvSpPr txBox="1">
              <a:spLocks noChangeArrowheads="1"/>
            </p:cNvSpPr>
            <p:nvPr/>
          </p:nvSpPr>
          <p:spPr bwMode="auto">
            <a:xfrm>
              <a:off x="2480" y="2880"/>
              <a:ext cx="1200" cy="736"/>
            </a:xfrm>
            <a:prstGeom prst="rect">
              <a:avLst/>
            </a:prstGeom>
            <a:solidFill>
              <a:srgbClr val="CCCCFF"/>
            </a:solidFill>
            <a:ln w="9525">
              <a:miter lim="800000"/>
              <a:headEnd/>
              <a:tailEnd/>
            </a:ln>
            <a:effectLst/>
            <a:scene3d>
              <a:camera prst="legacyPerspectiveTop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CCFF"/>
              </a:extrusionClr>
            </a:sp3d>
          </p:spPr>
          <p:txBody>
            <a:bodyPr>
              <a:spAutoFit/>
              <a:flatTx/>
            </a:bodyPr>
            <a:lstStyle/>
            <a:p>
              <a:r>
                <a:rPr lang="pt-BR" altLang="pt-BR" sz="1000" b="1"/>
                <a:t>Tamanho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Tipo de Escrita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Cor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Constituição</a:t>
              </a:r>
              <a:endParaRPr lang="pt-BR" altLang="pt-BR"/>
            </a:p>
          </p:txBody>
        </p:sp>
        <p:sp>
          <p:nvSpPr>
            <p:cNvPr id="20496" name="Text Box 25"/>
            <p:cNvSpPr txBox="1">
              <a:spLocks noChangeArrowheads="1"/>
            </p:cNvSpPr>
            <p:nvPr/>
          </p:nvSpPr>
          <p:spPr bwMode="auto">
            <a:xfrm>
              <a:off x="3120" y="2886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Pequena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497" name="Text Box 26"/>
            <p:cNvSpPr txBox="1">
              <a:spLocks noChangeArrowheads="1"/>
            </p:cNvSpPr>
            <p:nvPr/>
          </p:nvSpPr>
          <p:spPr bwMode="auto">
            <a:xfrm>
              <a:off x="3120" y="3078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Fina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498" name="Text Box 27"/>
            <p:cNvSpPr txBox="1">
              <a:spLocks noChangeArrowheads="1"/>
            </p:cNvSpPr>
            <p:nvPr/>
          </p:nvSpPr>
          <p:spPr bwMode="auto">
            <a:xfrm>
              <a:off x="3112" y="3254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135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Vermelha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499" name="Text Box 28"/>
            <p:cNvSpPr txBox="1">
              <a:spLocks noChangeArrowheads="1"/>
            </p:cNvSpPr>
            <p:nvPr/>
          </p:nvSpPr>
          <p:spPr bwMode="auto">
            <a:xfrm>
              <a:off x="3120" y="3446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Madeira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0" name="Text Box 29"/>
            <p:cNvSpPr txBox="1">
              <a:spLocks noChangeArrowheads="1"/>
            </p:cNvSpPr>
            <p:nvPr/>
          </p:nvSpPr>
          <p:spPr bwMode="auto">
            <a:xfrm>
              <a:off x="2688" y="3648"/>
              <a:ext cx="720" cy="192"/>
            </a:xfrm>
            <a:prstGeom prst="rect">
              <a:avLst/>
            </a:prstGeom>
            <a:solidFill>
              <a:srgbClr val="99FFCC"/>
            </a:solidFill>
            <a:ln w="9525">
              <a:miter lim="800000"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>
              <a:spAutoFit/>
              <a:flatTx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400" b="1"/>
                <a:t>Escrever( )</a:t>
              </a:r>
              <a:endParaRPr lang="pt-BR" altLang="pt-BR" sz="1600" b="1"/>
            </a:p>
          </p:txBody>
        </p:sp>
      </p:grpSp>
      <p:sp>
        <p:nvSpPr>
          <p:cNvPr id="47134" name="AutoShape 30"/>
          <p:cNvSpPr>
            <a:spLocks noChangeArrowheads="1"/>
          </p:cNvSpPr>
          <p:nvPr/>
        </p:nvSpPr>
        <p:spPr bwMode="auto">
          <a:xfrm rot="7200000">
            <a:off x="6172200" y="3886200"/>
            <a:ext cx="1371600" cy="1219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075 h 21600"/>
              <a:gd name="T14" fmla="*/ 18322 w 21600"/>
              <a:gd name="T15" fmla="*/ 908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4967" y="0"/>
                </a:lnTo>
                <a:lnTo>
                  <a:pt x="14967" y="3075"/>
                </a:lnTo>
                <a:lnTo>
                  <a:pt x="12427" y="3075"/>
                </a:lnTo>
                <a:cubicBezTo>
                  <a:pt x="5564" y="3075"/>
                  <a:pt x="0" y="7142"/>
                  <a:pt x="0" y="12158"/>
                </a:cubicBezTo>
                <a:lnTo>
                  <a:pt x="0" y="21600"/>
                </a:lnTo>
                <a:lnTo>
                  <a:pt x="6141" y="21600"/>
                </a:lnTo>
                <a:lnTo>
                  <a:pt x="6141" y="12158"/>
                </a:lnTo>
                <a:cubicBezTo>
                  <a:pt x="6141" y="10460"/>
                  <a:pt x="8955" y="9083"/>
                  <a:pt x="12427" y="9083"/>
                </a:cubicBezTo>
                <a:lnTo>
                  <a:pt x="14967" y="9083"/>
                </a:lnTo>
                <a:lnTo>
                  <a:pt x="14967" y="12158"/>
                </a:lnTo>
                <a:lnTo>
                  <a:pt x="21600" y="6079"/>
                </a:lnTo>
                <a:close/>
              </a:path>
            </a:pathLst>
          </a:custGeom>
          <a:gradFill rotWithShape="0">
            <a:gsLst>
              <a:gs pos="0">
                <a:srgbClr val="333300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vert="eaVert" wrap="none" anchor="ctr"/>
          <a:lstStyle/>
          <a:p>
            <a:endParaRPr lang="pt-BR"/>
          </a:p>
        </p:txBody>
      </p:sp>
      <p:grpSp>
        <p:nvGrpSpPr>
          <p:cNvPr id="47135" name="Group 31"/>
          <p:cNvGrpSpPr>
            <a:grpSpLocks/>
          </p:cNvGrpSpPr>
          <p:nvPr/>
        </p:nvGrpSpPr>
        <p:grpSpPr bwMode="auto">
          <a:xfrm>
            <a:off x="3581400" y="1660525"/>
            <a:ext cx="2362200" cy="2246313"/>
            <a:chOff x="2352" y="1152"/>
            <a:chExt cx="1488" cy="1311"/>
          </a:xfrm>
        </p:grpSpPr>
        <p:sp>
          <p:nvSpPr>
            <p:cNvPr id="20490" name="Text Box 32"/>
            <p:cNvSpPr txBox="1">
              <a:spLocks noChangeArrowheads="1"/>
            </p:cNvSpPr>
            <p:nvPr/>
          </p:nvSpPr>
          <p:spPr bwMode="auto">
            <a:xfrm>
              <a:off x="2352" y="1389"/>
              <a:ext cx="1488" cy="85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000"/>
            </a:p>
            <a:p>
              <a:pPr>
                <a:lnSpc>
                  <a:spcPct val="75000"/>
                </a:lnSpc>
                <a:spcBef>
                  <a:spcPct val="15000"/>
                </a:spcBef>
                <a:spcAft>
                  <a:spcPts val="125"/>
                </a:spcAft>
              </a:pPr>
              <a:r>
                <a:rPr lang="pt-BR" altLang="pt-BR" sz="2200"/>
                <a:t>Tamanho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spcAft>
                  <a:spcPts val="125"/>
                </a:spcAft>
              </a:pPr>
              <a:r>
                <a:rPr lang="pt-BR" altLang="pt-BR" sz="2200"/>
                <a:t>Tipo de Escrita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spcAft>
                  <a:spcPts val="125"/>
                </a:spcAft>
              </a:pPr>
              <a:r>
                <a:rPr lang="pt-BR" altLang="pt-BR" sz="2200"/>
                <a:t>Cor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spcAft>
                  <a:spcPts val="125"/>
                </a:spcAft>
              </a:pPr>
              <a:r>
                <a:rPr lang="pt-BR" altLang="pt-BR" sz="2200"/>
                <a:t>Constituição</a:t>
              </a:r>
            </a:p>
          </p:txBody>
        </p:sp>
        <p:sp>
          <p:nvSpPr>
            <p:cNvPr id="20491" name="Text Box 33"/>
            <p:cNvSpPr txBox="1">
              <a:spLocks noChangeArrowheads="1"/>
            </p:cNvSpPr>
            <p:nvPr/>
          </p:nvSpPr>
          <p:spPr bwMode="auto">
            <a:xfrm>
              <a:off x="2352" y="1152"/>
              <a:ext cx="1488" cy="26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sz="2800"/>
                <a:t>Caneta</a:t>
              </a:r>
            </a:p>
          </p:txBody>
        </p:sp>
        <p:sp>
          <p:nvSpPr>
            <p:cNvPr id="20492" name="Text Box 34"/>
            <p:cNvSpPr txBox="1">
              <a:spLocks noChangeArrowheads="1"/>
            </p:cNvSpPr>
            <p:nvPr/>
          </p:nvSpPr>
          <p:spPr bwMode="auto">
            <a:xfrm>
              <a:off x="2352" y="2226"/>
              <a:ext cx="1488" cy="237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/>
                <a:t>Escrever()</a:t>
              </a:r>
            </a:p>
          </p:txBody>
        </p:sp>
      </p:grpSp>
      <p:sp>
        <p:nvSpPr>
          <p:cNvPr id="47139" name="AutoShape 35"/>
          <p:cNvSpPr>
            <a:spLocks noChangeArrowheads="1"/>
          </p:cNvSpPr>
          <p:nvPr/>
        </p:nvSpPr>
        <p:spPr bwMode="auto">
          <a:xfrm rot="-6900000">
            <a:off x="2133600" y="3352800"/>
            <a:ext cx="1371600" cy="1219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075 h 21600"/>
              <a:gd name="T14" fmla="*/ 18322 w 21600"/>
              <a:gd name="T15" fmla="*/ 908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4967" y="0"/>
                </a:lnTo>
                <a:lnTo>
                  <a:pt x="14967" y="3075"/>
                </a:lnTo>
                <a:lnTo>
                  <a:pt x="12427" y="3075"/>
                </a:lnTo>
                <a:cubicBezTo>
                  <a:pt x="5564" y="3075"/>
                  <a:pt x="0" y="7142"/>
                  <a:pt x="0" y="12158"/>
                </a:cubicBezTo>
                <a:lnTo>
                  <a:pt x="0" y="21600"/>
                </a:lnTo>
                <a:lnTo>
                  <a:pt x="6141" y="21600"/>
                </a:lnTo>
                <a:lnTo>
                  <a:pt x="6141" y="12158"/>
                </a:lnTo>
                <a:cubicBezTo>
                  <a:pt x="6141" y="10460"/>
                  <a:pt x="8955" y="9083"/>
                  <a:pt x="12427" y="9083"/>
                </a:cubicBezTo>
                <a:lnTo>
                  <a:pt x="14967" y="9083"/>
                </a:lnTo>
                <a:lnTo>
                  <a:pt x="14967" y="12158"/>
                </a:lnTo>
                <a:lnTo>
                  <a:pt x="21600" y="6079"/>
                </a:lnTo>
                <a:close/>
              </a:path>
            </a:pathLst>
          </a:custGeom>
          <a:gradFill rotWithShape="0">
            <a:gsLst>
              <a:gs pos="0">
                <a:srgbClr val="333300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pt-BR"/>
          </a:p>
        </p:txBody>
      </p:sp>
      <p:sp>
        <p:nvSpPr>
          <p:cNvPr id="47140" name="AutoShape 36"/>
          <p:cNvSpPr>
            <a:spLocks noChangeArrowheads="1"/>
          </p:cNvSpPr>
          <p:nvPr/>
        </p:nvSpPr>
        <p:spPr bwMode="auto">
          <a:xfrm rot="1800000">
            <a:off x="4419600" y="533400"/>
            <a:ext cx="1371600" cy="1219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075 h 21600"/>
              <a:gd name="T14" fmla="*/ 18322 w 21600"/>
              <a:gd name="T15" fmla="*/ 908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4967" y="0"/>
                </a:lnTo>
                <a:lnTo>
                  <a:pt x="14967" y="3075"/>
                </a:lnTo>
                <a:lnTo>
                  <a:pt x="12427" y="3075"/>
                </a:lnTo>
                <a:cubicBezTo>
                  <a:pt x="5564" y="3075"/>
                  <a:pt x="0" y="7142"/>
                  <a:pt x="0" y="12158"/>
                </a:cubicBezTo>
                <a:lnTo>
                  <a:pt x="0" y="21600"/>
                </a:lnTo>
                <a:lnTo>
                  <a:pt x="6141" y="21600"/>
                </a:lnTo>
                <a:lnTo>
                  <a:pt x="6141" y="12158"/>
                </a:lnTo>
                <a:cubicBezTo>
                  <a:pt x="6141" y="10460"/>
                  <a:pt x="8955" y="9083"/>
                  <a:pt x="12427" y="9083"/>
                </a:cubicBezTo>
                <a:lnTo>
                  <a:pt x="14967" y="9083"/>
                </a:lnTo>
                <a:lnTo>
                  <a:pt x="14967" y="12158"/>
                </a:lnTo>
                <a:lnTo>
                  <a:pt x="21600" y="6079"/>
                </a:lnTo>
                <a:close/>
              </a:path>
            </a:pathLst>
          </a:custGeom>
          <a:gradFill rotWithShape="0">
            <a:gsLst>
              <a:gs pos="0">
                <a:srgbClr val="333300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7142" name="Text Box 38"/>
          <p:cNvSpPr txBox="1">
            <a:spLocks noChangeArrowheads="1"/>
          </p:cNvSpPr>
          <p:nvPr/>
        </p:nvSpPr>
        <p:spPr bwMode="auto">
          <a:xfrm>
            <a:off x="1447800" y="1660525"/>
            <a:ext cx="6629400" cy="2554288"/>
          </a:xfrm>
          <a:prstGeom prst="rect">
            <a:avLst/>
          </a:prstGeom>
          <a:solidFill>
            <a:srgbClr val="FFFF00"/>
          </a:solidFill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pt-BR" altLang="pt-BR" b="1"/>
              <a:t>Cada objeto caneta tem os mesmos atributos (</a:t>
            </a:r>
            <a:r>
              <a:rPr lang="pt-BR" altLang="pt-BR" sz="2800" b="1">
                <a:solidFill>
                  <a:srgbClr val="FF0000"/>
                </a:solidFill>
              </a:rPr>
              <a:t>Tamanho</a:t>
            </a:r>
            <a:r>
              <a:rPr lang="pt-BR" altLang="pt-BR" b="1"/>
              <a:t>, </a:t>
            </a:r>
            <a:r>
              <a:rPr lang="pt-BR" altLang="pt-BR" sz="2800" b="1">
                <a:solidFill>
                  <a:srgbClr val="FF0000"/>
                </a:solidFill>
              </a:rPr>
              <a:t>Tipo de Escrita</a:t>
            </a:r>
            <a:r>
              <a:rPr lang="pt-BR" altLang="pt-BR" b="1"/>
              <a:t>, </a:t>
            </a:r>
            <a:r>
              <a:rPr lang="pt-BR" altLang="pt-BR" sz="2800" b="1">
                <a:solidFill>
                  <a:srgbClr val="FF0000"/>
                </a:solidFill>
              </a:rPr>
              <a:t>Cor</a:t>
            </a:r>
            <a:r>
              <a:rPr lang="pt-BR" altLang="pt-BR" b="1"/>
              <a:t>, </a:t>
            </a:r>
            <a:r>
              <a:rPr lang="pt-BR" altLang="pt-BR" sz="2800" b="1">
                <a:solidFill>
                  <a:srgbClr val="FF0000"/>
                </a:solidFill>
              </a:rPr>
              <a:t>Constituição</a:t>
            </a:r>
            <a:r>
              <a:rPr lang="pt-BR" altLang="pt-BR" b="1"/>
              <a:t>), mas os valores para estes atributos podem ser diferentes. Entretanto, ambos os objetos executam o mesmo método </a:t>
            </a:r>
            <a:r>
              <a:rPr lang="pt-BR" altLang="pt-BR" sz="2800" b="1">
                <a:solidFill>
                  <a:srgbClr val="FF0000"/>
                </a:solidFill>
              </a:rPr>
              <a:t>Escrever( )</a:t>
            </a:r>
            <a:r>
              <a:rPr lang="pt-BR" altLang="pt-BR" sz="2800" b="1"/>
              <a:t>.</a:t>
            </a:r>
            <a:endParaRPr lang="pt-BR" alt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4" grpId="0" animBg="1" autoUpdateAnimBg="0"/>
      <p:bldP spid="47139" grpId="0" animBg="1" autoUpdateAnimBg="0"/>
      <p:bldP spid="47140" grpId="0" animBg="1" autoUpdateAnimBg="0"/>
      <p:bldP spid="4714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076325" y="601663"/>
            <a:ext cx="63023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de uma classe através da UML</a:t>
            </a:r>
            <a:endParaRPr lang="pt-BR" altLang="pt-BR" b="1"/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8152" name="Text Box 24"/>
          <p:cNvSpPr txBox="1">
            <a:spLocks noChangeArrowheads="1"/>
          </p:cNvSpPr>
          <p:nvPr/>
        </p:nvSpPr>
        <p:spPr bwMode="auto">
          <a:xfrm>
            <a:off x="5476875" y="1222375"/>
            <a:ext cx="2143125" cy="1169988"/>
          </a:xfrm>
          <a:prstGeom prst="rect">
            <a:avLst/>
          </a:prstGeom>
          <a:gradFill rotWithShape="0">
            <a:gsLst>
              <a:gs pos="0">
                <a:srgbClr val="767647"/>
              </a:gs>
              <a:gs pos="100000">
                <a:srgbClr val="FFFF99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>
            <a:spAutoFit/>
            <a:flatTx/>
          </a:bodyPr>
          <a:lstStyle/>
          <a:p>
            <a:r>
              <a:rPr lang="pt-BR" altLang="pt-BR" sz="2000" b="1" i="1" u="sng"/>
              <a:t>Características</a:t>
            </a:r>
            <a:endParaRPr lang="pt-BR" altLang="pt-BR" sz="1800" b="1" i="1" u="sng"/>
          </a:p>
          <a:p>
            <a:r>
              <a:rPr lang="pt-BR" altLang="pt-BR" sz="1800" b="1" i="1"/>
              <a:t>   </a:t>
            </a:r>
            <a:r>
              <a:rPr lang="pt-BR" altLang="pt-BR" sz="1600" b="1" i="1"/>
              <a:t>Altura</a:t>
            </a:r>
          </a:p>
          <a:p>
            <a:r>
              <a:rPr lang="pt-BR" altLang="pt-BR" sz="1600" b="1" i="1"/>
              <a:t>   Base</a:t>
            </a:r>
          </a:p>
          <a:p>
            <a:r>
              <a:rPr lang="pt-BR" altLang="pt-BR" sz="1600" b="1" i="1"/>
              <a:t>   </a:t>
            </a:r>
            <a:endParaRPr lang="pt-BR" altLang="pt-BR" i="1"/>
          </a:p>
        </p:txBody>
      </p:sp>
      <p:sp>
        <p:nvSpPr>
          <p:cNvPr id="48153" name="Text Box 25"/>
          <p:cNvSpPr txBox="1">
            <a:spLocks noChangeArrowheads="1"/>
          </p:cNvSpPr>
          <p:nvPr/>
        </p:nvSpPr>
        <p:spPr bwMode="auto">
          <a:xfrm>
            <a:off x="5619750" y="4111625"/>
            <a:ext cx="2000250" cy="1404938"/>
          </a:xfrm>
          <a:prstGeom prst="rect">
            <a:avLst/>
          </a:prstGeom>
          <a:gradFill rotWithShape="0">
            <a:gsLst>
              <a:gs pos="0">
                <a:srgbClr val="2F762F"/>
              </a:gs>
              <a:gs pos="100000">
                <a:srgbClr val="66FF66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>
            <a:spAutoFit/>
            <a:flatTx/>
          </a:bodyPr>
          <a:lstStyle/>
          <a:p>
            <a:r>
              <a:rPr lang="pt-BR" altLang="pt-BR" sz="2000" b="1" i="1" u="sng"/>
              <a:t>Operações</a:t>
            </a:r>
            <a:endParaRPr lang="pt-BR" altLang="pt-BR" sz="1800" b="1" i="1" u="sng"/>
          </a:p>
          <a:p>
            <a:r>
              <a:rPr lang="pt-BR" altLang="pt-BR" sz="1800" b="1" i="1"/>
              <a:t>   </a:t>
            </a:r>
            <a:r>
              <a:rPr lang="pt-BR" altLang="pt-BR" sz="1600" b="1" i="1"/>
              <a:t>Apontar Altura</a:t>
            </a:r>
          </a:p>
          <a:p>
            <a:r>
              <a:rPr lang="pt-BR" altLang="pt-BR" sz="1600" b="1" i="1"/>
              <a:t>   Apontar Base</a:t>
            </a:r>
          </a:p>
          <a:p>
            <a:r>
              <a:rPr lang="pt-BR" altLang="pt-BR" sz="1600" b="1" i="1"/>
              <a:t>   Calcular Área</a:t>
            </a:r>
          </a:p>
          <a:p>
            <a:r>
              <a:rPr lang="pt-BR" altLang="pt-BR" sz="1600" b="1" i="1"/>
              <a:t>   Calcular Perímetro</a:t>
            </a:r>
          </a:p>
        </p:txBody>
      </p:sp>
      <p:sp>
        <p:nvSpPr>
          <p:cNvPr id="11" name="Retângulo 10"/>
          <p:cNvSpPr/>
          <p:nvPr/>
        </p:nvSpPr>
        <p:spPr bwMode="auto">
          <a:xfrm>
            <a:off x="1317625" y="2565400"/>
            <a:ext cx="2428875" cy="1506538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pt-BR">
              <a:ln>
                <a:solidFill>
                  <a:schemeClr val="accent4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536" name="CaixaDeTexto 11"/>
          <p:cNvSpPr txBox="1">
            <a:spLocks noChangeArrowheads="1"/>
          </p:cNvSpPr>
          <p:nvPr/>
        </p:nvSpPr>
        <p:spPr bwMode="auto">
          <a:xfrm>
            <a:off x="1173163" y="4233863"/>
            <a:ext cx="25733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altLang="pt-BR" sz="2000" b="1" i="1"/>
              <a:t>Figura Geométrica Retângulo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52" grpId="0" animBg="1" autoUpdateAnimBg="0"/>
      <p:bldP spid="4815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692275" y="37623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Casos de Uso </a:t>
            </a:r>
            <a:endParaRPr lang="pt-BR" altLang="pt-BR" b="1"/>
          </a:p>
        </p:txBody>
      </p:sp>
      <p:pic>
        <p:nvPicPr>
          <p:cNvPr id="23555" name="Imagem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273175"/>
            <a:ext cx="8115300" cy="445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692275" y="37623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Casos de Uso </a:t>
            </a:r>
            <a:endParaRPr lang="pt-BR" altLang="pt-BR" b="1"/>
          </a:p>
        </p:txBody>
      </p:sp>
      <p:pic>
        <p:nvPicPr>
          <p:cNvPr id="24579" name="Imagem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7275" y="1011238"/>
            <a:ext cx="8086725" cy="328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692275" y="37623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Casos de Uso </a:t>
            </a:r>
            <a:endParaRPr lang="pt-BR" altLang="pt-BR" b="1"/>
          </a:p>
        </p:txBody>
      </p:sp>
      <p:pic>
        <p:nvPicPr>
          <p:cNvPr id="25603" name="Imagem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2025" y="1412875"/>
            <a:ext cx="8156575" cy="270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1692275" y="37623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Casos de Uso </a:t>
            </a:r>
            <a:endParaRPr lang="pt-BR" altLang="pt-BR" b="1"/>
          </a:p>
        </p:txBody>
      </p:sp>
      <p:pic>
        <p:nvPicPr>
          <p:cNvPr id="26627" name="Imagem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5363" y="1052513"/>
            <a:ext cx="8143875" cy="307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7651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2500313" y="1928813"/>
            <a:ext cx="2714625" cy="2636837"/>
            <a:chOff x="1710" y="1215"/>
            <a:chExt cx="1506" cy="1661"/>
          </a:xfrm>
        </p:grpSpPr>
        <p:grpSp>
          <p:nvGrpSpPr>
            <p:cNvPr id="27686" name="Group 30"/>
            <p:cNvGrpSpPr>
              <a:grpSpLocks/>
            </p:cNvGrpSpPr>
            <p:nvPr/>
          </p:nvGrpSpPr>
          <p:grpSpPr bwMode="auto">
            <a:xfrm>
              <a:off x="1728" y="1215"/>
              <a:ext cx="1488" cy="1200"/>
              <a:chOff x="2160" y="1407"/>
              <a:chExt cx="1488" cy="1200"/>
            </a:xfrm>
          </p:grpSpPr>
          <p:sp>
            <p:nvSpPr>
              <p:cNvPr id="27688" name="Text Box 9"/>
              <p:cNvSpPr txBox="1">
                <a:spLocks noChangeArrowheads="1"/>
              </p:cNvSpPr>
              <p:nvPr/>
            </p:nvSpPr>
            <p:spPr bwMode="auto">
              <a:xfrm>
                <a:off x="2160" y="1600"/>
                <a:ext cx="1488" cy="347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- altura : </a:t>
                </a:r>
                <a:r>
                  <a:rPr lang="pt-BR" altLang="pt-BR" sz="1800" dirty="0" err="1"/>
                  <a:t>double</a:t>
                </a:r>
                <a:endParaRPr lang="pt-BR" altLang="pt-BR" sz="1800" dirty="0"/>
              </a:p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- base   : </a:t>
                </a:r>
                <a:r>
                  <a:rPr lang="pt-BR" altLang="pt-BR" sz="1800" dirty="0" err="1"/>
                  <a:t>double</a:t>
                </a:r>
                <a:endParaRPr lang="pt-BR" altLang="pt-BR" sz="1800" dirty="0"/>
              </a:p>
            </p:txBody>
          </p:sp>
          <p:sp>
            <p:nvSpPr>
              <p:cNvPr id="27689" name="Text Box 10"/>
              <p:cNvSpPr txBox="1">
                <a:spLocks noChangeArrowheads="1"/>
              </p:cNvSpPr>
              <p:nvPr/>
            </p:nvSpPr>
            <p:spPr bwMode="auto">
              <a:xfrm>
                <a:off x="2160" y="1407"/>
                <a:ext cx="1488" cy="19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/>
                  <a:t>Retangulo</a:t>
                </a:r>
              </a:p>
            </p:txBody>
          </p:sp>
          <p:sp>
            <p:nvSpPr>
              <p:cNvPr id="27690" name="Text Box 11"/>
              <p:cNvSpPr txBox="1">
                <a:spLocks noChangeArrowheads="1"/>
              </p:cNvSpPr>
              <p:nvPr/>
            </p:nvSpPr>
            <p:spPr bwMode="auto">
              <a:xfrm>
                <a:off x="2160" y="1947"/>
                <a:ext cx="1488" cy="660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+ </a:t>
                </a:r>
                <a:r>
                  <a:rPr lang="pt-BR" altLang="pt-BR" sz="1800" dirty="0" err="1"/>
                  <a:t>setAltura</a:t>
                </a:r>
                <a:r>
                  <a:rPr lang="pt-BR" altLang="pt-BR" sz="1800" dirty="0"/>
                  <a:t>(</a:t>
                </a:r>
                <a:r>
                  <a:rPr lang="pt-BR" altLang="pt-BR" sz="1800" dirty="0" err="1"/>
                  <a:t>double</a:t>
                </a:r>
                <a:r>
                  <a:rPr lang="pt-BR" altLang="pt-BR" sz="1800" dirty="0"/>
                  <a:t>) : </a:t>
                </a:r>
                <a:r>
                  <a:rPr lang="pt-BR" altLang="pt-BR" sz="1800" dirty="0" err="1"/>
                  <a:t>void</a:t>
                </a:r>
                <a:endParaRPr lang="pt-BR" altLang="pt-BR" sz="1800" dirty="0"/>
              </a:p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+ </a:t>
                </a:r>
                <a:r>
                  <a:rPr lang="pt-BR" altLang="pt-BR" sz="1800" dirty="0" err="1"/>
                  <a:t>setBase</a:t>
                </a:r>
                <a:r>
                  <a:rPr lang="pt-BR" altLang="pt-BR" sz="1800" dirty="0"/>
                  <a:t>(</a:t>
                </a:r>
                <a:r>
                  <a:rPr lang="pt-BR" altLang="pt-BR" sz="1800" dirty="0" err="1"/>
                  <a:t>double</a:t>
                </a:r>
                <a:r>
                  <a:rPr lang="pt-BR" altLang="pt-BR" sz="1800" dirty="0"/>
                  <a:t>) : </a:t>
                </a:r>
                <a:r>
                  <a:rPr lang="pt-BR" altLang="pt-BR" sz="1800" dirty="0" err="1"/>
                  <a:t>void</a:t>
                </a:r>
                <a:endParaRPr lang="pt-BR" altLang="pt-BR" sz="1800" dirty="0"/>
              </a:p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+ </a:t>
                </a:r>
                <a:r>
                  <a:rPr lang="pt-BR" altLang="pt-BR" sz="1800" dirty="0" err="1"/>
                  <a:t>calcArea</a:t>
                </a:r>
                <a:r>
                  <a:rPr lang="pt-BR" altLang="pt-BR" sz="1800" dirty="0"/>
                  <a:t>( ) : </a:t>
                </a:r>
                <a:r>
                  <a:rPr lang="pt-BR" altLang="pt-BR" sz="1800" dirty="0" err="1"/>
                  <a:t>double</a:t>
                </a:r>
                <a:endParaRPr lang="pt-BR" altLang="pt-BR" sz="1800" dirty="0"/>
              </a:p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+ </a:t>
                </a:r>
                <a:r>
                  <a:rPr lang="pt-BR" altLang="pt-BR" sz="1800" dirty="0" err="1"/>
                  <a:t>calcPerimetro</a:t>
                </a:r>
                <a:r>
                  <a:rPr lang="pt-BR" altLang="pt-BR" sz="1800" dirty="0"/>
                  <a:t>( ) : </a:t>
                </a:r>
                <a:r>
                  <a:rPr lang="pt-BR" altLang="pt-BR" sz="1800" dirty="0" err="1"/>
                  <a:t>double</a:t>
                </a:r>
                <a:endParaRPr lang="pt-BR" altLang="pt-BR" dirty="0"/>
              </a:p>
            </p:txBody>
          </p:sp>
        </p:grpSp>
        <p:sp>
          <p:nvSpPr>
            <p:cNvPr id="27687" name="Text Box 29"/>
            <p:cNvSpPr txBox="1">
              <a:spLocks noChangeArrowheads="1"/>
            </p:cNvSpPr>
            <p:nvPr/>
          </p:nvSpPr>
          <p:spPr bwMode="auto">
            <a:xfrm>
              <a:off x="1710" y="2430"/>
              <a:ext cx="1488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2000" i="1"/>
                <a:t>Modelagem Classe Retângulo</a:t>
              </a:r>
              <a:endParaRPr lang="pt-BR" altLang="pt-BR" i="1"/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257800" y="1998663"/>
            <a:ext cx="1828800" cy="1011237"/>
            <a:chOff x="3504" y="899"/>
            <a:chExt cx="1152" cy="637"/>
          </a:xfrm>
        </p:grpSpPr>
        <p:sp>
          <p:nvSpPr>
            <p:cNvPr id="27684" name="AutoShape 33"/>
            <p:cNvSpPr>
              <a:spLocks noChangeArrowheads="1"/>
            </p:cNvSpPr>
            <p:nvPr/>
          </p:nvSpPr>
          <p:spPr bwMode="auto">
            <a:xfrm rot="5400000">
              <a:off x="3696" y="1008"/>
              <a:ext cx="384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31 w 21600"/>
                <a:gd name="T13" fmla="*/ 2925 h 21600"/>
                <a:gd name="T14" fmla="*/ 18225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33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685" name="Text Box 38"/>
            <p:cNvSpPr txBox="1">
              <a:spLocks noChangeArrowheads="1"/>
            </p:cNvSpPr>
            <p:nvPr/>
          </p:nvSpPr>
          <p:spPr bwMode="auto">
            <a:xfrm>
              <a:off x="3504" y="899"/>
              <a:ext cx="115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2000" i="1">
                  <a:solidFill>
                    <a:schemeClr val="accent2"/>
                  </a:solidFill>
                </a:rPr>
                <a:t>Instanciação</a:t>
              </a:r>
              <a:endParaRPr lang="pt-BR" altLang="pt-BR" sz="2000" i="1"/>
            </a:p>
          </p:txBody>
        </p:sp>
      </p:grpSp>
      <p:cxnSp>
        <p:nvCxnSpPr>
          <p:cNvPr id="49193" name="AutoShape 41"/>
          <p:cNvCxnSpPr>
            <a:cxnSpLocks noChangeShapeType="1"/>
          </p:cNvCxnSpPr>
          <p:nvPr/>
        </p:nvCxnSpPr>
        <p:spPr bwMode="auto">
          <a:xfrm flipV="1">
            <a:off x="2652713" y="4929188"/>
            <a:ext cx="3143250" cy="55562"/>
          </a:xfrm>
          <a:prstGeom prst="curvedConnector3">
            <a:avLst>
              <a:gd name="adj1" fmla="val 50000"/>
            </a:avLst>
          </a:prstGeom>
          <a:noFill/>
          <a:ln w="38100" cap="rnd">
            <a:solidFill>
              <a:srgbClr val="990000"/>
            </a:solidFill>
            <a:prstDash val="sysDot"/>
            <a:round/>
            <a:headEnd type="triangle" w="med" len="med"/>
            <a:tailEnd type="triangle" w="med" len="med"/>
          </a:ln>
        </p:spPr>
      </p:cxnSp>
      <p:sp>
        <p:nvSpPr>
          <p:cNvPr id="37" name="Retângulo 36"/>
          <p:cNvSpPr/>
          <p:nvPr/>
        </p:nvSpPr>
        <p:spPr bwMode="auto">
          <a:xfrm>
            <a:off x="1127125" y="4071938"/>
            <a:ext cx="1428750" cy="1143000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pt-BR">
              <a:ln>
                <a:solidFill>
                  <a:schemeClr val="accent4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2" name="Texto Explicativo 2 31"/>
          <p:cNvSpPr>
            <a:spLocks/>
          </p:cNvSpPr>
          <p:nvPr/>
        </p:nvSpPr>
        <p:spPr bwMode="auto">
          <a:xfrm>
            <a:off x="1939925" y="5592763"/>
            <a:ext cx="3363913" cy="687387"/>
          </a:xfrm>
          <a:prstGeom prst="borderCallout2">
            <a:avLst>
              <a:gd name="adj1" fmla="val 22551"/>
              <a:gd name="adj2" fmla="val -7556"/>
              <a:gd name="adj3" fmla="val 20162"/>
              <a:gd name="adj4" fmla="val -17657"/>
              <a:gd name="adj5" fmla="val -36616"/>
              <a:gd name="adj6" fmla="val -2151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pt-BR" altLang="pt-BR" sz="1800" b="1"/>
              <a:t>Representação Cenário Real</a:t>
            </a:r>
          </a:p>
          <a:p>
            <a:pPr algn="ctr"/>
            <a:r>
              <a:rPr lang="pt-BR" altLang="pt-BR" sz="1800" b="1"/>
              <a:t>Figura Geométrica Retângulo</a:t>
            </a:r>
          </a:p>
        </p:txBody>
      </p:sp>
      <p:sp>
        <p:nvSpPr>
          <p:cNvPr id="4" name="Texto Explicativo 2 3"/>
          <p:cNvSpPr>
            <a:spLocks/>
          </p:cNvSpPr>
          <p:nvPr/>
        </p:nvSpPr>
        <p:spPr bwMode="auto">
          <a:xfrm>
            <a:off x="4589463" y="850900"/>
            <a:ext cx="3182937" cy="695325"/>
          </a:xfrm>
          <a:prstGeom prst="borderCallout2">
            <a:avLst>
              <a:gd name="adj1" fmla="val 44579"/>
              <a:gd name="adj2" fmla="val 103014"/>
              <a:gd name="adj3" fmla="val 96903"/>
              <a:gd name="adj4" fmla="val 123500"/>
              <a:gd name="adj5" fmla="val 333500"/>
              <a:gd name="adj6" fmla="val 11322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pt-BR" altLang="pt-BR" sz="1800" b="1"/>
              <a:t>Representação Computacional</a:t>
            </a:r>
          </a:p>
          <a:p>
            <a:pPr algn="just"/>
            <a:r>
              <a:rPr lang="pt-BR" altLang="pt-BR" sz="1800" b="1"/>
              <a:t>Figura Geométrica Retângulo</a:t>
            </a:r>
          </a:p>
        </p:txBody>
      </p:sp>
      <p:sp>
        <p:nvSpPr>
          <p:cNvPr id="27658" name="CaixaDeTexto 5"/>
          <p:cNvSpPr txBox="1">
            <a:spLocks noChangeArrowheads="1"/>
          </p:cNvSpPr>
          <p:nvPr/>
        </p:nvSpPr>
        <p:spPr bwMode="auto">
          <a:xfrm>
            <a:off x="1711325" y="5178425"/>
            <a:ext cx="44608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pt-BR" sz="1200" b="1"/>
              <a:t>8.0</a:t>
            </a:r>
          </a:p>
        </p:txBody>
      </p:sp>
      <p:sp>
        <p:nvSpPr>
          <p:cNvPr id="27659" name="CaixaDeTexto 34"/>
          <p:cNvSpPr txBox="1">
            <a:spLocks noChangeArrowheads="1"/>
          </p:cNvSpPr>
          <p:nvPr/>
        </p:nvSpPr>
        <p:spPr bwMode="auto">
          <a:xfrm>
            <a:off x="796925" y="4437063"/>
            <a:ext cx="446088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pt-BR" sz="1200" b="1"/>
              <a:t>5.0</a:t>
            </a:r>
          </a:p>
        </p:txBody>
      </p: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868363" y="2601913"/>
            <a:ext cx="1573212" cy="1341437"/>
            <a:chOff x="867961" y="2602052"/>
            <a:chExt cx="1573767" cy="1341514"/>
          </a:xfrm>
        </p:grpSpPr>
        <p:sp>
          <p:nvSpPr>
            <p:cNvPr id="27682" name="AutoShape 31"/>
            <p:cNvSpPr>
              <a:spLocks noChangeArrowheads="1"/>
            </p:cNvSpPr>
            <p:nvPr/>
          </p:nvSpPr>
          <p:spPr bwMode="auto">
            <a:xfrm>
              <a:off x="1603528" y="3181566"/>
              <a:ext cx="838200" cy="76200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33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683" name="CaixaDeTexto 7"/>
            <p:cNvSpPr txBox="1">
              <a:spLocks noChangeArrowheads="1"/>
            </p:cNvSpPr>
            <p:nvPr/>
          </p:nvSpPr>
          <p:spPr bwMode="auto">
            <a:xfrm>
              <a:off x="867961" y="2602052"/>
              <a:ext cx="1394934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altLang="pt-BR" sz="2000" i="1">
                  <a:solidFill>
                    <a:schemeClr val="accent2"/>
                  </a:solidFill>
                </a:rPr>
                <a:t>Modelagem</a:t>
              </a:r>
            </a:p>
            <a:p>
              <a:r>
                <a:rPr lang="pt-BR" altLang="pt-BR" sz="2000" i="1">
                  <a:solidFill>
                    <a:schemeClr val="accent2"/>
                  </a:solidFill>
                </a:rPr>
                <a:t>(abstração)</a:t>
              </a:r>
            </a:p>
          </p:txBody>
        </p:sp>
      </p:grpSp>
      <p:grpSp>
        <p:nvGrpSpPr>
          <p:cNvPr id="11" name="Agrupar 10"/>
          <p:cNvGrpSpPr>
            <a:grpSpLocks/>
          </p:cNvGrpSpPr>
          <p:nvPr/>
        </p:nvGrpSpPr>
        <p:grpSpPr bwMode="auto">
          <a:xfrm>
            <a:off x="5791200" y="3181350"/>
            <a:ext cx="2743200" cy="3070225"/>
            <a:chOff x="5791200" y="3181350"/>
            <a:chExt cx="2743200" cy="3070225"/>
          </a:xfrm>
        </p:grpSpPr>
        <p:grpSp>
          <p:nvGrpSpPr>
            <p:cNvPr id="27663" name="Group 36"/>
            <p:cNvGrpSpPr>
              <a:grpSpLocks/>
            </p:cNvGrpSpPr>
            <p:nvPr/>
          </p:nvGrpSpPr>
          <p:grpSpPr bwMode="auto">
            <a:xfrm>
              <a:off x="5791200" y="3181350"/>
              <a:ext cx="2743200" cy="3070225"/>
              <a:chOff x="3648" y="1668"/>
              <a:chExt cx="1728" cy="1934"/>
            </a:xfrm>
          </p:grpSpPr>
          <p:sp>
            <p:nvSpPr>
              <p:cNvPr id="27668" name="Text Box 14"/>
              <p:cNvSpPr txBox="1">
                <a:spLocks noChangeArrowheads="1"/>
              </p:cNvSpPr>
              <p:nvPr/>
            </p:nvSpPr>
            <p:spPr bwMode="auto">
              <a:xfrm>
                <a:off x="3888" y="3350"/>
                <a:ext cx="148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pt-BR" altLang="pt-BR" sz="2000" i="1"/>
                  <a:t>Objeto Retangulo</a:t>
                </a:r>
                <a:endParaRPr lang="pt-BR" altLang="pt-BR" i="1"/>
              </a:p>
            </p:txBody>
          </p:sp>
          <p:grpSp>
            <p:nvGrpSpPr>
              <p:cNvPr id="27669" name="Group 28"/>
              <p:cNvGrpSpPr>
                <a:grpSpLocks/>
              </p:cNvGrpSpPr>
              <p:nvPr/>
            </p:nvGrpSpPr>
            <p:grpSpPr bwMode="auto">
              <a:xfrm>
                <a:off x="3648" y="1668"/>
                <a:ext cx="1728" cy="1728"/>
                <a:chOff x="3792" y="1440"/>
                <a:chExt cx="1728" cy="1728"/>
              </a:xfrm>
            </p:grpSpPr>
            <p:sp>
              <p:nvSpPr>
                <p:cNvPr id="27670" name="Rectangle 18"/>
                <p:cNvSpPr>
                  <a:spLocks noChangeArrowheads="1"/>
                </p:cNvSpPr>
                <p:nvPr/>
              </p:nvSpPr>
              <p:spPr bwMode="auto">
                <a:xfrm>
                  <a:off x="3792" y="1440"/>
                  <a:ext cx="1728" cy="1728"/>
                </a:xfrm>
                <a:prstGeom prst="rect">
                  <a:avLst/>
                </a:prstGeom>
                <a:gradFill rotWithShape="0">
                  <a:gsLst>
                    <a:gs pos="0">
                      <a:srgbClr val="66FF66"/>
                    </a:gs>
                    <a:gs pos="50000">
                      <a:srgbClr val="2F762F"/>
                    </a:gs>
                    <a:gs pos="100000">
                      <a:srgbClr val="66FF66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 altLang="pt-BR" i="1"/>
                </a:p>
              </p:txBody>
            </p:sp>
            <p:grpSp>
              <p:nvGrpSpPr>
                <p:cNvPr id="27671" name="Group 19"/>
                <p:cNvGrpSpPr>
                  <a:grpSpLocks/>
                </p:cNvGrpSpPr>
                <p:nvPr/>
              </p:nvGrpSpPr>
              <p:grpSpPr bwMode="auto">
                <a:xfrm>
                  <a:off x="4032" y="1824"/>
                  <a:ext cx="1200" cy="1008"/>
                  <a:chOff x="4032" y="1824"/>
                  <a:chExt cx="1200" cy="1008"/>
                </a:xfrm>
              </p:grpSpPr>
              <p:sp>
                <p:nvSpPr>
                  <p:cNvPr id="27680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824"/>
                    <a:ext cx="1200" cy="1008"/>
                  </a:xfrm>
                  <a:prstGeom prst="ellipse">
                    <a:avLst/>
                  </a:prstGeom>
                  <a:solidFill>
                    <a:srgbClr val="CCFFCC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pt-BR" altLang="pt-BR" i="1"/>
                  </a:p>
                </p:txBody>
              </p:sp>
              <p:sp>
                <p:nvSpPr>
                  <p:cNvPr id="27681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80" y="2089"/>
                    <a:ext cx="456" cy="669"/>
                  </a:xfrm>
                  <a:prstGeom prst="rect">
                    <a:avLst/>
                  </a:prstGeom>
                  <a:solidFill>
                    <a:srgbClr val="CCFFCC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pt-BR" altLang="pt-BR" dirty="0">
                        <a:solidFill>
                          <a:srgbClr val="FF0000"/>
                        </a:solidFill>
                      </a:rPr>
                      <a:t>5.0</a:t>
                    </a:r>
                  </a:p>
                  <a:p>
                    <a:pPr algn="ctr"/>
                    <a:endParaRPr lang="pt-BR" altLang="pt-BR" sz="500" dirty="0"/>
                  </a:p>
                  <a:p>
                    <a:pPr algn="ctr"/>
                    <a:endParaRPr lang="pt-BR" altLang="pt-BR" sz="500" dirty="0"/>
                  </a:p>
                  <a:p>
                    <a:pPr algn="ctr"/>
                    <a:endParaRPr lang="pt-BR" altLang="pt-BR" sz="500" dirty="0"/>
                  </a:p>
                  <a:p>
                    <a:pPr algn="ctr"/>
                    <a:r>
                      <a:rPr lang="pt-BR" altLang="pt-BR" dirty="0">
                        <a:solidFill>
                          <a:srgbClr val="FF0000"/>
                        </a:solidFill>
                      </a:rPr>
                      <a:t>8.0</a:t>
                    </a:r>
                  </a:p>
                </p:txBody>
              </p:sp>
            </p:grpSp>
            <p:sp>
              <p:nvSpPr>
                <p:cNvPr id="27672" name="Line 20"/>
                <p:cNvSpPr>
                  <a:spLocks noChangeShapeType="1"/>
                </p:cNvSpPr>
                <p:nvPr/>
              </p:nvSpPr>
              <p:spPr bwMode="auto">
                <a:xfrm>
                  <a:off x="3792" y="1440"/>
                  <a:ext cx="432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673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792" y="2688"/>
                  <a:ext cx="432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674" name="Line 22"/>
                <p:cNvSpPr>
                  <a:spLocks noChangeShapeType="1"/>
                </p:cNvSpPr>
                <p:nvPr/>
              </p:nvSpPr>
              <p:spPr bwMode="auto">
                <a:xfrm flipH="1" flipV="1">
                  <a:off x="5040" y="2688"/>
                  <a:ext cx="48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675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5088" y="1440"/>
                  <a:ext cx="432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67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4224" y="1584"/>
                  <a:ext cx="912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pt-BR" altLang="pt-BR" sz="1400" i="1"/>
                    <a:t>setAltura</a:t>
                  </a:r>
                </a:p>
              </p:txBody>
            </p:sp>
            <p:sp>
              <p:nvSpPr>
                <p:cNvPr id="2767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176" y="2928"/>
                  <a:ext cx="1008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pt-BR" altLang="pt-BR" sz="1400" i="1"/>
                    <a:t>setBase </a:t>
                  </a:r>
                </a:p>
              </p:txBody>
            </p:sp>
            <p:sp>
              <p:nvSpPr>
                <p:cNvPr id="2767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792" y="1574"/>
                  <a:ext cx="144" cy="114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pt-BR" altLang="pt-BR" sz="1400" i="1"/>
                    <a:t>calcArea</a:t>
                  </a:r>
                </a:p>
              </p:txBody>
            </p:sp>
            <p:sp>
              <p:nvSpPr>
                <p:cNvPr id="2767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376" y="1547"/>
                  <a:ext cx="144" cy="15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pt-BR" altLang="pt-BR" sz="1200" i="1"/>
                    <a:t>calcPerimetro</a:t>
                  </a:r>
                </a:p>
              </p:txBody>
            </p:sp>
          </p:grpSp>
        </p:grpSp>
        <p:sp>
          <p:nvSpPr>
            <p:cNvPr id="27664" name="CaixaDeTexto 2"/>
            <p:cNvSpPr txBox="1">
              <a:spLocks noChangeArrowheads="1"/>
            </p:cNvSpPr>
            <p:nvPr/>
          </p:nvSpPr>
          <p:spPr bwMode="auto">
            <a:xfrm>
              <a:off x="6658584" y="4010405"/>
              <a:ext cx="895350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pt-BR" altLang="pt-BR" sz="1500" b="1"/>
                <a:t>altura</a:t>
              </a:r>
            </a:p>
          </p:txBody>
        </p:sp>
        <p:sp>
          <p:nvSpPr>
            <p:cNvPr id="27665" name="Retângulo 5"/>
            <p:cNvSpPr>
              <a:spLocks noChangeArrowheads="1"/>
            </p:cNvSpPr>
            <p:nvPr/>
          </p:nvSpPr>
          <p:spPr bwMode="auto">
            <a:xfrm>
              <a:off x="6761210" y="4293096"/>
              <a:ext cx="670722" cy="31908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altLang="pt-BR"/>
            </a:p>
          </p:txBody>
        </p:sp>
        <p:sp>
          <p:nvSpPr>
            <p:cNvPr id="27666" name="CaixaDeTexto 7"/>
            <p:cNvSpPr txBox="1">
              <a:spLocks noChangeArrowheads="1"/>
            </p:cNvSpPr>
            <p:nvPr/>
          </p:nvSpPr>
          <p:spPr bwMode="auto">
            <a:xfrm>
              <a:off x="6638925" y="4561817"/>
              <a:ext cx="895350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pt-BR" altLang="pt-BR" sz="1500" b="1"/>
                <a:t>base</a:t>
              </a:r>
            </a:p>
          </p:txBody>
        </p:sp>
        <p:sp>
          <p:nvSpPr>
            <p:cNvPr id="27667" name="Retângulo 9"/>
            <p:cNvSpPr>
              <a:spLocks noChangeArrowheads="1"/>
            </p:cNvSpPr>
            <p:nvPr/>
          </p:nvSpPr>
          <p:spPr bwMode="auto">
            <a:xfrm>
              <a:off x="6728664" y="4853783"/>
              <a:ext cx="670722" cy="31908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altLang="pt-BR"/>
            </a:p>
          </p:txBody>
        </p:sp>
      </p:grpSp>
      <p:sp>
        <p:nvSpPr>
          <p:cNvPr id="27662" name="Rectangle 2"/>
          <p:cNvSpPr>
            <a:spLocks noChangeArrowheads="1"/>
          </p:cNvSpPr>
          <p:nvPr/>
        </p:nvSpPr>
        <p:spPr bwMode="auto">
          <a:xfrm>
            <a:off x="1692275" y="11588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Classes</a:t>
            </a:r>
            <a:endParaRPr lang="pt-BR" altLang="pt-BR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Conteúdo 3"/>
          <p:cNvSpPr>
            <a:spLocks noGrp="1" noChangeArrowheads="1"/>
          </p:cNvSpPr>
          <p:nvPr>
            <p:ph idx="1"/>
          </p:nvPr>
        </p:nvSpPr>
        <p:spPr>
          <a:xfrm>
            <a:off x="1214414" y="2996952"/>
            <a:ext cx="7772400" cy="3744416"/>
          </a:xfrm>
        </p:spPr>
        <p:txBody>
          <a:bodyPr/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sz="2000" dirty="0"/>
              <a:t>O método </a:t>
            </a:r>
            <a:r>
              <a:rPr lang="pt-BR" sz="2000" b="1" dirty="0" err="1"/>
              <a:t>set</a:t>
            </a:r>
            <a:r>
              <a:rPr lang="pt-BR" sz="2000" b="1" dirty="0" err="1">
                <a:solidFill>
                  <a:srgbClr val="FF0000"/>
                </a:solidFill>
              </a:rPr>
              <a:t>Atributo</a:t>
            </a:r>
            <a:r>
              <a:rPr lang="pt-BR" sz="2000" b="1" dirty="0">
                <a:solidFill>
                  <a:srgbClr val="FF0000"/>
                </a:solidFill>
              </a:rPr>
              <a:t>  </a:t>
            </a:r>
            <a:r>
              <a:rPr lang="pt-BR" sz="2000" dirty="0"/>
              <a:t>tem a finalidade de obter um determinado dado e armazená-lo no respectivo atributo indicado pelo método</a:t>
            </a:r>
            <a:endParaRPr lang="pt-BR" altLang="pt-BR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altLang="pt-BR" sz="2000" dirty="0"/>
              <a:t>Modo de Acesso Privado (</a:t>
            </a:r>
            <a:r>
              <a:rPr lang="pt-BR" altLang="pt-BR" sz="2000" dirty="0" err="1"/>
              <a:t>private</a:t>
            </a:r>
            <a:r>
              <a:rPr lang="pt-BR" altLang="pt-BR" sz="2000" dirty="0"/>
              <a:t>)</a:t>
            </a:r>
          </a:p>
          <a:p>
            <a:pPr marL="625475" lvl="1" indent="-168275" algn="just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pt-BR" altLang="pt-BR" sz="1600" dirty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altura : </a:t>
            </a:r>
            <a:r>
              <a:rPr lang="pt-BR" altLang="pt-BR" sz="1600" dirty="0" err="1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double</a:t>
            </a:r>
            <a:r>
              <a:rPr lang="pt-BR" altLang="pt-BR" sz="1600" dirty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 </a:t>
            </a:r>
            <a:r>
              <a:rPr lang="pt-BR" altLang="pt-BR" sz="1600" dirty="0"/>
              <a:t>o símbolo </a:t>
            </a:r>
            <a:r>
              <a:rPr lang="pt-BR" altLang="pt-BR" dirty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-</a:t>
            </a:r>
            <a:r>
              <a:rPr lang="pt-BR" altLang="pt-BR" sz="1600" dirty="0"/>
              <a:t> indica que somente os métodos definidos na classe tem acesso direto ao atributo.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altLang="pt-BR" sz="2000" dirty="0"/>
              <a:t>Modo de Acesso Público (</a:t>
            </a:r>
            <a:r>
              <a:rPr lang="pt-BR" altLang="pt-BR" sz="2000" dirty="0" err="1"/>
              <a:t>public</a:t>
            </a:r>
            <a:r>
              <a:rPr lang="pt-BR" altLang="pt-BR" sz="2000" dirty="0"/>
              <a:t>)</a:t>
            </a:r>
          </a:p>
          <a:p>
            <a:pPr marL="625475" lvl="1" indent="-168275" algn="just">
              <a:spcBef>
                <a:spcPts val="0"/>
              </a:spcBef>
              <a:buNone/>
            </a:pPr>
            <a:r>
              <a:rPr lang="pt-BR" altLang="pt-BR" sz="1600" dirty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+ </a:t>
            </a:r>
            <a:r>
              <a:rPr lang="pt-BR" altLang="pt-BR" sz="1600" dirty="0" err="1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setAltura</a:t>
            </a:r>
            <a:r>
              <a:rPr lang="pt-BR" altLang="pt-BR" sz="1600" dirty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(</a:t>
            </a:r>
            <a:r>
              <a:rPr lang="pt-BR" altLang="pt-BR" sz="1600" dirty="0" err="1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double</a:t>
            </a:r>
            <a:r>
              <a:rPr lang="pt-BR" altLang="pt-BR" sz="1600" dirty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) : </a:t>
            </a:r>
            <a:r>
              <a:rPr lang="pt-BR" altLang="pt-BR" sz="1600" dirty="0" err="1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void</a:t>
            </a:r>
            <a:r>
              <a:rPr lang="pt-BR" altLang="pt-BR" sz="1600" dirty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 </a:t>
            </a:r>
            <a:r>
              <a:rPr lang="pt-BR" altLang="pt-BR" sz="1600" dirty="0"/>
              <a:t>o símbolo </a:t>
            </a:r>
            <a:r>
              <a:rPr lang="pt-BR" altLang="pt-BR" dirty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+</a:t>
            </a:r>
            <a:r>
              <a:rPr lang="pt-BR" altLang="pt-BR" sz="1600" dirty="0"/>
              <a:t> indica que a execução do método pode ser solicitada pela aplicação ou por outro objeto a partir do </a:t>
            </a:r>
            <a:r>
              <a:rPr lang="pt-BR" altLang="pt-BR" sz="1600" b="1" dirty="0">
                <a:solidFill>
                  <a:srgbClr val="00B050"/>
                </a:solidFill>
              </a:rPr>
              <a:t>Mecanismo de Passagem de Mensagens</a:t>
            </a:r>
            <a:r>
              <a:rPr lang="pt-BR" altLang="pt-BR" sz="1600" dirty="0"/>
              <a:t>.</a:t>
            </a:r>
          </a:p>
          <a:p>
            <a:pPr lvl="1" algn="just"/>
            <a:endParaRPr lang="pt-BR" altLang="pt-BR" sz="1600" dirty="0"/>
          </a:p>
          <a:p>
            <a:pPr lvl="1" algn="just">
              <a:buNone/>
            </a:pPr>
            <a:endParaRPr lang="pt-BR" altLang="pt-BR" sz="1600" dirty="0"/>
          </a:p>
        </p:txBody>
      </p: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2786050" y="357166"/>
            <a:ext cx="4100712" cy="2444073"/>
            <a:chOff x="2160" y="1434"/>
            <a:chExt cx="1488" cy="1173"/>
          </a:xfrm>
        </p:grpSpPr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2160" y="1600"/>
              <a:ext cx="1488" cy="34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altura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base   : </a:t>
              </a:r>
              <a:r>
                <a:rPr lang="pt-BR" altLang="pt-BR" dirty="0" err="1"/>
                <a:t>double</a:t>
              </a:r>
              <a:endParaRPr lang="pt-BR" altLang="pt-BR" dirty="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2160" y="1434"/>
              <a:ext cx="1488" cy="17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 err="1"/>
                <a:t>Retangulo</a:t>
              </a:r>
              <a:endParaRPr lang="pt-BR" altLang="pt-BR" dirty="0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160" y="1947"/>
              <a:ext cx="1488" cy="66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setAltura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setBase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calcArea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calcPerimetro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Conteúdo 3"/>
          <p:cNvSpPr>
            <a:spLocks noGrp="1" noChangeArrowheads="1"/>
          </p:cNvSpPr>
          <p:nvPr>
            <p:ph idx="1"/>
          </p:nvPr>
        </p:nvSpPr>
        <p:spPr>
          <a:xfrm>
            <a:off x="1142976" y="3643314"/>
            <a:ext cx="7772400" cy="1366837"/>
          </a:xfrm>
        </p:spPr>
        <p:txBody>
          <a:bodyPr/>
          <a:lstStyle/>
          <a:p>
            <a:pPr algn="just"/>
            <a:r>
              <a:rPr lang="pt-BR" altLang="pt-BR" sz="2000" dirty="0"/>
              <a:t>Faça a implementação dos métodos </a:t>
            </a:r>
            <a:r>
              <a:rPr lang="pt-BR" altLang="pt-BR" sz="2000" u="sng" dirty="0" err="1"/>
              <a:t>getAltura</a:t>
            </a:r>
            <a:r>
              <a:rPr lang="pt-BR" altLang="pt-BR" sz="2000" dirty="0"/>
              <a:t> e </a:t>
            </a:r>
            <a:r>
              <a:rPr lang="pt-BR" altLang="pt-BR" sz="2000" u="sng" dirty="0" err="1"/>
              <a:t>getBase</a:t>
            </a:r>
            <a:r>
              <a:rPr lang="pt-BR" altLang="pt-BR" sz="2000" dirty="0"/>
              <a:t>. O método </a:t>
            </a:r>
            <a:r>
              <a:rPr lang="pt-BR" altLang="pt-BR" sz="2000" dirty="0" err="1"/>
              <a:t>get</a:t>
            </a:r>
            <a:r>
              <a:rPr lang="pt-BR" altLang="pt-BR" sz="2000" dirty="0" err="1">
                <a:solidFill>
                  <a:srgbClr val="FF0000"/>
                </a:solidFill>
              </a:rPr>
              <a:t>Atributo</a:t>
            </a:r>
            <a:r>
              <a:rPr lang="pt-BR" altLang="pt-BR" sz="2000" dirty="0">
                <a:solidFill>
                  <a:srgbClr val="FF0000"/>
                </a:solidFill>
              </a:rPr>
              <a:t> </a:t>
            </a:r>
            <a:r>
              <a:rPr lang="pt-BR" altLang="pt-BR" sz="2000" dirty="0"/>
              <a:t>tem a finalidade de retornar o conteúdo do atributo indicado pelo método.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928926" y="285728"/>
            <a:ext cx="3786214" cy="3007480"/>
            <a:chOff x="2160" y="1443"/>
            <a:chExt cx="1488" cy="1354"/>
          </a:xfrm>
        </p:grpSpPr>
        <p:sp>
          <p:nvSpPr>
            <p:cNvPr id="28676" name="Text Box 9"/>
            <p:cNvSpPr txBox="1">
              <a:spLocks noChangeArrowheads="1"/>
            </p:cNvSpPr>
            <p:nvPr/>
          </p:nvSpPr>
          <p:spPr bwMode="auto">
            <a:xfrm>
              <a:off x="2160" y="1600"/>
              <a:ext cx="1488" cy="491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altura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base  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400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400" dirty="0"/>
            </a:p>
          </p:txBody>
        </p:sp>
        <p:sp>
          <p:nvSpPr>
            <p:cNvPr id="28677" name="Text Box 10"/>
            <p:cNvSpPr txBox="1">
              <a:spLocks noChangeArrowheads="1"/>
            </p:cNvSpPr>
            <p:nvPr/>
          </p:nvSpPr>
          <p:spPr bwMode="auto">
            <a:xfrm>
              <a:off x="2160" y="1443"/>
              <a:ext cx="1488" cy="1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 err="1"/>
                <a:t>Retangulo</a:t>
              </a:r>
              <a:endParaRPr lang="pt-BR" altLang="pt-BR" dirty="0"/>
            </a:p>
          </p:txBody>
        </p:sp>
        <p:sp>
          <p:nvSpPr>
            <p:cNvPr id="28678" name="Text Box 11"/>
            <p:cNvSpPr txBox="1">
              <a:spLocks noChangeArrowheads="1"/>
            </p:cNvSpPr>
            <p:nvPr/>
          </p:nvSpPr>
          <p:spPr bwMode="auto">
            <a:xfrm>
              <a:off x="2160" y="1881"/>
              <a:ext cx="1488" cy="916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setAltura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setBase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getAltura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getBase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calcArea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calcPerimetro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Conteúdo 3"/>
          <p:cNvSpPr>
            <a:spLocks noGrp="1" noChangeArrowheads="1"/>
          </p:cNvSpPr>
          <p:nvPr>
            <p:ph idx="1"/>
          </p:nvPr>
        </p:nvSpPr>
        <p:spPr>
          <a:xfrm>
            <a:off x="1142976" y="3786190"/>
            <a:ext cx="7772400" cy="1068396"/>
          </a:xfrm>
        </p:spPr>
        <p:txBody>
          <a:bodyPr/>
          <a:lstStyle/>
          <a:p>
            <a:pPr algn="just"/>
            <a:r>
              <a:rPr lang="pt-BR" altLang="pt-BR" sz="2000" dirty="0"/>
              <a:t>Faça a implementação do método </a:t>
            </a:r>
            <a:r>
              <a:rPr lang="pt-BR" altLang="pt-BR" sz="2000" u="sng" dirty="0" err="1"/>
              <a:t>calcDiagonal</a:t>
            </a:r>
            <a:r>
              <a:rPr lang="pt-BR" altLang="pt-BR" sz="2000" dirty="0"/>
              <a:t>. O método tem a finalidade de calcular e retornar o valor da diagonal do retângulo. Utilize o teorema de Pitágoras.</a:t>
            </a:r>
          </a:p>
        </p:txBody>
      </p:sp>
      <p:grpSp>
        <p:nvGrpSpPr>
          <p:cNvPr id="29699" name="Group 30"/>
          <p:cNvGrpSpPr>
            <a:grpSpLocks/>
          </p:cNvGrpSpPr>
          <p:nvPr/>
        </p:nvGrpSpPr>
        <p:grpSpPr bwMode="auto">
          <a:xfrm>
            <a:off x="2857488" y="214290"/>
            <a:ext cx="3643338" cy="3307667"/>
            <a:chOff x="2160" y="1443"/>
            <a:chExt cx="1488" cy="1541"/>
          </a:xfrm>
        </p:grpSpPr>
        <p:sp>
          <p:nvSpPr>
            <p:cNvPr id="29705" name="Text Box 9"/>
            <p:cNvSpPr txBox="1">
              <a:spLocks noChangeArrowheads="1"/>
            </p:cNvSpPr>
            <p:nvPr/>
          </p:nvSpPr>
          <p:spPr bwMode="auto">
            <a:xfrm>
              <a:off x="2160" y="1600"/>
              <a:ext cx="1488" cy="51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altura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base  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400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400" dirty="0"/>
            </a:p>
          </p:txBody>
        </p:sp>
        <p:sp>
          <p:nvSpPr>
            <p:cNvPr id="29706" name="Text Box 10"/>
            <p:cNvSpPr txBox="1">
              <a:spLocks noChangeArrowheads="1"/>
            </p:cNvSpPr>
            <p:nvPr/>
          </p:nvSpPr>
          <p:spPr bwMode="auto">
            <a:xfrm>
              <a:off x="2160" y="1443"/>
              <a:ext cx="1488" cy="173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 err="1"/>
                <a:t>Retangulo</a:t>
              </a:r>
              <a:endParaRPr lang="pt-BR" altLang="pt-BR" dirty="0"/>
            </a:p>
          </p:txBody>
        </p:sp>
        <p:sp>
          <p:nvSpPr>
            <p:cNvPr id="29707" name="Text Box 11"/>
            <p:cNvSpPr txBox="1">
              <a:spLocks noChangeArrowheads="1"/>
            </p:cNvSpPr>
            <p:nvPr/>
          </p:nvSpPr>
          <p:spPr bwMode="auto">
            <a:xfrm>
              <a:off x="2160" y="1881"/>
              <a:ext cx="1488" cy="1103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setAltura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setBase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getAltura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getBase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calcArea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calcPerimetro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calcDiagonal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</p:txBody>
        </p:sp>
      </p:grpSp>
      <p:grpSp>
        <p:nvGrpSpPr>
          <p:cNvPr id="29700" name="Agrupar 9"/>
          <p:cNvGrpSpPr>
            <a:grpSpLocks/>
          </p:cNvGrpSpPr>
          <p:nvPr/>
        </p:nvGrpSpPr>
        <p:grpSpPr bwMode="auto">
          <a:xfrm>
            <a:off x="3995738" y="4902200"/>
            <a:ext cx="2573337" cy="1695450"/>
            <a:chOff x="1485900" y="4751388"/>
            <a:chExt cx="2573338" cy="1695450"/>
          </a:xfrm>
        </p:grpSpPr>
        <p:grpSp>
          <p:nvGrpSpPr>
            <p:cNvPr id="29701" name="Agrupar 10"/>
            <p:cNvGrpSpPr>
              <a:grpSpLocks/>
            </p:cNvGrpSpPr>
            <p:nvPr/>
          </p:nvGrpSpPr>
          <p:grpSpPr bwMode="auto">
            <a:xfrm>
              <a:off x="1485900" y="4751388"/>
              <a:ext cx="2573338" cy="1695450"/>
              <a:chOff x="1485131" y="4750906"/>
              <a:chExt cx="2573337" cy="1696246"/>
            </a:xfrm>
          </p:grpSpPr>
          <p:sp>
            <p:nvSpPr>
              <p:cNvPr id="13" name="Retângulo 12"/>
              <p:cNvSpPr/>
              <p:nvPr/>
            </p:nvSpPr>
            <p:spPr bwMode="auto">
              <a:xfrm>
                <a:off x="1835968" y="5217850"/>
                <a:ext cx="1871663" cy="12293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pt-BR">
                  <a:ln>
                    <a:solidFill>
                      <a:schemeClr val="accent4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29704" name="CaixaDeTexto 11"/>
              <p:cNvSpPr txBox="1">
                <a:spLocks noChangeArrowheads="1"/>
              </p:cNvSpPr>
              <p:nvPr/>
            </p:nvSpPr>
            <p:spPr bwMode="auto">
              <a:xfrm>
                <a:off x="1485131" y="4750906"/>
                <a:ext cx="2573337" cy="3231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pt-BR" altLang="pt-BR" sz="1500" b="1" i="1" dirty="0"/>
                  <a:t>Figura Geométrica Retângulo</a:t>
                </a:r>
              </a:p>
            </p:txBody>
          </p:sp>
        </p:grpSp>
        <p:cxnSp>
          <p:nvCxnSpPr>
            <p:cNvPr id="12" name="Conector reto 11"/>
            <p:cNvCxnSpPr/>
            <p:nvPr/>
          </p:nvCxnSpPr>
          <p:spPr bwMode="auto">
            <a:xfrm>
              <a:off x="1835150" y="5218113"/>
              <a:ext cx="1873251" cy="1228725"/>
            </a:xfrm>
            <a:prstGeom prst="line">
              <a:avLst/>
            </a:prstGeom>
            <a:ln w="2222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36650" y="188913"/>
            <a:ext cx="7772400" cy="450850"/>
          </a:xfrm>
        </p:spPr>
        <p:txBody>
          <a:bodyPr/>
          <a:lstStyle/>
          <a:p>
            <a:r>
              <a:rPr lang="pt-BR" altLang="pt-BR" sz="3000"/>
              <a:t>Exercícios</a:t>
            </a:r>
          </a:p>
        </p:txBody>
      </p:sp>
      <p:pic>
        <p:nvPicPr>
          <p:cNvPr id="30723" name="Imagem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3300" y="2060575"/>
            <a:ext cx="790575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m 3" descr="Tabela&#10;&#10;Descrição gerada automaticamen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0"/>
            <a:ext cx="7721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m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4075" y="2060575"/>
            <a:ext cx="5638800" cy="2447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2771" name="CaixaDeTexto 3"/>
          <p:cNvSpPr txBox="1">
            <a:spLocks noChangeArrowheads="1"/>
          </p:cNvSpPr>
          <p:nvPr/>
        </p:nvSpPr>
        <p:spPr bwMode="auto">
          <a:xfrm>
            <a:off x="1258888" y="765175"/>
            <a:ext cx="756126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pt-BR"/>
              <a:t>Faça a saída de dados de acordo com a definição do menu abaixo:</a:t>
            </a:r>
          </a:p>
        </p:txBody>
      </p:sp>
      <p:sp>
        <p:nvSpPr>
          <p:cNvPr id="32772" name="CaixaDeTexto 5"/>
          <p:cNvSpPr txBox="1">
            <a:spLocks noChangeArrowheads="1"/>
          </p:cNvSpPr>
          <p:nvPr/>
        </p:nvSpPr>
        <p:spPr bwMode="auto">
          <a:xfrm>
            <a:off x="1381125" y="4959350"/>
            <a:ext cx="756126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pt-BR"/>
              <a:t>Para cada uma das opções de 1 a 3 deve ser exibido o Ra do aluno.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0" ma:contentTypeDescription="Crie um novo documento." ma:contentTypeScope="" ma:versionID="84f10ae0064297c318a46f88e288ce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6E8BBA-F2CF-4670-BE91-7D8BFAE534B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739A815-9573-469E-9FB2-552486E26564}"/>
</file>

<file path=customXml/itemProps3.xml><?xml version="1.0" encoding="utf-8"?>
<ds:datastoreItem xmlns:ds="http://schemas.openxmlformats.org/officeDocument/2006/customXml" ds:itemID="{4DCD6822-F6E0-4D8C-968C-11367E29D5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Office\Modelos\Estruturas de apresentação\GRAVATA.POT</Template>
  <TotalTime>1622</TotalTime>
  <Words>1128</Words>
  <Application>Microsoft Office PowerPoint</Application>
  <PresentationFormat>Apresentação na tela (4:3)</PresentationFormat>
  <Paragraphs>190</Paragraphs>
  <Slides>27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Arial</vt:lpstr>
      <vt:lpstr>Monotype Sorts</vt:lpstr>
      <vt:lpstr>Times New Roman</vt:lpstr>
      <vt:lpstr>Wingdings</vt:lpstr>
      <vt:lpstr>Gravata</vt:lpstr>
      <vt:lpstr>Imagem bitmap</vt:lpstr>
      <vt:lpstr>Programação Orientada a Objetos</vt:lpstr>
      <vt:lpstr>Apresentação do PowerPoint</vt:lpstr>
      <vt:lpstr>Apresentação do PowerPoint</vt:lpstr>
      <vt:lpstr>Apresentação do PowerPoint</vt:lpstr>
      <vt:lpstr>Apresentação do PowerPoint</vt:lpstr>
      <vt:lpstr>Programação Orientada a Objetos</vt:lpstr>
      <vt:lpstr>Apresentação do PowerPoint</vt:lpstr>
      <vt:lpstr>Apresentação do PowerPoint</vt:lpstr>
      <vt:lpstr>Apresentação do PowerPoint</vt:lpstr>
      <vt:lpstr>Fundamentos da Programação  Orientada a Objetos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Exercícios</vt:lpstr>
      <vt:lpstr>Apresentação do PowerPoint</vt:lpstr>
      <vt:lpstr>Apresentação do PowerPoint</vt:lpstr>
    </vt:vector>
  </TitlesOfParts>
  <Company>FATEC-SO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Orientada a Objetos</dc:title>
  <dc:creator>dimas</dc:creator>
  <cp:lastModifiedBy>Dimas Cardoso</cp:lastModifiedBy>
  <cp:revision>124</cp:revision>
  <dcterms:created xsi:type="dcterms:W3CDTF">2003-08-12T17:50:11Z</dcterms:created>
  <dcterms:modified xsi:type="dcterms:W3CDTF">2026-03-02T09:43:15Z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