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9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9144000" cy="6858000" type="screen4x3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FF9966"/>
    <a:srgbClr val="FF99CC"/>
    <a:srgbClr val="CCCCFF"/>
    <a:srgbClr val="FFCCCC"/>
    <a:srgbClr val="CC99FF"/>
    <a:srgbClr val="66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19" autoAdjust="0"/>
    <p:restoredTop sz="90929"/>
  </p:normalViewPr>
  <p:slideViewPr>
    <p:cSldViewPr>
      <p:cViewPr varScale="1">
        <p:scale>
          <a:sx n="71" d="100"/>
          <a:sy n="71" d="100"/>
        </p:scale>
        <p:origin x="1934" y="28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pt-BR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pt-BR"/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r>
              <a:rPr lang="pt-BR"/>
              <a:t>Prof. Dimas Ferreira Cardoso</a:t>
            </a:r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1EC1A2C-5F77-4213-B780-8DC78977378D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46463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pt-BR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pt-BR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r>
              <a:rPr lang="pt-BR"/>
              <a:t>Prof. Dimas Ferreira Cardoso</a:t>
            </a:r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C439B1B-C053-4A79-8BF7-8B608E6F166D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595114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pt-BR"/>
              <a:t>Prof. Dimas Ferreira Cardoso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A310DC2-1604-4732-9845-26A06502269B}" type="slidenum">
              <a:rPr lang="pt-BR"/>
              <a:pPr/>
              <a:t>1</a:t>
            </a:fld>
            <a:endParaRPr lang="pt-BR"/>
          </a:p>
        </p:txBody>
      </p:sp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330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-3175" y="2438400"/>
            <a:ext cx="9147175" cy="1063625"/>
            <a:chOff x="-2" y="1536"/>
            <a:chExt cx="5762" cy="670"/>
          </a:xfrm>
        </p:grpSpPr>
        <p:grpSp>
          <p:nvGrpSpPr>
            <p:cNvPr id="4099" name="Group 3"/>
            <p:cNvGrpSpPr>
              <a:grpSpLocks/>
            </p:cNvGrpSpPr>
            <p:nvPr/>
          </p:nvGrpSpPr>
          <p:grpSpPr bwMode="auto">
            <a:xfrm flipH="1">
              <a:off x="-2" y="1562"/>
              <a:ext cx="5762" cy="638"/>
              <a:chOff x="-2" y="1562"/>
              <a:chExt cx="5762" cy="638"/>
            </a:xfrm>
          </p:grpSpPr>
          <p:sp>
            <p:nvSpPr>
              <p:cNvPr id="4100" name="Freeform 4"/>
              <p:cNvSpPr>
                <a:spLocks/>
              </p:cNvSpPr>
              <p:nvPr/>
            </p:nvSpPr>
            <p:spPr bwMode="ltGray">
              <a:xfrm rot="-5400000">
                <a:off x="2559" y="-993"/>
                <a:ext cx="624" cy="574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720"/>
                  </a:cxn>
                  <a:cxn ang="0">
                    <a:pos x="1000" y="720"/>
                  </a:cxn>
                  <a:cxn ang="0">
                    <a:pos x="1000" y="0"/>
                  </a:cxn>
                  <a:cxn ang="0">
                    <a:pos x="0" y="0"/>
                  </a:cxn>
                </a:cxnLst>
                <a:rect l="0" t="0" r="r" b="b"/>
                <a:pathLst>
                  <a:path w="1000" h="720">
                    <a:moveTo>
                      <a:pt x="0" y="0"/>
                    </a:moveTo>
                    <a:lnTo>
                      <a:pt x="0" y="720"/>
                    </a:lnTo>
                    <a:lnTo>
                      <a:pt x="1000" y="720"/>
                    </a:lnTo>
                    <a:lnTo>
                      <a:pt x="1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01" name="Freeform 5"/>
              <p:cNvSpPr>
                <a:spLocks/>
              </p:cNvSpPr>
              <p:nvPr/>
            </p:nvSpPr>
            <p:spPr bwMode="ltGray">
              <a:xfrm rot="-5400000">
                <a:off x="1323" y="1669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02" name="Freeform 6"/>
              <p:cNvSpPr>
                <a:spLocks/>
              </p:cNvSpPr>
              <p:nvPr/>
            </p:nvSpPr>
            <p:spPr bwMode="ltGray">
              <a:xfrm rot="-5400000">
                <a:off x="982" y="1669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03" name="Freeform 7"/>
              <p:cNvSpPr>
                <a:spLocks/>
              </p:cNvSpPr>
              <p:nvPr/>
            </p:nvSpPr>
            <p:spPr bwMode="ltGray">
              <a:xfrm rot="-5400000">
                <a:off x="-57" y="1752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04" name="Freeform 8"/>
              <p:cNvSpPr>
                <a:spLocks/>
              </p:cNvSpPr>
              <p:nvPr/>
            </p:nvSpPr>
            <p:spPr bwMode="ltGray">
              <a:xfrm rot="-5400000">
                <a:off x="664" y="1733"/>
                <a:ext cx="624" cy="29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05" name="Freeform 9"/>
              <p:cNvSpPr>
                <a:spLocks/>
              </p:cNvSpPr>
              <p:nvPr/>
            </p:nvSpPr>
            <p:spPr bwMode="ltGray">
              <a:xfrm rot="-5400000">
                <a:off x="442" y="1699"/>
                <a:ext cx="624" cy="36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06" name="Freeform 10"/>
              <p:cNvSpPr>
                <a:spLocks/>
              </p:cNvSpPr>
              <p:nvPr/>
            </p:nvSpPr>
            <p:spPr bwMode="ltGray">
              <a:xfrm rot="-5400000">
                <a:off x="156" y="1726"/>
                <a:ext cx="632" cy="315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07" name="Freeform 11"/>
              <p:cNvSpPr>
                <a:spLocks/>
              </p:cNvSpPr>
              <p:nvPr/>
            </p:nvSpPr>
            <p:spPr bwMode="ltGray">
              <a:xfrm rot="-5400000">
                <a:off x="3211" y="1664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08" name="Freeform 12"/>
              <p:cNvSpPr>
                <a:spLocks/>
              </p:cNvSpPr>
              <p:nvPr/>
            </p:nvSpPr>
            <p:spPr bwMode="ltGray">
              <a:xfrm rot="-5400000">
                <a:off x="2870" y="1664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09" name="Freeform 13"/>
              <p:cNvSpPr>
                <a:spLocks/>
              </p:cNvSpPr>
              <p:nvPr/>
            </p:nvSpPr>
            <p:spPr bwMode="ltGray">
              <a:xfrm rot="-5400000">
                <a:off x="1830" y="1747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0" name="Freeform 14"/>
              <p:cNvSpPr>
                <a:spLocks/>
              </p:cNvSpPr>
              <p:nvPr/>
            </p:nvSpPr>
            <p:spPr bwMode="ltGray">
              <a:xfrm rot="-5400000">
                <a:off x="2551" y="1728"/>
                <a:ext cx="624" cy="29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1" name="Freeform 15"/>
              <p:cNvSpPr>
                <a:spLocks/>
              </p:cNvSpPr>
              <p:nvPr/>
            </p:nvSpPr>
            <p:spPr bwMode="ltGray">
              <a:xfrm rot="-5400000">
                <a:off x="2330" y="1694"/>
                <a:ext cx="624" cy="36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2" name="Freeform 16"/>
              <p:cNvSpPr>
                <a:spLocks/>
              </p:cNvSpPr>
              <p:nvPr/>
            </p:nvSpPr>
            <p:spPr bwMode="ltGray">
              <a:xfrm rot="-5400000">
                <a:off x="2043" y="1721"/>
                <a:ext cx="632" cy="316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3" name="Freeform 17"/>
              <p:cNvSpPr>
                <a:spLocks/>
              </p:cNvSpPr>
              <p:nvPr/>
            </p:nvSpPr>
            <p:spPr bwMode="ltGray">
              <a:xfrm rot="-5400000">
                <a:off x="4077" y="1669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4" name="Freeform 18"/>
              <p:cNvSpPr>
                <a:spLocks/>
              </p:cNvSpPr>
              <p:nvPr/>
            </p:nvSpPr>
            <p:spPr bwMode="ltGray">
              <a:xfrm rot="-5400000">
                <a:off x="3736" y="1669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5" name="Freeform 19"/>
              <p:cNvSpPr>
                <a:spLocks/>
              </p:cNvSpPr>
              <p:nvPr/>
            </p:nvSpPr>
            <p:spPr bwMode="ltGray">
              <a:xfrm rot="-5400000">
                <a:off x="4584" y="1747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6" name="Freeform 20"/>
              <p:cNvSpPr>
                <a:spLocks/>
              </p:cNvSpPr>
              <p:nvPr/>
            </p:nvSpPr>
            <p:spPr bwMode="ltGray">
              <a:xfrm>
                <a:off x="5469" y="1562"/>
                <a:ext cx="291" cy="625"/>
              </a:xfrm>
              <a:custGeom>
                <a:avLst/>
                <a:gdLst/>
                <a:ahLst/>
                <a:cxnLst>
                  <a:cxn ang="0">
                    <a:pos x="0" y="624"/>
                  </a:cxn>
                  <a:cxn ang="0">
                    <a:pos x="291" y="625"/>
                  </a:cxn>
                  <a:cxn ang="0">
                    <a:pos x="291" y="6"/>
                  </a:cxn>
                  <a:cxn ang="0">
                    <a:pos x="0" y="0"/>
                  </a:cxn>
                  <a:cxn ang="0">
                    <a:pos x="0" y="624"/>
                  </a:cxn>
                </a:cxnLst>
                <a:rect l="0" t="0" r="r" b="b"/>
                <a:pathLst>
                  <a:path w="291" h="625">
                    <a:moveTo>
                      <a:pt x="0" y="624"/>
                    </a:moveTo>
                    <a:lnTo>
                      <a:pt x="291" y="625"/>
                    </a:lnTo>
                    <a:lnTo>
                      <a:pt x="291" y="6"/>
                    </a:lnTo>
                    <a:lnTo>
                      <a:pt x="0" y="0"/>
                    </a:lnTo>
                    <a:cubicBezTo>
                      <a:pt x="39" y="384"/>
                      <a:pt x="0" y="494"/>
                      <a:pt x="0" y="624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7" name="Freeform 21"/>
              <p:cNvSpPr>
                <a:spLocks/>
              </p:cNvSpPr>
              <p:nvPr/>
            </p:nvSpPr>
            <p:spPr bwMode="ltGray">
              <a:xfrm rot="-5400000">
                <a:off x="5084" y="1694"/>
                <a:ext cx="624" cy="36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8" name="Freeform 22"/>
              <p:cNvSpPr>
                <a:spLocks/>
              </p:cNvSpPr>
              <p:nvPr/>
            </p:nvSpPr>
            <p:spPr bwMode="ltGray">
              <a:xfrm rot="-5400000">
                <a:off x="4797" y="1721"/>
                <a:ext cx="632" cy="316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4119" name="Freeform 23"/>
            <p:cNvSpPr>
              <a:spLocks/>
            </p:cNvSpPr>
            <p:nvPr/>
          </p:nvSpPr>
          <p:spPr bwMode="ltGray">
            <a:xfrm flipH="1">
              <a:off x="-2" y="1536"/>
              <a:ext cx="5762" cy="412"/>
            </a:xfrm>
            <a:custGeom>
              <a:avLst/>
              <a:gdLst/>
              <a:ahLst/>
              <a:cxnLst>
                <a:cxn ang="0">
                  <a:pos x="0" y="196"/>
                </a:cxn>
                <a:cxn ang="0">
                  <a:pos x="5762" y="188"/>
                </a:cxn>
                <a:cxn ang="0">
                  <a:pos x="5762" y="4"/>
                </a:cxn>
                <a:cxn ang="0">
                  <a:pos x="0" y="0"/>
                </a:cxn>
                <a:cxn ang="0">
                  <a:pos x="0" y="196"/>
                </a:cxn>
              </a:cxnLst>
              <a:rect l="0" t="0" r="r" b="b"/>
              <a:pathLst>
                <a:path w="5762" h="385">
                  <a:moveTo>
                    <a:pt x="0" y="196"/>
                  </a:moveTo>
                  <a:cubicBezTo>
                    <a:pt x="1667" y="385"/>
                    <a:pt x="2275" y="93"/>
                    <a:pt x="5762" y="188"/>
                  </a:cubicBezTo>
                  <a:lnTo>
                    <a:pt x="5762" y="4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767676"/>
                </a:gs>
              </a:gsLst>
              <a:lin ang="540000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120" name="Freeform 24"/>
            <p:cNvSpPr>
              <a:spLocks/>
            </p:cNvSpPr>
            <p:nvPr/>
          </p:nvSpPr>
          <p:spPr bwMode="ltGray">
            <a:xfrm flipH="1">
              <a:off x="-2" y="2017"/>
              <a:ext cx="5761" cy="189"/>
            </a:xfrm>
            <a:custGeom>
              <a:avLst/>
              <a:gdLst/>
              <a:ahLst/>
              <a:cxnLst>
                <a:cxn ang="0">
                  <a:pos x="0" y="28"/>
                </a:cxn>
                <a:cxn ang="0">
                  <a:pos x="5761" y="0"/>
                </a:cxn>
                <a:cxn ang="0">
                  <a:pos x="5761" y="189"/>
                </a:cxn>
                <a:cxn ang="0">
                  <a:pos x="1" y="189"/>
                </a:cxn>
                <a:cxn ang="0">
                  <a:pos x="0" y="28"/>
                </a:cxn>
              </a:cxnLst>
              <a:rect l="0" t="0" r="r" b="b"/>
              <a:pathLst>
                <a:path w="5761" h="189">
                  <a:moveTo>
                    <a:pt x="0" y="28"/>
                  </a:moveTo>
                  <a:cubicBezTo>
                    <a:pt x="961" y="0"/>
                    <a:pt x="4971" y="161"/>
                    <a:pt x="5761" y="0"/>
                  </a:cubicBezTo>
                  <a:lnTo>
                    <a:pt x="5761" y="189"/>
                  </a:lnTo>
                  <a:lnTo>
                    <a:pt x="1" y="189"/>
                  </a:lnTo>
                  <a:lnTo>
                    <a:pt x="0" y="28"/>
                  </a:lnTo>
                  <a:close/>
                </a:path>
              </a:pathLst>
            </a:custGeom>
            <a:gradFill rotWithShape="0">
              <a:gsLst>
                <a:gs pos="0">
                  <a:srgbClr val="767676"/>
                </a:gs>
                <a:gs pos="100000">
                  <a:schemeClr val="bg1"/>
                </a:gs>
              </a:gsLst>
              <a:lin ang="5400000" scaled="1"/>
            </a:gradFill>
            <a:ln w="9525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4121" name="Rectangle 25"/>
          <p:cNvSpPr>
            <a:spLocks noGrp="1" noChangeArrowheads="1"/>
          </p:cNvSpPr>
          <p:nvPr>
            <p:ph type="ctrTitle"/>
          </p:nvPr>
        </p:nvSpPr>
        <p:spPr>
          <a:xfrm>
            <a:off x="1173163" y="1341438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Clique para editar o estilo do título mestre</a:t>
            </a:r>
          </a:p>
        </p:txBody>
      </p:sp>
      <p:sp>
        <p:nvSpPr>
          <p:cNvPr id="4122" name="Rectangle 26"/>
          <p:cNvSpPr>
            <a:spLocks noGrp="1" noChangeArrowheads="1"/>
          </p:cNvSpPr>
          <p:nvPr>
            <p:ph type="subTitle" idx="1"/>
          </p:nvPr>
        </p:nvSpPr>
        <p:spPr>
          <a:xfrm>
            <a:off x="1166813" y="3886200"/>
            <a:ext cx="6400800" cy="1752600"/>
          </a:xfrm>
        </p:spPr>
        <p:txBody>
          <a:bodyPr/>
          <a:lstStyle>
            <a:lvl1pPr marL="0" indent="0">
              <a:buFont typeface="Monotype Sorts" pitchFamily="2" charset="2"/>
              <a:buNone/>
              <a:defRPr/>
            </a:lvl1pPr>
          </a:lstStyle>
          <a:p>
            <a:r>
              <a:rPr lang="en-US"/>
              <a:t>Clique para editar o estilo do subtítulo mestre</a:t>
            </a:r>
          </a:p>
        </p:txBody>
      </p:sp>
      <p:sp>
        <p:nvSpPr>
          <p:cNvPr id="4123" name="Rectangle 27"/>
          <p:cNvSpPr>
            <a:spLocks noGrp="1" noChangeArrowheads="1"/>
          </p:cNvSpPr>
          <p:nvPr>
            <p:ph type="dt" sz="half" idx="2"/>
          </p:nvPr>
        </p:nvSpPr>
        <p:spPr>
          <a:xfrm>
            <a:off x="1166813" y="6248400"/>
            <a:ext cx="1905000" cy="457200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4124" name="Rectangle 28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4125" name="Rectangle 29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A8BB8DA9-E34E-4A7F-AC98-F39A257C6002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23F484-7AD8-40EF-A896-6AC39C3B4D50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F96A38-0486-4A42-B38B-F364127B6B90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A68C90-AD31-42B3-9510-B48B3CD90C9E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6ECDEB-03E2-470F-942E-5E8E4E9DAA13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7EC34A-EB14-4790-B431-A523545CA5CA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F6260A-EA1D-4577-9D4A-55FC65D4448F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880009-8FF3-4663-BB8F-A3EBFACAD9F6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4676BD-EACE-4636-865A-C7A7AEE324BE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FF3938-366C-4100-8CAC-2C4B5F83D5AC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3DA6FA-9220-484C-8EA4-634D8D3DDB16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ítulo, texto e clip-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73163" y="457200"/>
            <a:ext cx="7772400" cy="1143000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lip-art 3"/>
          <p:cNvSpPr>
            <a:spLocks noGrp="1"/>
          </p:cNvSpPr>
          <p:nvPr>
            <p:ph type="clipArt"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1173163" y="6265863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35814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70104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FE5DCF13-E451-4B8C-9C46-3E20F3F9330A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>
          <a:outerShdw dist="107763" dir="2700000" algn="ctr" rotWithShape="0">
            <a:srgbClr val="000000"/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0" y="-4763"/>
            <a:ext cx="1063625" cy="6858001"/>
            <a:chOff x="0" y="-3"/>
            <a:chExt cx="670" cy="4320"/>
          </a:xfrm>
        </p:grpSpPr>
        <p:grpSp>
          <p:nvGrpSpPr>
            <p:cNvPr id="3075" name="Group 3"/>
            <p:cNvGrpSpPr>
              <a:grpSpLocks/>
            </p:cNvGrpSpPr>
            <p:nvPr/>
          </p:nvGrpSpPr>
          <p:grpSpPr bwMode="auto">
            <a:xfrm rot="16200000" flipH="1">
              <a:off x="-1815" y="1838"/>
              <a:ext cx="4320" cy="638"/>
              <a:chOff x="-2" y="1562"/>
              <a:chExt cx="5762" cy="638"/>
            </a:xfrm>
          </p:grpSpPr>
          <p:sp>
            <p:nvSpPr>
              <p:cNvPr id="3076" name="Freeform 4"/>
              <p:cNvSpPr>
                <a:spLocks/>
              </p:cNvSpPr>
              <p:nvPr/>
            </p:nvSpPr>
            <p:spPr bwMode="ltGray">
              <a:xfrm rot="-5400000">
                <a:off x="2559" y="-993"/>
                <a:ext cx="624" cy="574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720"/>
                  </a:cxn>
                  <a:cxn ang="0">
                    <a:pos x="1000" y="720"/>
                  </a:cxn>
                  <a:cxn ang="0">
                    <a:pos x="1000" y="0"/>
                  </a:cxn>
                  <a:cxn ang="0">
                    <a:pos x="0" y="0"/>
                  </a:cxn>
                </a:cxnLst>
                <a:rect l="0" t="0" r="r" b="b"/>
                <a:pathLst>
                  <a:path w="1000" h="720">
                    <a:moveTo>
                      <a:pt x="0" y="0"/>
                    </a:moveTo>
                    <a:lnTo>
                      <a:pt x="0" y="720"/>
                    </a:lnTo>
                    <a:lnTo>
                      <a:pt x="1000" y="720"/>
                    </a:lnTo>
                    <a:lnTo>
                      <a:pt x="1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77" name="Freeform 5"/>
              <p:cNvSpPr>
                <a:spLocks/>
              </p:cNvSpPr>
              <p:nvPr/>
            </p:nvSpPr>
            <p:spPr bwMode="ltGray">
              <a:xfrm rot="-5400000">
                <a:off x="1323" y="1669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78" name="Freeform 6"/>
              <p:cNvSpPr>
                <a:spLocks/>
              </p:cNvSpPr>
              <p:nvPr/>
            </p:nvSpPr>
            <p:spPr bwMode="ltGray">
              <a:xfrm rot="-5400000">
                <a:off x="982" y="1669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79" name="Freeform 7"/>
              <p:cNvSpPr>
                <a:spLocks/>
              </p:cNvSpPr>
              <p:nvPr/>
            </p:nvSpPr>
            <p:spPr bwMode="ltGray">
              <a:xfrm rot="-5400000">
                <a:off x="-57" y="1752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80" name="Freeform 8"/>
              <p:cNvSpPr>
                <a:spLocks/>
              </p:cNvSpPr>
              <p:nvPr/>
            </p:nvSpPr>
            <p:spPr bwMode="ltGray">
              <a:xfrm rot="-5400000">
                <a:off x="664" y="1733"/>
                <a:ext cx="624" cy="29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81" name="Freeform 9"/>
              <p:cNvSpPr>
                <a:spLocks/>
              </p:cNvSpPr>
              <p:nvPr/>
            </p:nvSpPr>
            <p:spPr bwMode="ltGray">
              <a:xfrm rot="-5400000">
                <a:off x="442" y="1699"/>
                <a:ext cx="624" cy="36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82" name="Freeform 10"/>
              <p:cNvSpPr>
                <a:spLocks/>
              </p:cNvSpPr>
              <p:nvPr/>
            </p:nvSpPr>
            <p:spPr bwMode="ltGray">
              <a:xfrm rot="-5400000">
                <a:off x="156" y="1726"/>
                <a:ext cx="632" cy="315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83" name="Freeform 11"/>
              <p:cNvSpPr>
                <a:spLocks/>
              </p:cNvSpPr>
              <p:nvPr/>
            </p:nvSpPr>
            <p:spPr bwMode="ltGray">
              <a:xfrm rot="-5400000">
                <a:off x="3211" y="1664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84" name="Freeform 12"/>
              <p:cNvSpPr>
                <a:spLocks/>
              </p:cNvSpPr>
              <p:nvPr/>
            </p:nvSpPr>
            <p:spPr bwMode="ltGray">
              <a:xfrm rot="-5400000">
                <a:off x="2870" y="1664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85" name="Freeform 13"/>
              <p:cNvSpPr>
                <a:spLocks/>
              </p:cNvSpPr>
              <p:nvPr/>
            </p:nvSpPr>
            <p:spPr bwMode="ltGray">
              <a:xfrm rot="-5400000">
                <a:off x="1830" y="1747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86" name="Freeform 14"/>
              <p:cNvSpPr>
                <a:spLocks/>
              </p:cNvSpPr>
              <p:nvPr/>
            </p:nvSpPr>
            <p:spPr bwMode="ltGray">
              <a:xfrm rot="-5400000">
                <a:off x="2551" y="1728"/>
                <a:ext cx="624" cy="29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87" name="Freeform 15"/>
              <p:cNvSpPr>
                <a:spLocks/>
              </p:cNvSpPr>
              <p:nvPr/>
            </p:nvSpPr>
            <p:spPr bwMode="ltGray">
              <a:xfrm rot="-5400000">
                <a:off x="2330" y="1694"/>
                <a:ext cx="624" cy="36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88" name="Freeform 16"/>
              <p:cNvSpPr>
                <a:spLocks/>
              </p:cNvSpPr>
              <p:nvPr/>
            </p:nvSpPr>
            <p:spPr bwMode="ltGray">
              <a:xfrm rot="-5400000">
                <a:off x="2043" y="1721"/>
                <a:ext cx="632" cy="316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89" name="Freeform 17"/>
              <p:cNvSpPr>
                <a:spLocks/>
              </p:cNvSpPr>
              <p:nvPr/>
            </p:nvSpPr>
            <p:spPr bwMode="ltGray">
              <a:xfrm rot="-5400000">
                <a:off x="4077" y="1669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90" name="Freeform 18"/>
              <p:cNvSpPr>
                <a:spLocks/>
              </p:cNvSpPr>
              <p:nvPr/>
            </p:nvSpPr>
            <p:spPr bwMode="ltGray">
              <a:xfrm rot="-5400000">
                <a:off x="3736" y="1669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91" name="Freeform 19"/>
              <p:cNvSpPr>
                <a:spLocks/>
              </p:cNvSpPr>
              <p:nvPr/>
            </p:nvSpPr>
            <p:spPr bwMode="ltGray">
              <a:xfrm rot="-5400000">
                <a:off x="4584" y="1747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92" name="Freeform 20"/>
              <p:cNvSpPr>
                <a:spLocks/>
              </p:cNvSpPr>
              <p:nvPr/>
            </p:nvSpPr>
            <p:spPr bwMode="ltGray">
              <a:xfrm>
                <a:off x="5469" y="1562"/>
                <a:ext cx="291" cy="625"/>
              </a:xfrm>
              <a:custGeom>
                <a:avLst/>
                <a:gdLst/>
                <a:ahLst/>
                <a:cxnLst>
                  <a:cxn ang="0">
                    <a:pos x="0" y="624"/>
                  </a:cxn>
                  <a:cxn ang="0">
                    <a:pos x="291" y="625"/>
                  </a:cxn>
                  <a:cxn ang="0">
                    <a:pos x="291" y="6"/>
                  </a:cxn>
                  <a:cxn ang="0">
                    <a:pos x="0" y="0"/>
                  </a:cxn>
                  <a:cxn ang="0">
                    <a:pos x="0" y="624"/>
                  </a:cxn>
                </a:cxnLst>
                <a:rect l="0" t="0" r="r" b="b"/>
                <a:pathLst>
                  <a:path w="291" h="625">
                    <a:moveTo>
                      <a:pt x="0" y="624"/>
                    </a:moveTo>
                    <a:lnTo>
                      <a:pt x="291" y="625"/>
                    </a:lnTo>
                    <a:lnTo>
                      <a:pt x="291" y="6"/>
                    </a:lnTo>
                    <a:lnTo>
                      <a:pt x="0" y="0"/>
                    </a:lnTo>
                    <a:cubicBezTo>
                      <a:pt x="39" y="384"/>
                      <a:pt x="0" y="494"/>
                      <a:pt x="0" y="624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93" name="Freeform 21"/>
              <p:cNvSpPr>
                <a:spLocks/>
              </p:cNvSpPr>
              <p:nvPr/>
            </p:nvSpPr>
            <p:spPr bwMode="ltGray">
              <a:xfrm rot="-5400000">
                <a:off x="5084" y="1694"/>
                <a:ext cx="624" cy="36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94" name="Freeform 22"/>
              <p:cNvSpPr>
                <a:spLocks/>
              </p:cNvSpPr>
              <p:nvPr/>
            </p:nvSpPr>
            <p:spPr bwMode="ltGray">
              <a:xfrm rot="-5400000">
                <a:off x="4797" y="1721"/>
                <a:ext cx="632" cy="316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3095" name="Freeform 23"/>
            <p:cNvSpPr>
              <a:spLocks/>
            </p:cNvSpPr>
            <p:nvPr/>
          </p:nvSpPr>
          <p:spPr bwMode="ltGray">
            <a:xfrm rot="16200000" flipH="1">
              <a:off x="-1954" y="1951"/>
              <a:ext cx="4320" cy="412"/>
            </a:xfrm>
            <a:custGeom>
              <a:avLst/>
              <a:gdLst/>
              <a:ahLst/>
              <a:cxnLst>
                <a:cxn ang="0">
                  <a:pos x="0" y="196"/>
                </a:cxn>
                <a:cxn ang="0">
                  <a:pos x="5762" y="188"/>
                </a:cxn>
                <a:cxn ang="0">
                  <a:pos x="5762" y="4"/>
                </a:cxn>
                <a:cxn ang="0">
                  <a:pos x="0" y="0"/>
                </a:cxn>
                <a:cxn ang="0">
                  <a:pos x="0" y="196"/>
                </a:cxn>
              </a:cxnLst>
              <a:rect l="0" t="0" r="r" b="b"/>
              <a:pathLst>
                <a:path w="5762" h="385">
                  <a:moveTo>
                    <a:pt x="0" y="196"/>
                  </a:moveTo>
                  <a:cubicBezTo>
                    <a:pt x="1667" y="385"/>
                    <a:pt x="2275" y="93"/>
                    <a:pt x="5762" y="188"/>
                  </a:cubicBezTo>
                  <a:lnTo>
                    <a:pt x="5762" y="4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767676"/>
                </a:gs>
              </a:gsLst>
              <a:lin ang="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096" name="Freeform 24"/>
            <p:cNvSpPr>
              <a:spLocks/>
            </p:cNvSpPr>
            <p:nvPr/>
          </p:nvSpPr>
          <p:spPr bwMode="ltGray">
            <a:xfrm rot="16200000" flipH="1">
              <a:off x="-1584" y="2062"/>
              <a:ext cx="4319" cy="189"/>
            </a:xfrm>
            <a:custGeom>
              <a:avLst/>
              <a:gdLst/>
              <a:ahLst/>
              <a:cxnLst>
                <a:cxn ang="0">
                  <a:pos x="0" y="28"/>
                </a:cxn>
                <a:cxn ang="0">
                  <a:pos x="5761" y="0"/>
                </a:cxn>
                <a:cxn ang="0">
                  <a:pos x="5761" y="189"/>
                </a:cxn>
                <a:cxn ang="0">
                  <a:pos x="1" y="189"/>
                </a:cxn>
                <a:cxn ang="0">
                  <a:pos x="0" y="28"/>
                </a:cxn>
              </a:cxnLst>
              <a:rect l="0" t="0" r="r" b="b"/>
              <a:pathLst>
                <a:path w="5761" h="189">
                  <a:moveTo>
                    <a:pt x="0" y="28"/>
                  </a:moveTo>
                  <a:cubicBezTo>
                    <a:pt x="961" y="0"/>
                    <a:pt x="4971" y="161"/>
                    <a:pt x="5761" y="0"/>
                  </a:cubicBezTo>
                  <a:lnTo>
                    <a:pt x="5761" y="189"/>
                  </a:lnTo>
                  <a:lnTo>
                    <a:pt x="1" y="189"/>
                  </a:lnTo>
                  <a:lnTo>
                    <a:pt x="0" y="28"/>
                  </a:lnTo>
                  <a:close/>
                </a:path>
              </a:pathLst>
            </a:custGeom>
            <a:gradFill rotWithShape="0">
              <a:gsLst>
                <a:gs pos="0">
                  <a:srgbClr val="767676"/>
                </a:gs>
                <a:gs pos="100000">
                  <a:schemeClr val="bg1"/>
                </a:gs>
              </a:gsLst>
              <a:lin ang="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3097" name="Rectangle 25"/>
          <p:cNvSpPr>
            <a:spLocks noGrp="1" noChangeArrowheads="1"/>
          </p:cNvSpPr>
          <p:nvPr>
            <p:ph type="title"/>
          </p:nvPr>
        </p:nvSpPr>
        <p:spPr bwMode="auto">
          <a:xfrm>
            <a:off x="1173163" y="4572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Clique para editar o estilo do título mestre</a:t>
            </a:r>
          </a:p>
        </p:txBody>
      </p:sp>
      <p:sp>
        <p:nvSpPr>
          <p:cNvPr id="3098" name="Rectangle 2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73163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Clique para editar os estilos do texto mestre</a:t>
            </a:r>
          </a:p>
          <a:p>
            <a:pPr lvl="1"/>
            <a:r>
              <a:rPr lang="en-US"/>
              <a:t>Segundo nível</a:t>
            </a:r>
          </a:p>
          <a:p>
            <a:pPr lvl="2"/>
            <a:r>
              <a:rPr lang="en-US"/>
              <a:t>Terceiro nível</a:t>
            </a:r>
          </a:p>
          <a:p>
            <a:pPr lvl="3"/>
            <a:r>
              <a:rPr lang="en-US"/>
              <a:t>Quarto nível</a:t>
            </a:r>
          </a:p>
          <a:p>
            <a:pPr lvl="4"/>
            <a:r>
              <a:rPr lang="en-US"/>
              <a:t>Quinto nível</a:t>
            </a:r>
          </a:p>
        </p:txBody>
      </p:sp>
      <p:sp>
        <p:nvSpPr>
          <p:cNvPr id="3099" name="Rectangle 2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73163" y="6265863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>
                <a:latin typeface="+mn-lt"/>
              </a:defRPr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3100" name="Rectangle 2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814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>
                <a:latin typeface="+mn-lt"/>
              </a:defRPr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3101" name="Rectangle 2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latin typeface="+mn-lt"/>
              </a:defRPr>
            </a:lvl1pPr>
          </a:lstStyle>
          <a:p>
            <a:fld id="{C97A5A41-FC7D-4180-91EE-C6BB8F5310D8}" type="slidenum">
              <a:rPr lang="en-US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Monotype Sorts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pt-BR"/>
              <a:t>Programação </a:t>
            </a:r>
            <a:r>
              <a:rPr lang="pt-BR" dirty="0"/>
              <a:t>Orientada a Objetos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66813" y="3886200"/>
            <a:ext cx="6400800" cy="1371600"/>
          </a:xfrm>
        </p:spPr>
        <p:txBody>
          <a:bodyPr/>
          <a:lstStyle/>
          <a:p>
            <a:pPr algn="ctr"/>
            <a:r>
              <a:rPr lang="pt-BR" dirty="0"/>
              <a:t>- Java e NetBeans 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88C6E820-BCD7-47D6-8B75-1885F510C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pt-BR"/>
              <a:t>Dimas F. Cardoso</a:t>
            </a:r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3A8B3AC8-F4A3-4990-AEBA-A0F4750DC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/>
              <a:t>Fatec-Sorocaba  </a:t>
            </a: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44067503-BBBA-434C-833C-B0AE2627CE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73163" y="304800"/>
            <a:ext cx="7772400" cy="457200"/>
          </a:xfr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2700000" scaled="1"/>
          </a:gradFill>
        </p:spPr>
        <p:txBody>
          <a:bodyPr/>
          <a:lstStyle/>
          <a:p>
            <a:pPr algn="ctr"/>
            <a:r>
              <a:rPr lang="pt-BR" altLang="pt-BR" sz="3600">
                <a:solidFill>
                  <a:schemeClr val="bg1"/>
                </a:solidFill>
              </a:rPr>
              <a:t>Estrutura Básica</a:t>
            </a:r>
            <a:endParaRPr lang="pt-BR" altLang="pt-BR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6CEDC8D2-FEF6-4030-B88E-4FBA217DA8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47800" y="1752600"/>
            <a:ext cx="7372672" cy="4724400"/>
          </a:xfrm>
        </p:spPr>
        <p:txBody>
          <a:bodyPr/>
          <a:lstStyle/>
          <a:p>
            <a:pPr>
              <a:buFont typeface="Monotype Sorts" pitchFamily="2" charset="2"/>
              <a:buNone/>
            </a:pPr>
            <a:r>
              <a:rPr lang="pt-BR" altLang="pt-BR" sz="2800" dirty="0" err="1"/>
              <a:t>public</a:t>
            </a:r>
            <a:r>
              <a:rPr lang="pt-BR" altLang="pt-BR" sz="2800" dirty="0">
                <a:solidFill>
                  <a:schemeClr val="accent2"/>
                </a:solidFill>
              </a:rPr>
              <a:t> </a:t>
            </a:r>
            <a:r>
              <a:rPr lang="pt-BR" altLang="pt-BR" sz="2800" dirty="0" err="1">
                <a:solidFill>
                  <a:schemeClr val="accent2"/>
                </a:solidFill>
              </a:rPr>
              <a:t>class</a:t>
            </a:r>
            <a:r>
              <a:rPr lang="pt-BR" altLang="pt-BR" sz="2800" dirty="0">
                <a:solidFill>
                  <a:schemeClr val="accent2"/>
                </a:solidFill>
              </a:rPr>
              <a:t>  </a:t>
            </a:r>
            <a:r>
              <a:rPr lang="pt-BR" altLang="pt-BR" sz="2800" dirty="0"/>
              <a:t>&lt;nome da aplicação&gt; </a:t>
            </a:r>
            <a:r>
              <a:rPr lang="pt-BR" altLang="pt-BR" sz="2800" dirty="0">
                <a:solidFill>
                  <a:schemeClr val="accent2"/>
                </a:solidFill>
              </a:rPr>
              <a:t>{</a:t>
            </a:r>
            <a:endParaRPr lang="pt-BR" altLang="pt-BR" sz="2800" dirty="0"/>
          </a:p>
          <a:p>
            <a:pPr>
              <a:buFont typeface="Monotype Sorts" pitchFamily="2" charset="2"/>
              <a:buNone/>
            </a:pPr>
            <a:r>
              <a:rPr lang="pt-BR" altLang="pt-BR" sz="2800" dirty="0"/>
              <a:t>    </a:t>
            </a:r>
            <a:r>
              <a:rPr lang="pt-BR" altLang="pt-BR" sz="2800" dirty="0" err="1">
                <a:solidFill>
                  <a:srgbClr val="99CC00"/>
                </a:solidFill>
              </a:rPr>
              <a:t>public</a:t>
            </a:r>
            <a:r>
              <a:rPr lang="pt-BR" altLang="pt-BR" sz="2800" dirty="0">
                <a:solidFill>
                  <a:srgbClr val="99CC00"/>
                </a:solidFill>
              </a:rPr>
              <a:t> </a:t>
            </a:r>
            <a:r>
              <a:rPr lang="pt-BR" altLang="pt-BR" sz="2800" b="1" dirty="0" err="1">
                <a:solidFill>
                  <a:srgbClr val="FF3300"/>
                </a:solidFill>
              </a:rPr>
              <a:t>static</a:t>
            </a:r>
            <a:r>
              <a:rPr lang="pt-BR" altLang="pt-BR" sz="2800" b="1" dirty="0">
                <a:solidFill>
                  <a:srgbClr val="FF3300"/>
                </a:solidFill>
              </a:rPr>
              <a:t> </a:t>
            </a:r>
            <a:r>
              <a:rPr lang="pt-BR" altLang="pt-BR" sz="2800" b="1" dirty="0" err="1">
                <a:solidFill>
                  <a:srgbClr val="FF3300"/>
                </a:solidFill>
              </a:rPr>
              <a:t>void</a:t>
            </a:r>
            <a:r>
              <a:rPr lang="pt-BR" altLang="pt-BR" sz="2800" dirty="0">
                <a:solidFill>
                  <a:srgbClr val="99CC00"/>
                </a:solidFill>
              </a:rPr>
              <a:t> </a:t>
            </a:r>
            <a:r>
              <a:rPr lang="pt-BR" altLang="pt-BR" sz="2800" dirty="0" err="1">
                <a:solidFill>
                  <a:srgbClr val="99CC00"/>
                </a:solidFill>
              </a:rPr>
              <a:t>main</a:t>
            </a:r>
            <a:r>
              <a:rPr lang="pt-BR" altLang="pt-BR" sz="2800" dirty="0">
                <a:solidFill>
                  <a:srgbClr val="99CC00"/>
                </a:solidFill>
              </a:rPr>
              <a:t>(</a:t>
            </a:r>
            <a:r>
              <a:rPr lang="pt-BR" altLang="pt-BR" sz="2800" b="1" dirty="0" err="1">
                <a:solidFill>
                  <a:srgbClr val="FF3300"/>
                </a:solidFill>
              </a:rPr>
              <a:t>String</a:t>
            </a:r>
            <a:r>
              <a:rPr lang="pt-BR" altLang="pt-BR" sz="2800" b="1" dirty="0">
                <a:solidFill>
                  <a:srgbClr val="FF3300"/>
                </a:solidFill>
              </a:rPr>
              <a:t> </a:t>
            </a:r>
            <a:r>
              <a:rPr lang="pt-BR" altLang="pt-BR" sz="2800" b="1" dirty="0" err="1">
                <a:solidFill>
                  <a:srgbClr val="FF3300"/>
                </a:solidFill>
              </a:rPr>
              <a:t>args</a:t>
            </a:r>
            <a:r>
              <a:rPr lang="pt-BR" altLang="pt-BR" sz="2800" b="1" dirty="0">
                <a:solidFill>
                  <a:srgbClr val="FF3300"/>
                </a:solidFill>
              </a:rPr>
              <a:t>[ ]</a:t>
            </a:r>
            <a:r>
              <a:rPr lang="pt-BR" altLang="pt-BR" sz="2800" dirty="0">
                <a:solidFill>
                  <a:srgbClr val="99CC00"/>
                </a:solidFill>
              </a:rPr>
              <a:t>) {</a:t>
            </a:r>
          </a:p>
          <a:p>
            <a:pPr>
              <a:buFont typeface="Monotype Sorts" pitchFamily="2" charset="2"/>
              <a:buNone/>
            </a:pPr>
            <a:endParaRPr lang="pt-BR" altLang="pt-BR" sz="2800" dirty="0">
              <a:solidFill>
                <a:srgbClr val="99CC00"/>
              </a:solidFill>
            </a:endParaRPr>
          </a:p>
          <a:p>
            <a:pPr>
              <a:buFont typeface="Monotype Sorts" pitchFamily="2" charset="2"/>
              <a:buNone/>
            </a:pPr>
            <a:r>
              <a:rPr lang="pt-BR" altLang="pt-BR" sz="2800" dirty="0">
                <a:solidFill>
                  <a:srgbClr val="99CC00"/>
                </a:solidFill>
              </a:rPr>
              <a:t>    </a:t>
            </a:r>
          </a:p>
          <a:p>
            <a:pPr>
              <a:buFont typeface="Monotype Sorts" pitchFamily="2" charset="2"/>
              <a:buNone/>
            </a:pPr>
            <a:endParaRPr lang="pt-BR" altLang="pt-BR" sz="2800" dirty="0">
              <a:solidFill>
                <a:srgbClr val="99CC00"/>
              </a:solidFill>
            </a:endParaRPr>
          </a:p>
          <a:p>
            <a:pPr>
              <a:buFont typeface="Monotype Sorts" pitchFamily="2" charset="2"/>
              <a:buNone/>
            </a:pPr>
            <a:r>
              <a:rPr lang="pt-BR" altLang="pt-BR" sz="2800" dirty="0">
                <a:solidFill>
                  <a:srgbClr val="99CC00"/>
                </a:solidFill>
              </a:rPr>
              <a:t>    }</a:t>
            </a:r>
          </a:p>
          <a:p>
            <a:pPr>
              <a:buFont typeface="Monotype Sorts" pitchFamily="2" charset="2"/>
              <a:buNone/>
            </a:pPr>
            <a:r>
              <a:rPr lang="pt-BR" altLang="pt-BR" sz="2800" dirty="0">
                <a:solidFill>
                  <a:schemeClr val="accent2"/>
                </a:solidFill>
              </a:rPr>
              <a:t>}</a:t>
            </a:r>
            <a:endParaRPr lang="pt-BR" altLang="pt-BR" sz="2800" dirty="0"/>
          </a:p>
        </p:txBody>
      </p:sp>
      <p:sp>
        <p:nvSpPr>
          <p:cNvPr id="5124" name="Text Box 4">
            <a:extLst>
              <a:ext uri="{FF2B5EF4-FFF2-40B4-BE49-F238E27FC236}">
                <a16:creationId xmlns:a16="http://schemas.microsoft.com/office/drawing/2014/main" id="{900DC943-CFD5-4899-B914-9D00B82166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2895600"/>
            <a:ext cx="4114800" cy="1552575"/>
          </a:xfrm>
          <a:prstGeom prst="rect">
            <a:avLst/>
          </a:prstGeom>
          <a:solidFill>
            <a:srgbClr val="FFFF66"/>
          </a:solidFill>
          <a:ln>
            <a:noFill/>
          </a:ln>
          <a:effectLst>
            <a:prstShdw prst="shdw13" dist="53882" dir="13500000">
              <a:srgbClr val="808080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endParaRPr lang="pt-BR" altLang="pt-BR" b="1"/>
          </a:p>
          <a:p>
            <a:pPr algn="ctr">
              <a:spcBef>
                <a:spcPct val="50000"/>
              </a:spcBef>
            </a:pPr>
            <a:r>
              <a:rPr lang="pt-BR" altLang="pt-BR" b="1"/>
              <a:t>corpo da aplicação</a:t>
            </a:r>
          </a:p>
          <a:p>
            <a:pPr algn="ctr">
              <a:spcBef>
                <a:spcPct val="50000"/>
              </a:spcBef>
            </a:pPr>
            <a:endParaRPr lang="pt-BR" alt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0E5AF4F3-D003-4649-A526-B274E64EB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pt-BR"/>
              <a:t>Dimas F. Cardoso</a:t>
            </a:r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E44D898F-5EAB-4D00-B8B7-989E304ED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/>
              <a:t>Fatec-Sorocaba  </a:t>
            </a: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7C56D10F-E0C7-47A5-8A98-6F3B8FF01D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73163" y="304800"/>
            <a:ext cx="7772400" cy="457200"/>
          </a:xfr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2700000" scaled="1"/>
          </a:gradFill>
        </p:spPr>
        <p:txBody>
          <a:bodyPr/>
          <a:lstStyle/>
          <a:p>
            <a:pPr algn="ctr"/>
            <a:r>
              <a:rPr lang="pt-BR" altLang="pt-BR" sz="3600">
                <a:solidFill>
                  <a:schemeClr val="bg1"/>
                </a:solidFill>
              </a:rPr>
              <a:t>Estrutura Básica</a:t>
            </a:r>
            <a:endParaRPr lang="pt-BR" altLang="pt-BR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FD3D60D-CE47-4BE7-B999-6A76CD2F88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0600" y="1676400"/>
            <a:ext cx="8153400" cy="3124200"/>
          </a:xfrm>
        </p:spPr>
        <p:txBody>
          <a:bodyPr/>
          <a:lstStyle/>
          <a:p>
            <a:pPr>
              <a:buFont typeface="Monotype Sorts" pitchFamily="2" charset="2"/>
              <a:buNone/>
            </a:pPr>
            <a:endParaRPr lang="pt-BR" altLang="pt-BR" sz="2600" b="1" dirty="0">
              <a:latin typeface="Courier New" panose="02070309020205020404" pitchFamily="49" charset="0"/>
            </a:endParaRPr>
          </a:p>
          <a:p>
            <a:pPr>
              <a:buFont typeface="Monotype Sorts" pitchFamily="2" charset="2"/>
              <a:buNone/>
            </a:pPr>
            <a:r>
              <a:rPr lang="pt-BR" altLang="pt-BR" sz="2400" b="1" dirty="0" err="1">
                <a:latin typeface="Courier New" panose="02070309020205020404" pitchFamily="49" charset="0"/>
              </a:rPr>
              <a:t>public</a:t>
            </a:r>
            <a:r>
              <a:rPr lang="pt-BR" altLang="pt-BR" sz="2400" b="1" dirty="0">
                <a:solidFill>
                  <a:srgbClr val="2A17B5"/>
                </a:solidFill>
                <a:latin typeface="Courier New" panose="02070309020205020404" pitchFamily="49" charset="0"/>
              </a:rPr>
              <a:t> </a:t>
            </a:r>
            <a:r>
              <a:rPr lang="pt-BR" altLang="pt-BR" sz="2400" b="1" dirty="0" err="1">
                <a:solidFill>
                  <a:srgbClr val="2A17B5"/>
                </a:solidFill>
                <a:latin typeface="Courier New" panose="02070309020205020404" pitchFamily="49" charset="0"/>
              </a:rPr>
              <a:t>class</a:t>
            </a:r>
            <a:r>
              <a:rPr lang="pt-BR" altLang="pt-BR" sz="2400" b="1" dirty="0">
                <a:latin typeface="Courier New" panose="02070309020205020404" pitchFamily="49" charset="0"/>
              </a:rPr>
              <a:t> Exemplo1</a:t>
            </a:r>
            <a:r>
              <a:rPr lang="pt-BR" altLang="pt-BR" sz="2400" b="1" dirty="0">
                <a:solidFill>
                  <a:srgbClr val="2A17B5"/>
                </a:solidFill>
                <a:latin typeface="Courier New" panose="02070309020205020404" pitchFamily="49" charset="0"/>
              </a:rPr>
              <a:t>{</a:t>
            </a:r>
          </a:p>
          <a:p>
            <a:pPr>
              <a:buFont typeface="Monotype Sorts" pitchFamily="2" charset="2"/>
              <a:buNone/>
            </a:pPr>
            <a:r>
              <a:rPr lang="pt-BR" altLang="pt-BR" sz="2400" b="1" dirty="0">
                <a:latin typeface="Courier New" panose="02070309020205020404" pitchFamily="49" charset="0"/>
              </a:rPr>
              <a:t>  </a:t>
            </a:r>
            <a:r>
              <a:rPr lang="pt-BR" altLang="pt-BR" sz="2400" b="1" dirty="0" err="1">
                <a:solidFill>
                  <a:srgbClr val="FF9900"/>
                </a:solidFill>
                <a:latin typeface="Courier New" panose="02070309020205020404" pitchFamily="49" charset="0"/>
              </a:rPr>
              <a:t>public</a:t>
            </a:r>
            <a:r>
              <a:rPr lang="pt-BR" altLang="pt-BR" sz="2400" b="1" dirty="0">
                <a:latin typeface="Courier New" panose="02070309020205020404" pitchFamily="49" charset="0"/>
              </a:rPr>
              <a:t> </a:t>
            </a:r>
            <a:r>
              <a:rPr lang="pt-BR" altLang="pt-BR" sz="2400" b="1" dirty="0" err="1">
                <a:solidFill>
                  <a:srgbClr val="FF9900"/>
                </a:solidFill>
                <a:latin typeface="Courier New" panose="02070309020205020404" pitchFamily="49" charset="0"/>
              </a:rPr>
              <a:t>static</a:t>
            </a:r>
            <a:r>
              <a:rPr lang="pt-BR" altLang="pt-BR" sz="2400" b="1" dirty="0">
                <a:solidFill>
                  <a:srgbClr val="FF9900"/>
                </a:solidFill>
                <a:latin typeface="Courier New" panose="02070309020205020404" pitchFamily="49" charset="0"/>
              </a:rPr>
              <a:t> </a:t>
            </a:r>
            <a:r>
              <a:rPr lang="pt-BR" altLang="pt-BR" sz="2400" b="1" dirty="0" err="1">
                <a:solidFill>
                  <a:srgbClr val="FF9900"/>
                </a:solidFill>
                <a:latin typeface="Courier New" panose="02070309020205020404" pitchFamily="49" charset="0"/>
              </a:rPr>
              <a:t>void</a:t>
            </a:r>
            <a:r>
              <a:rPr lang="pt-BR" altLang="pt-BR" sz="2400" b="1" dirty="0">
                <a:solidFill>
                  <a:srgbClr val="FF9900"/>
                </a:solidFill>
                <a:latin typeface="Courier New" panose="02070309020205020404" pitchFamily="49" charset="0"/>
              </a:rPr>
              <a:t> </a:t>
            </a:r>
            <a:r>
              <a:rPr lang="pt-BR" altLang="pt-BR" sz="2400" b="1" dirty="0" err="1">
                <a:solidFill>
                  <a:srgbClr val="FF9900"/>
                </a:solidFill>
                <a:latin typeface="Courier New" panose="02070309020205020404" pitchFamily="49" charset="0"/>
              </a:rPr>
              <a:t>main</a:t>
            </a:r>
            <a:r>
              <a:rPr lang="pt-BR" altLang="pt-BR" sz="2400" b="1" dirty="0">
                <a:solidFill>
                  <a:srgbClr val="FF9900"/>
                </a:solidFill>
                <a:latin typeface="Courier New" panose="02070309020205020404" pitchFamily="49" charset="0"/>
              </a:rPr>
              <a:t>(</a:t>
            </a:r>
            <a:r>
              <a:rPr lang="pt-BR" altLang="pt-BR" sz="2400" b="1" dirty="0" err="1">
                <a:solidFill>
                  <a:srgbClr val="FF9900"/>
                </a:solidFill>
                <a:latin typeface="Courier New" panose="02070309020205020404" pitchFamily="49" charset="0"/>
              </a:rPr>
              <a:t>String</a:t>
            </a:r>
            <a:r>
              <a:rPr lang="pt-BR" altLang="pt-BR" sz="2400" b="1" dirty="0">
                <a:solidFill>
                  <a:srgbClr val="FF9900"/>
                </a:solidFill>
                <a:latin typeface="Courier New" panose="02070309020205020404" pitchFamily="49" charset="0"/>
              </a:rPr>
              <a:t>[] </a:t>
            </a:r>
            <a:r>
              <a:rPr lang="pt-BR" altLang="pt-BR" sz="2400" b="1" dirty="0" err="1">
                <a:solidFill>
                  <a:srgbClr val="FF9900"/>
                </a:solidFill>
                <a:latin typeface="Courier New" panose="02070309020205020404" pitchFamily="49" charset="0"/>
              </a:rPr>
              <a:t>args</a:t>
            </a:r>
            <a:r>
              <a:rPr lang="pt-BR" altLang="pt-BR" sz="2400" b="1" dirty="0">
                <a:solidFill>
                  <a:srgbClr val="FF9900"/>
                </a:solidFill>
                <a:latin typeface="Courier New" panose="02070309020205020404" pitchFamily="49" charset="0"/>
              </a:rPr>
              <a:t>){</a:t>
            </a:r>
          </a:p>
          <a:p>
            <a:pPr>
              <a:buNone/>
            </a:pPr>
            <a:r>
              <a:rPr lang="pt-BR" altLang="pt-BR" sz="2400" b="1" dirty="0">
                <a:latin typeface="Courier New" panose="02070309020205020404" pitchFamily="49" charset="0"/>
              </a:rPr>
              <a:t>    </a:t>
            </a:r>
            <a:r>
              <a:rPr lang="pt-BR" altLang="pt-BR" sz="1600" b="1" dirty="0" err="1">
                <a:latin typeface="Courier New" panose="02070309020205020404" pitchFamily="49" charset="0"/>
              </a:rPr>
              <a:t>System.out.println</a:t>
            </a:r>
            <a:r>
              <a:rPr lang="pt-BR" altLang="pt-BR" sz="1600" b="1" dirty="0">
                <a:latin typeface="Courier New" panose="02070309020205020404" pitchFamily="49" charset="0"/>
              </a:rPr>
              <a:t>("Programação Orientada a </a:t>
            </a:r>
            <a:r>
              <a:rPr lang="pt-BR" altLang="pt-BR" sz="1600" b="1">
                <a:latin typeface="Courier New" panose="02070309020205020404" pitchFamily="49" charset="0"/>
              </a:rPr>
              <a:t>Objetos");      </a:t>
            </a:r>
            <a:endParaRPr lang="pt-BR" altLang="pt-BR" sz="1600" b="1" dirty="0">
              <a:latin typeface="Courier New" panose="02070309020205020404" pitchFamily="49" charset="0"/>
            </a:endParaRPr>
          </a:p>
          <a:p>
            <a:pPr>
              <a:buFont typeface="Monotype Sorts" pitchFamily="2" charset="2"/>
              <a:buNone/>
            </a:pPr>
            <a:r>
              <a:rPr lang="pt-BR" altLang="pt-BR" sz="2400" b="1" dirty="0">
                <a:latin typeface="Courier New" panose="02070309020205020404" pitchFamily="49" charset="0"/>
              </a:rPr>
              <a:t>  </a:t>
            </a:r>
            <a:r>
              <a:rPr lang="pt-BR" altLang="pt-BR" sz="2400" b="1" dirty="0">
                <a:solidFill>
                  <a:srgbClr val="FF9900"/>
                </a:solidFill>
                <a:latin typeface="Courier New" panose="02070309020205020404" pitchFamily="49" charset="0"/>
              </a:rPr>
              <a:t>}</a:t>
            </a:r>
          </a:p>
          <a:p>
            <a:pPr>
              <a:buFont typeface="Monotype Sorts" pitchFamily="2" charset="2"/>
              <a:buNone/>
            </a:pPr>
            <a:r>
              <a:rPr lang="pt-BR" altLang="pt-BR" sz="2400" b="1" dirty="0">
                <a:solidFill>
                  <a:srgbClr val="2A17B5"/>
                </a:solidFill>
                <a:latin typeface="Courier New" panose="02070309020205020404" pitchFamily="49" charset="0"/>
              </a:rPr>
              <a:t>} </a:t>
            </a:r>
            <a:endParaRPr lang="pt-BR" altLang="pt-BR" sz="2400" b="1" dirty="0">
              <a:solidFill>
                <a:srgbClr val="009900"/>
              </a:solidFill>
              <a:latin typeface="Courier New" panose="02070309020205020404" pitchFamily="49" charset="0"/>
            </a:endParaRPr>
          </a:p>
          <a:p>
            <a:pPr>
              <a:buFont typeface="Monotype Sorts" pitchFamily="2" charset="2"/>
              <a:buNone/>
            </a:pPr>
            <a:endParaRPr lang="pt-BR" altLang="pt-BR" sz="2400" dirty="0"/>
          </a:p>
        </p:txBody>
      </p:sp>
      <p:sp>
        <p:nvSpPr>
          <p:cNvPr id="6149" name="Text Box 5">
            <a:extLst>
              <a:ext uri="{FF2B5EF4-FFF2-40B4-BE49-F238E27FC236}">
                <a16:creationId xmlns:a16="http://schemas.microsoft.com/office/drawing/2014/main" id="{E68A454F-8461-401B-B3F1-16CFBF587D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7613" y="6392863"/>
            <a:ext cx="1371600" cy="304800"/>
          </a:xfrm>
          <a:prstGeom prst="rect">
            <a:avLst/>
          </a:prstGeom>
          <a:solidFill>
            <a:srgbClr val="99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sz="1400" b="1"/>
              <a:t>Exemplo1.java</a:t>
            </a:r>
            <a:endParaRPr lang="pt-BR" alt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FB8E2C51-4386-45DE-A2AE-96DF432DB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pt-BR"/>
              <a:t>Dimas F. Cardoso</a:t>
            </a:r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A5FBE80A-026F-4E43-AC1B-5C3BCF135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/>
              <a:t>Fatec-Sorocaba  </a:t>
            </a:r>
          </a:p>
        </p:txBody>
      </p:sp>
      <p:sp>
        <p:nvSpPr>
          <p:cNvPr id="7170" name="Rectangle 2">
            <a:extLst>
              <a:ext uri="{FF2B5EF4-FFF2-40B4-BE49-F238E27FC236}">
                <a16:creationId xmlns:a16="http://schemas.microsoft.com/office/drawing/2014/main" id="{1A784C02-BA09-470D-B4C7-F0D16135CF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73163" y="191393"/>
            <a:ext cx="7772400" cy="457200"/>
          </a:xfr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2700000" scaled="1"/>
          </a:gradFill>
        </p:spPr>
        <p:txBody>
          <a:bodyPr/>
          <a:lstStyle/>
          <a:p>
            <a:pPr algn="ctr"/>
            <a:r>
              <a:rPr lang="pt-BR" altLang="pt-BR" sz="3600">
                <a:solidFill>
                  <a:schemeClr val="bg1"/>
                </a:solidFill>
              </a:rPr>
              <a:t>Declaração de Variáveis</a:t>
            </a:r>
            <a:endParaRPr lang="pt-BR" altLang="pt-BR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A873BCE5-9B56-4CBB-90CB-D6E5E66D5C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28427" y="836711"/>
            <a:ext cx="7772400" cy="5429151"/>
          </a:xfrm>
        </p:spPr>
        <p:txBody>
          <a:bodyPr/>
          <a:lstStyle/>
          <a:p>
            <a:pPr>
              <a:buFont typeface="Monotype Sorts" pitchFamily="2" charset="2"/>
              <a:buNone/>
            </a:pPr>
            <a:r>
              <a:rPr lang="pt-BR" altLang="pt-BR" sz="1800" b="1" dirty="0" err="1">
                <a:latin typeface="Courier New" panose="02070309020205020404" pitchFamily="49" charset="0"/>
              </a:rPr>
              <a:t>public</a:t>
            </a:r>
            <a:r>
              <a:rPr lang="pt-BR" altLang="pt-BR" sz="1800" b="1" dirty="0">
                <a:latin typeface="Courier New" panose="02070309020205020404" pitchFamily="49" charset="0"/>
              </a:rPr>
              <a:t> </a:t>
            </a:r>
            <a:r>
              <a:rPr lang="pt-BR" altLang="pt-BR" sz="1800" b="1" dirty="0" err="1">
                <a:latin typeface="Courier New" panose="02070309020205020404" pitchFamily="49" charset="0"/>
              </a:rPr>
              <a:t>class</a:t>
            </a:r>
            <a:r>
              <a:rPr lang="pt-BR" altLang="pt-BR" sz="1800" b="1" dirty="0">
                <a:latin typeface="Courier New" panose="02070309020205020404" pitchFamily="49" charset="0"/>
              </a:rPr>
              <a:t> Exemplo2{</a:t>
            </a:r>
          </a:p>
          <a:p>
            <a:pPr>
              <a:buFont typeface="Monotype Sorts" pitchFamily="2" charset="2"/>
              <a:buNone/>
            </a:pPr>
            <a:r>
              <a:rPr lang="pt-BR" altLang="pt-BR" sz="1800" b="1" dirty="0">
                <a:latin typeface="Courier New" panose="02070309020205020404" pitchFamily="49" charset="0"/>
              </a:rPr>
              <a:t>  </a:t>
            </a:r>
            <a:r>
              <a:rPr lang="pt-BR" altLang="pt-BR" sz="1800" b="1" dirty="0" err="1">
                <a:latin typeface="Courier New" panose="02070309020205020404" pitchFamily="49" charset="0"/>
              </a:rPr>
              <a:t>public</a:t>
            </a:r>
            <a:r>
              <a:rPr lang="pt-BR" altLang="pt-BR" sz="1800" b="1" dirty="0">
                <a:latin typeface="Courier New" panose="02070309020205020404" pitchFamily="49" charset="0"/>
              </a:rPr>
              <a:t> </a:t>
            </a:r>
            <a:r>
              <a:rPr lang="pt-BR" altLang="pt-BR" sz="1800" b="1" dirty="0" err="1">
                <a:latin typeface="Courier New" panose="02070309020205020404" pitchFamily="49" charset="0"/>
              </a:rPr>
              <a:t>static</a:t>
            </a:r>
            <a:r>
              <a:rPr lang="pt-BR" altLang="pt-BR" sz="1800" b="1" dirty="0">
                <a:latin typeface="Courier New" panose="02070309020205020404" pitchFamily="49" charset="0"/>
              </a:rPr>
              <a:t> </a:t>
            </a:r>
            <a:r>
              <a:rPr lang="pt-BR" altLang="pt-BR" sz="1800" b="1" dirty="0" err="1">
                <a:latin typeface="Courier New" panose="02070309020205020404" pitchFamily="49" charset="0"/>
              </a:rPr>
              <a:t>void</a:t>
            </a:r>
            <a:r>
              <a:rPr lang="pt-BR" altLang="pt-BR" sz="1800" b="1" dirty="0">
                <a:latin typeface="Courier New" panose="02070309020205020404" pitchFamily="49" charset="0"/>
              </a:rPr>
              <a:t> </a:t>
            </a:r>
            <a:r>
              <a:rPr lang="pt-BR" altLang="pt-BR" sz="1800" b="1" dirty="0" err="1">
                <a:latin typeface="Courier New" panose="02070309020205020404" pitchFamily="49" charset="0"/>
              </a:rPr>
              <a:t>main</a:t>
            </a:r>
            <a:r>
              <a:rPr lang="pt-BR" altLang="pt-BR" sz="1800" b="1" dirty="0">
                <a:latin typeface="Courier New" panose="02070309020205020404" pitchFamily="49" charset="0"/>
              </a:rPr>
              <a:t>(</a:t>
            </a:r>
            <a:r>
              <a:rPr lang="pt-BR" altLang="pt-BR" sz="1800" b="1" dirty="0" err="1">
                <a:latin typeface="Courier New" panose="02070309020205020404" pitchFamily="49" charset="0"/>
              </a:rPr>
              <a:t>String</a:t>
            </a:r>
            <a:r>
              <a:rPr lang="pt-BR" altLang="pt-BR" sz="1800" b="1" dirty="0">
                <a:latin typeface="Courier New" panose="02070309020205020404" pitchFamily="49" charset="0"/>
              </a:rPr>
              <a:t>[] </a:t>
            </a:r>
            <a:r>
              <a:rPr lang="pt-BR" altLang="pt-BR" sz="1800" b="1" dirty="0" err="1">
                <a:latin typeface="Courier New" panose="02070309020205020404" pitchFamily="49" charset="0"/>
              </a:rPr>
              <a:t>args</a:t>
            </a:r>
            <a:r>
              <a:rPr lang="pt-BR" altLang="pt-BR" sz="1800" b="1" dirty="0">
                <a:latin typeface="Courier New" panose="02070309020205020404" pitchFamily="49" charset="0"/>
              </a:rPr>
              <a:t>){</a:t>
            </a:r>
          </a:p>
          <a:p>
            <a:pPr>
              <a:buFont typeface="Monotype Sorts" pitchFamily="2" charset="2"/>
              <a:buNone/>
            </a:pPr>
            <a:r>
              <a:rPr lang="pt-BR" altLang="pt-BR" sz="1800" b="1" dirty="0">
                <a:latin typeface="Courier New" panose="02070309020205020404" pitchFamily="49" charset="0"/>
              </a:rPr>
              <a:t>     </a:t>
            </a:r>
            <a:r>
              <a:rPr lang="pt-BR" altLang="pt-BR" sz="1800" b="1" dirty="0" err="1">
                <a:latin typeface="Courier New" panose="02070309020205020404" pitchFamily="49" charset="0"/>
              </a:rPr>
              <a:t>int</a:t>
            </a:r>
            <a:r>
              <a:rPr lang="pt-BR" altLang="pt-BR" sz="1800" b="1" dirty="0">
                <a:latin typeface="Courier New" panose="02070309020205020404" pitchFamily="49" charset="0"/>
              </a:rPr>
              <a:t> idade;</a:t>
            </a:r>
          </a:p>
          <a:p>
            <a:pPr>
              <a:buFont typeface="Monotype Sorts" pitchFamily="2" charset="2"/>
              <a:buNone/>
            </a:pPr>
            <a:r>
              <a:rPr lang="pt-BR" altLang="pt-BR" sz="1800" b="1" dirty="0">
                <a:latin typeface="Courier New" panose="02070309020205020404" pitchFamily="49" charset="0"/>
              </a:rPr>
              <a:t>     </a:t>
            </a:r>
            <a:r>
              <a:rPr lang="pt-BR" altLang="pt-BR" sz="1800" b="1" dirty="0" err="1">
                <a:latin typeface="Courier New" panose="02070309020205020404" pitchFamily="49" charset="0"/>
              </a:rPr>
              <a:t>double</a:t>
            </a:r>
            <a:r>
              <a:rPr lang="pt-BR" altLang="pt-BR" sz="1800" b="1" dirty="0">
                <a:latin typeface="Courier New" panose="02070309020205020404" pitchFamily="49" charset="0"/>
              </a:rPr>
              <a:t> altura;</a:t>
            </a:r>
          </a:p>
          <a:p>
            <a:pPr>
              <a:buNone/>
            </a:pPr>
            <a:r>
              <a:rPr lang="pt-BR" altLang="pt-BR" sz="1800" b="1" dirty="0">
                <a:latin typeface="Courier New" panose="02070309020205020404" pitchFamily="49" charset="0"/>
              </a:rPr>
              <a:t>     char sexo;</a:t>
            </a:r>
          </a:p>
          <a:p>
            <a:pPr>
              <a:buNone/>
            </a:pPr>
            <a:r>
              <a:rPr lang="pt-BR" altLang="pt-BR" sz="1800" b="1" dirty="0">
                <a:latin typeface="Courier New" panose="02070309020205020404" pitchFamily="49" charset="0"/>
              </a:rPr>
              <a:t>     </a:t>
            </a:r>
            <a:r>
              <a:rPr lang="pt-BR" altLang="pt-BR" sz="1800" b="1" dirty="0" err="1">
                <a:latin typeface="Courier New" panose="02070309020205020404" pitchFamily="49" charset="0"/>
              </a:rPr>
              <a:t>String</a:t>
            </a:r>
            <a:r>
              <a:rPr lang="pt-BR" altLang="pt-BR" sz="1800" b="1" dirty="0">
                <a:latin typeface="Courier New" panose="02070309020205020404" pitchFamily="49" charset="0"/>
              </a:rPr>
              <a:t> nome;</a:t>
            </a:r>
          </a:p>
          <a:p>
            <a:pPr>
              <a:buNone/>
            </a:pPr>
            <a:r>
              <a:rPr lang="pt-BR" altLang="pt-BR" sz="1800" b="1" dirty="0">
                <a:latin typeface="Courier New" panose="02070309020205020404" pitchFamily="49" charset="0"/>
              </a:rPr>
              <a:t>     idade = 23;</a:t>
            </a:r>
          </a:p>
          <a:p>
            <a:pPr>
              <a:buNone/>
            </a:pPr>
            <a:r>
              <a:rPr lang="pt-BR" altLang="pt-BR" sz="1800" b="1" dirty="0">
                <a:latin typeface="Courier New" panose="02070309020205020404" pitchFamily="49" charset="0"/>
              </a:rPr>
              <a:t>     altura = 1.75;</a:t>
            </a:r>
          </a:p>
          <a:p>
            <a:pPr>
              <a:buNone/>
            </a:pPr>
            <a:r>
              <a:rPr lang="pt-BR" altLang="pt-BR" sz="1800" b="1" dirty="0">
                <a:latin typeface="Courier New" panose="02070309020205020404" pitchFamily="49" charset="0"/>
              </a:rPr>
              <a:t>     sexo = 'M';</a:t>
            </a:r>
          </a:p>
          <a:p>
            <a:pPr>
              <a:buNone/>
            </a:pPr>
            <a:r>
              <a:rPr lang="pt-BR" altLang="pt-BR" sz="1800" b="1" dirty="0">
                <a:latin typeface="Courier New" panose="02070309020205020404" pitchFamily="49" charset="0"/>
              </a:rPr>
              <a:t>     nome = "Carlos Silveira";</a:t>
            </a:r>
          </a:p>
          <a:p>
            <a:pPr>
              <a:buNone/>
            </a:pPr>
            <a:r>
              <a:rPr lang="pt-BR" altLang="pt-BR" sz="1800" b="1" dirty="0">
                <a:latin typeface="Courier New" panose="02070309020205020404" pitchFamily="49" charset="0"/>
              </a:rPr>
              <a:t>     </a:t>
            </a:r>
            <a:r>
              <a:rPr lang="pt-BR" altLang="pt-BR" sz="1800" b="1" dirty="0" err="1">
                <a:latin typeface="Courier New" panose="02070309020205020404" pitchFamily="49" charset="0"/>
              </a:rPr>
              <a:t>System.out.println</a:t>
            </a:r>
            <a:r>
              <a:rPr lang="pt-BR" altLang="pt-BR" sz="1800" b="1" dirty="0">
                <a:latin typeface="Courier New" panose="02070309020205020404" pitchFamily="49" charset="0"/>
              </a:rPr>
              <a:t>("Nome  : " + nome);</a:t>
            </a:r>
          </a:p>
          <a:p>
            <a:pPr>
              <a:buNone/>
            </a:pPr>
            <a:r>
              <a:rPr lang="pt-BR" altLang="pt-BR" sz="1800" b="1" dirty="0">
                <a:latin typeface="Courier New" panose="02070309020205020404" pitchFamily="49" charset="0"/>
              </a:rPr>
              <a:t>     </a:t>
            </a:r>
            <a:r>
              <a:rPr lang="pt-BR" altLang="pt-BR" sz="1800" b="1" dirty="0" err="1">
                <a:latin typeface="Courier New" panose="02070309020205020404" pitchFamily="49" charset="0"/>
              </a:rPr>
              <a:t>System.out.println</a:t>
            </a:r>
            <a:r>
              <a:rPr lang="pt-BR" altLang="pt-BR" sz="1800" b="1" dirty="0">
                <a:latin typeface="Courier New" panose="02070309020205020404" pitchFamily="49" charset="0"/>
              </a:rPr>
              <a:t>("Sexo  : " + sexo);</a:t>
            </a:r>
          </a:p>
          <a:p>
            <a:pPr>
              <a:buNone/>
            </a:pPr>
            <a:r>
              <a:rPr lang="pt-BR" altLang="pt-BR" sz="1800" b="1" dirty="0">
                <a:latin typeface="Courier New" panose="02070309020205020404" pitchFamily="49" charset="0"/>
              </a:rPr>
              <a:t>     </a:t>
            </a:r>
            <a:r>
              <a:rPr lang="pt-BR" altLang="pt-BR" sz="1800" b="1" dirty="0" err="1">
                <a:latin typeface="Courier New" panose="02070309020205020404" pitchFamily="49" charset="0"/>
              </a:rPr>
              <a:t>System.out.println</a:t>
            </a:r>
            <a:r>
              <a:rPr lang="pt-BR" altLang="pt-BR" sz="1800" b="1" dirty="0">
                <a:latin typeface="Courier New" panose="02070309020205020404" pitchFamily="49" charset="0"/>
              </a:rPr>
              <a:t>("Idade : " + idade);</a:t>
            </a:r>
          </a:p>
          <a:p>
            <a:pPr>
              <a:buNone/>
            </a:pPr>
            <a:r>
              <a:rPr lang="pt-BR" altLang="pt-BR" sz="1800" b="1" dirty="0">
                <a:latin typeface="Courier New" panose="02070309020205020404" pitchFamily="49" charset="0"/>
              </a:rPr>
              <a:t>     </a:t>
            </a:r>
            <a:r>
              <a:rPr lang="pt-BR" altLang="pt-BR" sz="1800" b="1" dirty="0" err="1">
                <a:latin typeface="Courier New" panose="02070309020205020404" pitchFamily="49" charset="0"/>
              </a:rPr>
              <a:t>System.out.println</a:t>
            </a:r>
            <a:r>
              <a:rPr lang="pt-BR" altLang="pt-BR" sz="1800" b="1" dirty="0">
                <a:latin typeface="Courier New" panose="02070309020205020404" pitchFamily="49" charset="0"/>
              </a:rPr>
              <a:t>("altura: " + altura);</a:t>
            </a:r>
          </a:p>
          <a:p>
            <a:pPr>
              <a:buFont typeface="Monotype Sorts" pitchFamily="2" charset="2"/>
              <a:buNone/>
            </a:pPr>
            <a:r>
              <a:rPr lang="pt-BR" altLang="pt-BR" sz="1800" b="1" dirty="0">
                <a:latin typeface="Courier New" panose="02070309020205020404" pitchFamily="49" charset="0"/>
              </a:rPr>
              <a:t> }</a:t>
            </a:r>
          </a:p>
          <a:p>
            <a:pPr>
              <a:buFont typeface="Monotype Sorts" pitchFamily="2" charset="2"/>
              <a:buNone/>
            </a:pPr>
            <a:r>
              <a:rPr lang="pt-BR" altLang="pt-BR" sz="1800" b="1" dirty="0">
                <a:latin typeface="Courier New" panose="02070309020205020404" pitchFamily="49" charset="0"/>
              </a:rPr>
              <a:t>}</a:t>
            </a:r>
            <a:endParaRPr lang="pt-BR" altLang="pt-BR" sz="1800" dirty="0"/>
          </a:p>
        </p:txBody>
      </p:sp>
      <p:sp>
        <p:nvSpPr>
          <p:cNvPr id="7173" name="Text Box 5">
            <a:extLst>
              <a:ext uri="{FF2B5EF4-FFF2-40B4-BE49-F238E27FC236}">
                <a16:creationId xmlns:a16="http://schemas.microsoft.com/office/drawing/2014/main" id="{2B816566-8395-4585-AD6E-C6A65DF7C3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6400800"/>
            <a:ext cx="1371600" cy="304800"/>
          </a:xfrm>
          <a:prstGeom prst="rect">
            <a:avLst/>
          </a:prstGeom>
          <a:solidFill>
            <a:srgbClr val="99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sz="1400" b="1"/>
              <a:t>Exemplo2.java</a:t>
            </a:r>
            <a:endParaRPr lang="pt-BR" alt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066F4261-48B2-41EC-B0C7-A293E43DA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pt-BR"/>
              <a:t>Dimas F. Cardoso</a:t>
            </a:r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57861D36-FACB-4CDE-9010-D8C1A49DA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/>
              <a:t>Fatec-Sorocaba  </a:t>
            </a:r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D4D0CADB-AA2C-4BBA-8397-9A6E08B8B8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73163" y="304800"/>
            <a:ext cx="7772400" cy="457200"/>
          </a:xfr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2700000" scaled="1"/>
          </a:gradFill>
        </p:spPr>
        <p:txBody>
          <a:bodyPr/>
          <a:lstStyle/>
          <a:p>
            <a:pPr algn="ctr"/>
            <a:r>
              <a:rPr lang="pt-BR" altLang="pt-BR" sz="3600">
                <a:solidFill>
                  <a:schemeClr val="bg1"/>
                </a:solidFill>
              </a:rPr>
              <a:t>Estrutura Condicional</a:t>
            </a:r>
            <a:endParaRPr lang="pt-BR" altLang="pt-BR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2FD8179D-B0EC-4587-9210-226244DE01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3000" y="1772816"/>
            <a:ext cx="7772400" cy="4191000"/>
          </a:xfrm>
        </p:spPr>
        <p:txBody>
          <a:bodyPr/>
          <a:lstStyle/>
          <a:p>
            <a:pPr>
              <a:buFont typeface="Monotype Sorts" pitchFamily="2" charset="2"/>
              <a:buNone/>
            </a:pPr>
            <a:r>
              <a:rPr lang="pt-BR" altLang="pt-BR" sz="1400" b="1" dirty="0" err="1">
                <a:latin typeface="Courier New" panose="02070309020205020404" pitchFamily="49" charset="0"/>
              </a:rPr>
              <a:t>public</a:t>
            </a:r>
            <a:r>
              <a:rPr lang="pt-BR" altLang="pt-BR" sz="1400" b="1" dirty="0">
                <a:latin typeface="Courier New" panose="02070309020205020404" pitchFamily="49" charset="0"/>
              </a:rPr>
              <a:t> </a:t>
            </a:r>
            <a:r>
              <a:rPr lang="pt-BR" altLang="pt-BR" sz="1400" b="1" dirty="0" err="1">
                <a:latin typeface="Courier New" panose="02070309020205020404" pitchFamily="49" charset="0"/>
              </a:rPr>
              <a:t>class</a:t>
            </a:r>
            <a:r>
              <a:rPr lang="pt-BR" altLang="pt-BR" sz="1400" b="1" dirty="0">
                <a:latin typeface="Courier New" panose="02070309020205020404" pitchFamily="49" charset="0"/>
              </a:rPr>
              <a:t> Exemplo3{</a:t>
            </a:r>
          </a:p>
          <a:p>
            <a:pPr>
              <a:buFont typeface="Monotype Sorts" pitchFamily="2" charset="2"/>
              <a:buNone/>
            </a:pPr>
            <a:r>
              <a:rPr lang="pt-BR" altLang="pt-BR" sz="1400" b="1" dirty="0">
                <a:latin typeface="Courier New" panose="02070309020205020404" pitchFamily="49" charset="0"/>
              </a:rPr>
              <a:t>  </a:t>
            </a:r>
            <a:r>
              <a:rPr lang="pt-BR" altLang="pt-BR" sz="1400" b="1" dirty="0" err="1">
                <a:latin typeface="Courier New" panose="02070309020205020404" pitchFamily="49" charset="0"/>
              </a:rPr>
              <a:t>public</a:t>
            </a:r>
            <a:r>
              <a:rPr lang="pt-BR" altLang="pt-BR" sz="1400" b="1" dirty="0">
                <a:latin typeface="Courier New" panose="02070309020205020404" pitchFamily="49" charset="0"/>
              </a:rPr>
              <a:t> </a:t>
            </a:r>
            <a:r>
              <a:rPr lang="pt-BR" altLang="pt-BR" sz="1400" b="1" dirty="0" err="1">
                <a:latin typeface="Courier New" panose="02070309020205020404" pitchFamily="49" charset="0"/>
              </a:rPr>
              <a:t>static</a:t>
            </a:r>
            <a:r>
              <a:rPr lang="pt-BR" altLang="pt-BR" sz="1400" b="1" dirty="0">
                <a:latin typeface="Courier New" panose="02070309020205020404" pitchFamily="49" charset="0"/>
              </a:rPr>
              <a:t> </a:t>
            </a:r>
            <a:r>
              <a:rPr lang="pt-BR" altLang="pt-BR" sz="1400" b="1" dirty="0" err="1">
                <a:latin typeface="Courier New" panose="02070309020205020404" pitchFamily="49" charset="0"/>
              </a:rPr>
              <a:t>void</a:t>
            </a:r>
            <a:r>
              <a:rPr lang="pt-BR" altLang="pt-BR" sz="1400" b="1" dirty="0">
                <a:latin typeface="Courier New" panose="02070309020205020404" pitchFamily="49" charset="0"/>
              </a:rPr>
              <a:t> </a:t>
            </a:r>
            <a:r>
              <a:rPr lang="pt-BR" altLang="pt-BR" sz="1400" b="1" dirty="0" err="1">
                <a:latin typeface="Courier New" panose="02070309020205020404" pitchFamily="49" charset="0"/>
              </a:rPr>
              <a:t>main</a:t>
            </a:r>
            <a:r>
              <a:rPr lang="pt-BR" altLang="pt-BR" sz="1400" b="1" dirty="0">
                <a:latin typeface="Courier New" panose="02070309020205020404" pitchFamily="49" charset="0"/>
              </a:rPr>
              <a:t>(</a:t>
            </a:r>
            <a:r>
              <a:rPr lang="pt-BR" altLang="pt-BR" sz="1400" b="1" dirty="0" err="1">
                <a:latin typeface="Courier New" panose="02070309020205020404" pitchFamily="49" charset="0"/>
              </a:rPr>
              <a:t>String</a:t>
            </a:r>
            <a:r>
              <a:rPr lang="pt-BR" altLang="pt-BR" sz="1400" b="1" dirty="0">
                <a:latin typeface="Courier New" panose="02070309020205020404" pitchFamily="49" charset="0"/>
              </a:rPr>
              <a:t>[] </a:t>
            </a:r>
            <a:r>
              <a:rPr lang="pt-BR" altLang="pt-BR" sz="1400" b="1" dirty="0" err="1">
                <a:latin typeface="Courier New" panose="02070309020205020404" pitchFamily="49" charset="0"/>
              </a:rPr>
              <a:t>args</a:t>
            </a:r>
            <a:r>
              <a:rPr lang="pt-BR" altLang="pt-BR" sz="1400" b="1" dirty="0">
                <a:latin typeface="Courier New" panose="02070309020205020404" pitchFamily="49" charset="0"/>
              </a:rPr>
              <a:t>){</a:t>
            </a:r>
          </a:p>
          <a:p>
            <a:pPr>
              <a:buFont typeface="Monotype Sorts" pitchFamily="2" charset="2"/>
              <a:buNone/>
            </a:pPr>
            <a:r>
              <a:rPr lang="pt-BR" altLang="pt-BR" sz="1400" b="1" dirty="0">
                <a:latin typeface="Courier New" panose="02070309020205020404" pitchFamily="49" charset="0"/>
              </a:rPr>
              <a:t>    </a:t>
            </a:r>
            <a:r>
              <a:rPr lang="pt-BR" altLang="pt-BR" sz="1400" b="1" dirty="0" err="1">
                <a:latin typeface="Courier New" panose="02070309020205020404" pitchFamily="49" charset="0"/>
              </a:rPr>
              <a:t>int</a:t>
            </a:r>
            <a:r>
              <a:rPr lang="pt-BR" altLang="pt-BR" sz="1400" b="1" dirty="0">
                <a:latin typeface="Courier New" panose="02070309020205020404" pitchFamily="49" charset="0"/>
              </a:rPr>
              <a:t> x; </a:t>
            </a:r>
          </a:p>
          <a:p>
            <a:pPr>
              <a:buFont typeface="Monotype Sorts" pitchFamily="2" charset="2"/>
              <a:buNone/>
            </a:pPr>
            <a:r>
              <a:rPr lang="pt-BR" altLang="pt-BR" sz="1400" b="1" dirty="0">
                <a:latin typeface="Courier New" panose="02070309020205020404" pitchFamily="49" charset="0"/>
              </a:rPr>
              <a:t>     </a:t>
            </a:r>
          </a:p>
          <a:p>
            <a:pPr>
              <a:buFont typeface="Monotype Sorts" pitchFamily="2" charset="2"/>
              <a:buNone/>
            </a:pPr>
            <a:r>
              <a:rPr lang="pt-BR" altLang="pt-BR" sz="1400" b="1" dirty="0">
                <a:latin typeface="Courier New" panose="02070309020205020404" pitchFamily="49" charset="0"/>
              </a:rPr>
              <a:t>    x = </a:t>
            </a:r>
            <a:r>
              <a:rPr lang="pt-BR" altLang="pt-BR" sz="1400" b="1" dirty="0">
                <a:solidFill>
                  <a:srgbClr val="FF3300"/>
                </a:solidFill>
                <a:latin typeface="Courier New" panose="02070309020205020404" pitchFamily="49" charset="0"/>
              </a:rPr>
              <a:t>(</a:t>
            </a:r>
            <a:r>
              <a:rPr lang="pt-BR" altLang="pt-BR" sz="1400" b="1" dirty="0" err="1">
                <a:solidFill>
                  <a:srgbClr val="FF3300"/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1400" b="1" dirty="0">
                <a:solidFill>
                  <a:srgbClr val="FF3300"/>
                </a:solidFill>
                <a:latin typeface="Courier New" panose="02070309020205020404" pitchFamily="49" charset="0"/>
              </a:rPr>
              <a:t>)</a:t>
            </a:r>
            <a:r>
              <a:rPr lang="pt-BR" altLang="pt-BR" sz="1400" b="1" dirty="0">
                <a:latin typeface="Courier New" panose="02070309020205020404" pitchFamily="49" charset="0"/>
              </a:rPr>
              <a:t>(</a:t>
            </a:r>
            <a:r>
              <a:rPr lang="pt-BR" altLang="pt-BR" sz="1400" b="1" dirty="0" err="1">
                <a:solidFill>
                  <a:schemeClr val="bg2"/>
                </a:solidFill>
                <a:latin typeface="Courier New" panose="02070309020205020404" pitchFamily="49" charset="0"/>
              </a:rPr>
              <a:t>Math.random</a:t>
            </a:r>
            <a:r>
              <a:rPr lang="pt-BR" altLang="pt-BR" sz="1400" b="1" dirty="0">
                <a:solidFill>
                  <a:schemeClr val="bg2"/>
                </a:solidFill>
                <a:latin typeface="Courier New" panose="02070309020205020404" pitchFamily="49" charset="0"/>
              </a:rPr>
              <a:t>()</a:t>
            </a:r>
            <a:r>
              <a:rPr lang="pt-BR" altLang="pt-BR" sz="1400" b="1" dirty="0">
                <a:latin typeface="Courier New" panose="02070309020205020404" pitchFamily="49" charset="0"/>
              </a:rPr>
              <a:t>*100);</a:t>
            </a:r>
          </a:p>
          <a:p>
            <a:pPr>
              <a:buFont typeface="Monotype Sorts" pitchFamily="2" charset="2"/>
              <a:buNone/>
            </a:pPr>
            <a:endParaRPr lang="pt-BR" altLang="pt-BR" sz="1400" b="1" dirty="0">
              <a:latin typeface="Courier New" panose="02070309020205020404" pitchFamily="49" charset="0"/>
            </a:endParaRPr>
          </a:p>
          <a:p>
            <a:pPr>
              <a:buFont typeface="Monotype Sorts" pitchFamily="2" charset="2"/>
              <a:buNone/>
            </a:pPr>
            <a:r>
              <a:rPr lang="pt-BR" altLang="pt-BR" sz="1400" b="1" dirty="0">
                <a:latin typeface="Courier New" panose="02070309020205020404" pitchFamily="49" charset="0"/>
              </a:rPr>
              <a:t>    </a:t>
            </a:r>
            <a:r>
              <a:rPr lang="pt-BR" altLang="pt-BR" sz="1400" b="1" dirty="0" err="1">
                <a:solidFill>
                  <a:schemeClr val="bg2"/>
                </a:solidFill>
                <a:latin typeface="Courier New" panose="02070309020205020404" pitchFamily="49" charset="0"/>
              </a:rPr>
              <a:t>if</a:t>
            </a:r>
            <a:r>
              <a:rPr lang="pt-BR" altLang="pt-BR" sz="1400" b="1" dirty="0">
                <a:solidFill>
                  <a:schemeClr val="bg2"/>
                </a:solidFill>
                <a:latin typeface="Courier New" panose="02070309020205020404" pitchFamily="49" charset="0"/>
              </a:rPr>
              <a:t> (</a:t>
            </a:r>
            <a:r>
              <a:rPr lang="pt-BR" altLang="pt-BR" sz="1400" b="1" dirty="0">
                <a:latin typeface="Courier New" panose="02070309020205020404" pitchFamily="49" charset="0"/>
              </a:rPr>
              <a:t>x &lt; 50</a:t>
            </a:r>
            <a:r>
              <a:rPr lang="pt-BR" altLang="pt-BR" sz="1400" b="1" dirty="0">
                <a:solidFill>
                  <a:schemeClr val="bg2"/>
                </a:solidFill>
                <a:latin typeface="Courier New" panose="02070309020205020404" pitchFamily="49" charset="0"/>
              </a:rPr>
              <a:t>){</a:t>
            </a:r>
            <a:r>
              <a:rPr lang="pt-BR" altLang="pt-BR" sz="1400" b="1" dirty="0">
                <a:latin typeface="Courier New" panose="02070309020205020404" pitchFamily="49" charset="0"/>
              </a:rPr>
              <a:t>                         </a:t>
            </a:r>
          </a:p>
          <a:p>
            <a:pPr>
              <a:buFont typeface="Monotype Sorts" pitchFamily="2" charset="2"/>
              <a:buNone/>
            </a:pPr>
            <a:r>
              <a:rPr lang="pt-BR" altLang="pt-BR" sz="1400" b="1" dirty="0">
                <a:latin typeface="Courier New" panose="02070309020205020404" pitchFamily="49" charset="0"/>
              </a:rPr>
              <a:t>       </a:t>
            </a:r>
            <a:r>
              <a:rPr lang="pt-BR" altLang="pt-BR" sz="1400" b="1" dirty="0" err="1">
                <a:latin typeface="Courier New" panose="02070309020205020404" pitchFamily="49" charset="0"/>
              </a:rPr>
              <a:t>System.out.println</a:t>
            </a:r>
            <a:r>
              <a:rPr lang="pt-BR" altLang="pt-BR" sz="1400" b="1" dirty="0">
                <a:latin typeface="Courier New" panose="02070309020205020404" pitchFamily="49" charset="0"/>
              </a:rPr>
              <a:t>("O valor " + x + " e menor que 50");</a:t>
            </a:r>
          </a:p>
          <a:p>
            <a:pPr>
              <a:buFont typeface="Monotype Sorts" pitchFamily="2" charset="2"/>
              <a:buNone/>
            </a:pPr>
            <a:r>
              <a:rPr lang="pt-BR" altLang="pt-BR" sz="1400" b="1" dirty="0">
                <a:latin typeface="Courier New" panose="02070309020205020404" pitchFamily="49" charset="0"/>
              </a:rPr>
              <a:t>    }</a:t>
            </a:r>
            <a:r>
              <a:rPr lang="pt-BR" altLang="pt-BR" sz="1400" b="1" dirty="0" err="1">
                <a:solidFill>
                  <a:schemeClr val="bg2"/>
                </a:solidFill>
                <a:latin typeface="Courier New" panose="02070309020205020404" pitchFamily="49" charset="0"/>
              </a:rPr>
              <a:t>else</a:t>
            </a:r>
            <a:r>
              <a:rPr lang="pt-BR" altLang="pt-BR" sz="1400" b="1" dirty="0">
                <a:solidFill>
                  <a:schemeClr val="bg2"/>
                </a:solidFill>
                <a:latin typeface="Courier New" panose="02070309020205020404" pitchFamily="49" charset="0"/>
              </a:rPr>
              <a:t>{</a:t>
            </a:r>
            <a:endParaRPr lang="pt-BR" altLang="pt-BR" sz="1400" b="1" dirty="0">
              <a:latin typeface="Courier New" panose="02070309020205020404" pitchFamily="49" charset="0"/>
            </a:endParaRPr>
          </a:p>
          <a:p>
            <a:pPr>
              <a:buFont typeface="Monotype Sorts" pitchFamily="2" charset="2"/>
              <a:buNone/>
            </a:pPr>
            <a:r>
              <a:rPr lang="pt-BR" altLang="pt-BR" sz="1400" b="1" dirty="0">
                <a:latin typeface="Courier New" panose="02070309020205020404" pitchFamily="49" charset="0"/>
              </a:rPr>
              <a:t>       </a:t>
            </a:r>
            <a:r>
              <a:rPr lang="pt-BR" altLang="pt-BR" sz="1400" b="1" dirty="0" err="1">
                <a:latin typeface="Courier New" panose="02070309020205020404" pitchFamily="49" charset="0"/>
              </a:rPr>
              <a:t>System.out.println</a:t>
            </a:r>
            <a:r>
              <a:rPr lang="pt-BR" altLang="pt-BR" sz="1400" b="1" dirty="0">
                <a:latin typeface="Courier New" panose="02070309020205020404" pitchFamily="49" charset="0"/>
              </a:rPr>
              <a:t>("O valor " + x + " e maior ou igual a 50");</a:t>
            </a:r>
          </a:p>
          <a:p>
            <a:pPr>
              <a:buFont typeface="Monotype Sorts" pitchFamily="2" charset="2"/>
              <a:buNone/>
            </a:pPr>
            <a:r>
              <a:rPr lang="pt-BR" altLang="pt-BR" sz="1400" b="1" dirty="0">
                <a:latin typeface="Courier New" panose="02070309020205020404" pitchFamily="49" charset="0"/>
              </a:rPr>
              <a:t>     }</a:t>
            </a:r>
          </a:p>
          <a:p>
            <a:pPr>
              <a:buFont typeface="Monotype Sorts" pitchFamily="2" charset="2"/>
              <a:buNone/>
            </a:pPr>
            <a:r>
              <a:rPr lang="pt-BR" altLang="pt-BR" sz="1400" b="1" dirty="0">
                <a:latin typeface="Courier New" panose="02070309020205020404" pitchFamily="49" charset="0"/>
              </a:rPr>
              <a:t>  }</a:t>
            </a:r>
          </a:p>
          <a:p>
            <a:pPr>
              <a:buFont typeface="Monotype Sorts" pitchFamily="2" charset="2"/>
              <a:buNone/>
            </a:pPr>
            <a:r>
              <a:rPr lang="pt-BR" altLang="pt-BR" sz="14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8197" name="Text Box 5">
            <a:extLst>
              <a:ext uri="{FF2B5EF4-FFF2-40B4-BE49-F238E27FC236}">
                <a16:creationId xmlns:a16="http://schemas.microsoft.com/office/drawing/2014/main" id="{5D6E83BD-B38E-45C4-A644-E7E710F8B0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6400800"/>
            <a:ext cx="1371600" cy="304800"/>
          </a:xfrm>
          <a:prstGeom prst="rect">
            <a:avLst/>
          </a:prstGeom>
          <a:solidFill>
            <a:srgbClr val="99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sz="1400" b="1"/>
              <a:t>Exemplo3.java</a:t>
            </a:r>
            <a:endParaRPr lang="pt-BR" alt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218806D2-0B8C-4C90-B97D-2926B5399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pt-BR"/>
              <a:t>Dimas F. Cardoso</a:t>
            </a:r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EB62E345-BB51-4D18-95FA-B64C55A97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/>
              <a:t>Fatec-Sorocaba  </a:t>
            </a:r>
          </a:p>
        </p:txBody>
      </p:sp>
      <p:sp>
        <p:nvSpPr>
          <p:cNvPr id="9218" name="Rectangle 2">
            <a:extLst>
              <a:ext uri="{FF2B5EF4-FFF2-40B4-BE49-F238E27FC236}">
                <a16:creationId xmlns:a16="http://schemas.microsoft.com/office/drawing/2014/main" id="{FFFD98D0-0088-462F-AE67-C30707A9E8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73163" y="304800"/>
            <a:ext cx="7772400" cy="457200"/>
          </a:xfr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2700000" scaled="1"/>
          </a:gradFill>
        </p:spPr>
        <p:txBody>
          <a:bodyPr/>
          <a:lstStyle/>
          <a:p>
            <a:pPr algn="ctr"/>
            <a:r>
              <a:rPr lang="pt-BR" altLang="pt-BR" sz="3600">
                <a:solidFill>
                  <a:schemeClr val="bg1"/>
                </a:solidFill>
              </a:rPr>
              <a:t>Estrutura Repetitiva</a:t>
            </a:r>
            <a:endParaRPr lang="pt-BR" altLang="pt-BR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364B327E-B255-4CB9-A418-F709981D9B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3000" y="1676400"/>
            <a:ext cx="7772400" cy="3352800"/>
          </a:xfrm>
        </p:spPr>
        <p:txBody>
          <a:bodyPr/>
          <a:lstStyle/>
          <a:p>
            <a:pPr>
              <a:buFont typeface="Monotype Sorts" pitchFamily="2" charset="2"/>
              <a:buNone/>
            </a:pPr>
            <a:r>
              <a:rPr lang="pt-BR" altLang="pt-BR" sz="1400" b="1" dirty="0" err="1">
                <a:latin typeface="Courier New" panose="02070309020205020404" pitchFamily="49" charset="0"/>
              </a:rPr>
              <a:t>public</a:t>
            </a:r>
            <a:r>
              <a:rPr lang="pt-BR" altLang="pt-BR" sz="1400" b="1" dirty="0">
                <a:latin typeface="Courier New" panose="02070309020205020404" pitchFamily="49" charset="0"/>
              </a:rPr>
              <a:t> </a:t>
            </a:r>
            <a:r>
              <a:rPr lang="pt-BR" altLang="pt-BR" sz="1400" b="1" dirty="0" err="1">
                <a:latin typeface="Courier New" panose="02070309020205020404" pitchFamily="49" charset="0"/>
              </a:rPr>
              <a:t>class</a:t>
            </a:r>
            <a:r>
              <a:rPr lang="pt-BR" altLang="pt-BR" sz="1400" b="1" dirty="0">
                <a:latin typeface="Courier New" panose="02070309020205020404" pitchFamily="49" charset="0"/>
              </a:rPr>
              <a:t> Exemplo4{</a:t>
            </a:r>
          </a:p>
          <a:p>
            <a:pPr>
              <a:buFont typeface="Monotype Sorts" pitchFamily="2" charset="2"/>
              <a:buNone/>
            </a:pPr>
            <a:r>
              <a:rPr lang="pt-BR" altLang="pt-BR" sz="1400" b="1" dirty="0">
                <a:latin typeface="Courier New" panose="02070309020205020404" pitchFamily="49" charset="0"/>
              </a:rPr>
              <a:t>  </a:t>
            </a:r>
            <a:r>
              <a:rPr lang="pt-BR" altLang="pt-BR" sz="1400" b="1" dirty="0" err="1">
                <a:latin typeface="Courier New" panose="02070309020205020404" pitchFamily="49" charset="0"/>
              </a:rPr>
              <a:t>public</a:t>
            </a:r>
            <a:r>
              <a:rPr lang="pt-BR" altLang="pt-BR" sz="1400" b="1" dirty="0">
                <a:latin typeface="Courier New" panose="02070309020205020404" pitchFamily="49" charset="0"/>
              </a:rPr>
              <a:t> </a:t>
            </a:r>
            <a:r>
              <a:rPr lang="pt-BR" altLang="pt-BR" sz="1400" b="1" dirty="0" err="1">
                <a:latin typeface="Courier New" panose="02070309020205020404" pitchFamily="49" charset="0"/>
              </a:rPr>
              <a:t>static</a:t>
            </a:r>
            <a:r>
              <a:rPr lang="pt-BR" altLang="pt-BR" sz="1400" b="1" dirty="0">
                <a:latin typeface="Courier New" panose="02070309020205020404" pitchFamily="49" charset="0"/>
              </a:rPr>
              <a:t> </a:t>
            </a:r>
            <a:r>
              <a:rPr lang="pt-BR" altLang="pt-BR" sz="1400" b="1" dirty="0" err="1">
                <a:latin typeface="Courier New" panose="02070309020205020404" pitchFamily="49" charset="0"/>
              </a:rPr>
              <a:t>void</a:t>
            </a:r>
            <a:r>
              <a:rPr lang="pt-BR" altLang="pt-BR" sz="1400" b="1" dirty="0">
                <a:latin typeface="Courier New" panose="02070309020205020404" pitchFamily="49" charset="0"/>
              </a:rPr>
              <a:t> </a:t>
            </a:r>
            <a:r>
              <a:rPr lang="pt-BR" altLang="pt-BR" sz="1400" b="1" dirty="0" err="1">
                <a:latin typeface="Courier New" panose="02070309020205020404" pitchFamily="49" charset="0"/>
              </a:rPr>
              <a:t>main</a:t>
            </a:r>
            <a:r>
              <a:rPr lang="pt-BR" altLang="pt-BR" sz="1400" b="1" dirty="0">
                <a:latin typeface="Courier New" panose="02070309020205020404" pitchFamily="49" charset="0"/>
              </a:rPr>
              <a:t>(</a:t>
            </a:r>
            <a:r>
              <a:rPr lang="pt-BR" altLang="pt-BR" sz="1400" b="1" dirty="0" err="1">
                <a:latin typeface="Courier New" panose="02070309020205020404" pitchFamily="49" charset="0"/>
              </a:rPr>
              <a:t>String</a:t>
            </a:r>
            <a:r>
              <a:rPr lang="pt-BR" altLang="pt-BR" sz="1400" b="1" dirty="0">
                <a:latin typeface="Courier New" panose="02070309020205020404" pitchFamily="49" charset="0"/>
              </a:rPr>
              <a:t>[] </a:t>
            </a:r>
            <a:r>
              <a:rPr lang="pt-BR" altLang="pt-BR" sz="1400" b="1" dirty="0" err="1">
                <a:latin typeface="Courier New" panose="02070309020205020404" pitchFamily="49" charset="0"/>
              </a:rPr>
              <a:t>args</a:t>
            </a:r>
            <a:r>
              <a:rPr lang="pt-BR" altLang="pt-BR" sz="1400" b="1" dirty="0">
                <a:latin typeface="Courier New" panose="02070309020205020404" pitchFamily="49" charset="0"/>
              </a:rPr>
              <a:t>){</a:t>
            </a:r>
          </a:p>
          <a:p>
            <a:pPr>
              <a:buFont typeface="Monotype Sorts" pitchFamily="2" charset="2"/>
              <a:buNone/>
            </a:pPr>
            <a:r>
              <a:rPr lang="pt-BR" altLang="pt-BR" sz="1400" b="1" dirty="0">
                <a:latin typeface="Courier New" panose="02070309020205020404" pitchFamily="49" charset="0"/>
              </a:rPr>
              <a:t>    </a:t>
            </a:r>
            <a:r>
              <a:rPr lang="pt-BR" altLang="pt-BR" sz="1400" b="1" dirty="0" err="1">
                <a:latin typeface="Courier New" panose="02070309020205020404" pitchFamily="49" charset="0"/>
              </a:rPr>
              <a:t>int</a:t>
            </a:r>
            <a:r>
              <a:rPr lang="pt-BR" altLang="pt-BR" sz="1400" b="1" dirty="0">
                <a:latin typeface="Courier New" panose="02070309020205020404" pitchFamily="49" charset="0"/>
              </a:rPr>
              <a:t> </a:t>
            </a:r>
            <a:r>
              <a:rPr lang="pt-BR" altLang="pt-BR" sz="1400" b="1" dirty="0" err="1">
                <a:latin typeface="Courier New" panose="02070309020205020404" pitchFamily="49" charset="0"/>
              </a:rPr>
              <a:t>cont</a:t>
            </a:r>
            <a:r>
              <a:rPr lang="pt-BR" altLang="pt-BR" sz="1400" b="1" dirty="0">
                <a:latin typeface="Courier New" panose="02070309020205020404" pitchFamily="49" charset="0"/>
              </a:rPr>
              <a:t>, num;  </a:t>
            </a:r>
          </a:p>
          <a:p>
            <a:pPr>
              <a:buFont typeface="Monotype Sorts" pitchFamily="2" charset="2"/>
              <a:buNone/>
            </a:pPr>
            <a:r>
              <a:rPr lang="pt-BR" altLang="pt-BR" sz="1400" b="1" dirty="0">
                <a:latin typeface="Courier New" panose="02070309020205020404" pitchFamily="49" charset="0"/>
              </a:rPr>
              <a:t>    </a:t>
            </a:r>
          </a:p>
          <a:p>
            <a:pPr>
              <a:buFont typeface="Monotype Sorts" pitchFamily="2" charset="2"/>
              <a:buNone/>
            </a:pPr>
            <a:r>
              <a:rPr lang="pt-BR" altLang="pt-BR" sz="1400" b="1" dirty="0">
                <a:latin typeface="Courier New" panose="02070309020205020404" pitchFamily="49" charset="0"/>
              </a:rPr>
              <a:t>    num = (</a:t>
            </a:r>
            <a:r>
              <a:rPr lang="pt-BR" altLang="pt-BR" sz="1400" b="1" dirty="0" err="1">
                <a:latin typeface="Courier New" panose="02070309020205020404" pitchFamily="49" charset="0"/>
              </a:rPr>
              <a:t>int</a:t>
            </a:r>
            <a:r>
              <a:rPr lang="pt-BR" altLang="pt-BR" sz="1400" b="1" dirty="0">
                <a:latin typeface="Courier New" panose="02070309020205020404" pitchFamily="49" charset="0"/>
              </a:rPr>
              <a:t>)(</a:t>
            </a:r>
            <a:r>
              <a:rPr lang="pt-BR" altLang="pt-BR" sz="1400" b="1" dirty="0" err="1">
                <a:latin typeface="Courier New" panose="02070309020205020404" pitchFamily="49" charset="0"/>
              </a:rPr>
              <a:t>Math.random</a:t>
            </a:r>
            <a:r>
              <a:rPr lang="pt-BR" altLang="pt-BR" sz="1400" b="1" dirty="0">
                <a:latin typeface="Courier New" panose="02070309020205020404" pitchFamily="49" charset="0"/>
              </a:rPr>
              <a:t>() * 100);</a:t>
            </a:r>
          </a:p>
          <a:p>
            <a:pPr>
              <a:buNone/>
            </a:pPr>
            <a:r>
              <a:rPr lang="pt-BR" altLang="pt-BR" sz="1400" b="1" dirty="0">
                <a:latin typeface="Courier New" panose="02070309020205020404" pitchFamily="49" charset="0"/>
              </a:rPr>
              <a:t>    </a:t>
            </a:r>
            <a:r>
              <a:rPr lang="pt-BR" altLang="pt-BR" sz="1400" b="1" dirty="0" err="1">
                <a:latin typeface="Courier New" panose="02070309020205020404" pitchFamily="49" charset="0"/>
              </a:rPr>
              <a:t>System.out.println</a:t>
            </a:r>
            <a:r>
              <a:rPr lang="pt-BR" altLang="pt-BR" sz="1400" b="1" dirty="0">
                <a:latin typeface="Courier New" panose="02070309020205020404" pitchFamily="49" charset="0"/>
              </a:rPr>
              <a:t>("\t\t\</a:t>
            </a:r>
            <a:r>
              <a:rPr lang="pt-BR" altLang="pt-BR" sz="1400" b="1" dirty="0" err="1">
                <a:latin typeface="Courier New" panose="02070309020205020404" pitchFamily="49" charset="0"/>
              </a:rPr>
              <a:t>tTABUADA</a:t>
            </a:r>
            <a:r>
              <a:rPr lang="pt-BR" altLang="pt-BR" sz="1400" b="1" dirty="0">
                <a:latin typeface="Courier New" panose="02070309020205020404" pitchFamily="49" charset="0"/>
              </a:rPr>
              <a:t> DO " + num);</a:t>
            </a:r>
          </a:p>
          <a:p>
            <a:pPr>
              <a:buFont typeface="Monotype Sorts" pitchFamily="2" charset="2"/>
              <a:buNone/>
            </a:pPr>
            <a:r>
              <a:rPr lang="pt-BR" altLang="pt-BR" sz="1400" b="1" dirty="0">
                <a:latin typeface="Courier New" panose="02070309020205020404" pitchFamily="49" charset="0"/>
              </a:rPr>
              <a:t>    </a:t>
            </a:r>
            <a:r>
              <a:rPr lang="pt-BR" altLang="pt-BR" sz="1800" b="1" dirty="0">
                <a:solidFill>
                  <a:schemeClr val="bg2"/>
                </a:solidFill>
                <a:latin typeface="Courier New" panose="02070309020205020404" pitchFamily="49" charset="0"/>
              </a:rPr>
              <a:t>for(</a:t>
            </a:r>
            <a:r>
              <a:rPr lang="pt-BR" altLang="pt-BR" sz="1400" b="1" dirty="0" err="1">
                <a:latin typeface="Courier New" panose="02070309020205020404" pitchFamily="49" charset="0"/>
              </a:rPr>
              <a:t>cont</a:t>
            </a:r>
            <a:r>
              <a:rPr lang="pt-BR" altLang="pt-BR" sz="1400" b="1" dirty="0">
                <a:latin typeface="Courier New" panose="02070309020205020404" pitchFamily="49" charset="0"/>
              </a:rPr>
              <a:t>=1</a:t>
            </a:r>
            <a:r>
              <a:rPr lang="pt-BR" altLang="pt-BR" sz="1800" b="1" dirty="0">
                <a:solidFill>
                  <a:schemeClr val="bg2"/>
                </a:solidFill>
                <a:latin typeface="Courier New" panose="02070309020205020404" pitchFamily="49" charset="0"/>
              </a:rPr>
              <a:t>;</a:t>
            </a:r>
            <a:r>
              <a:rPr lang="pt-BR" altLang="pt-BR" sz="1400" b="1" dirty="0">
                <a:latin typeface="Courier New" panose="02070309020205020404" pitchFamily="49" charset="0"/>
              </a:rPr>
              <a:t>cont &lt;=10</a:t>
            </a:r>
            <a:r>
              <a:rPr lang="pt-BR" altLang="pt-BR" sz="1800" b="1" dirty="0">
                <a:solidFill>
                  <a:schemeClr val="bg2"/>
                </a:solidFill>
                <a:latin typeface="Courier New" panose="02070309020205020404" pitchFamily="49" charset="0"/>
              </a:rPr>
              <a:t>;</a:t>
            </a:r>
            <a:r>
              <a:rPr lang="pt-BR" altLang="pt-BR" sz="1400" b="1" dirty="0">
                <a:latin typeface="Courier New" panose="02070309020205020404" pitchFamily="49" charset="0"/>
              </a:rPr>
              <a:t> </a:t>
            </a:r>
            <a:r>
              <a:rPr lang="pt-BR" altLang="pt-BR" sz="1400" b="1" dirty="0" err="1">
                <a:latin typeface="Courier New" panose="02070309020205020404" pitchFamily="49" charset="0"/>
              </a:rPr>
              <a:t>cont</a:t>
            </a:r>
            <a:r>
              <a:rPr lang="pt-BR" altLang="pt-BR" sz="1400" b="1" dirty="0">
                <a:latin typeface="Courier New" panose="02070309020205020404" pitchFamily="49" charset="0"/>
              </a:rPr>
              <a:t>++</a:t>
            </a:r>
            <a:r>
              <a:rPr lang="pt-BR" altLang="pt-BR" sz="1800" b="1" dirty="0">
                <a:solidFill>
                  <a:schemeClr val="bg2"/>
                </a:solidFill>
                <a:latin typeface="Courier New" panose="02070309020205020404" pitchFamily="49" charset="0"/>
              </a:rPr>
              <a:t>)</a:t>
            </a:r>
            <a:r>
              <a:rPr lang="pt-BR" altLang="pt-BR" sz="1400" b="1" dirty="0">
                <a:latin typeface="Courier New" panose="02070309020205020404" pitchFamily="49" charset="0"/>
              </a:rPr>
              <a:t> </a:t>
            </a:r>
            <a:r>
              <a:rPr lang="pt-BR" altLang="pt-BR" sz="1800" b="1" dirty="0">
                <a:solidFill>
                  <a:schemeClr val="bg2"/>
                </a:solidFill>
                <a:latin typeface="Courier New" panose="02070309020205020404" pitchFamily="49" charset="0"/>
              </a:rPr>
              <a:t>{</a:t>
            </a:r>
            <a:r>
              <a:rPr lang="pt-BR" altLang="pt-BR" sz="1400" b="1" dirty="0">
                <a:latin typeface="Courier New" panose="02070309020205020404" pitchFamily="49" charset="0"/>
              </a:rPr>
              <a:t>  </a:t>
            </a:r>
          </a:p>
          <a:p>
            <a:pPr lvl="2">
              <a:buFontTx/>
              <a:buNone/>
            </a:pPr>
            <a:r>
              <a:rPr lang="pt-BR" altLang="pt-BR" sz="1400" b="1" dirty="0" err="1">
                <a:latin typeface="Courier New" panose="02070309020205020404" pitchFamily="49" charset="0"/>
              </a:rPr>
              <a:t>System.out.println</a:t>
            </a:r>
            <a:r>
              <a:rPr lang="pt-BR" altLang="pt-BR" sz="1400" b="1" dirty="0">
                <a:latin typeface="Courier New" panose="02070309020205020404" pitchFamily="49" charset="0"/>
              </a:rPr>
              <a:t>(num + </a:t>
            </a:r>
            <a:r>
              <a:rPr lang="pt-BR" altLang="pt-BR" sz="1400" b="1" dirty="0">
                <a:solidFill>
                  <a:srgbClr val="FF3300"/>
                </a:solidFill>
                <a:latin typeface="Courier New" panose="02070309020205020404" pitchFamily="49" charset="0"/>
              </a:rPr>
              <a:t>" x " </a:t>
            </a:r>
            <a:r>
              <a:rPr lang="pt-BR" altLang="pt-BR" sz="1400" b="1" dirty="0">
                <a:latin typeface="Courier New" panose="02070309020205020404" pitchFamily="49" charset="0"/>
              </a:rPr>
              <a:t>+ </a:t>
            </a:r>
            <a:r>
              <a:rPr lang="pt-BR" altLang="pt-BR" sz="1400" b="1" dirty="0" err="1">
                <a:latin typeface="Courier New" panose="02070309020205020404" pitchFamily="49" charset="0"/>
              </a:rPr>
              <a:t>cont</a:t>
            </a:r>
            <a:r>
              <a:rPr lang="pt-BR" altLang="pt-BR" sz="1400" b="1" dirty="0">
                <a:latin typeface="Courier New" panose="02070309020205020404" pitchFamily="49" charset="0"/>
              </a:rPr>
              <a:t> + </a:t>
            </a:r>
            <a:r>
              <a:rPr lang="pt-BR" altLang="pt-BR" sz="1400" b="1" dirty="0">
                <a:solidFill>
                  <a:srgbClr val="FF3300"/>
                </a:solidFill>
                <a:latin typeface="Courier New" panose="02070309020205020404" pitchFamily="49" charset="0"/>
              </a:rPr>
              <a:t>" = "</a:t>
            </a:r>
            <a:r>
              <a:rPr lang="pt-BR" altLang="pt-BR" sz="1400" b="1" dirty="0">
                <a:latin typeface="Courier New" panose="02070309020205020404" pitchFamily="49" charset="0"/>
              </a:rPr>
              <a:t> + </a:t>
            </a:r>
            <a:r>
              <a:rPr lang="pt-BR" altLang="pt-BR" sz="1400" b="1" dirty="0" err="1">
                <a:latin typeface="Courier New" panose="02070309020205020404" pitchFamily="49" charset="0"/>
              </a:rPr>
              <a:t>cont</a:t>
            </a:r>
            <a:r>
              <a:rPr lang="pt-BR" altLang="pt-BR" sz="1400" b="1" dirty="0">
                <a:latin typeface="Courier New" panose="02070309020205020404" pitchFamily="49" charset="0"/>
              </a:rPr>
              <a:t> * num);</a:t>
            </a:r>
          </a:p>
          <a:p>
            <a:pPr marL="452438" lvl="2">
              <a:buFontTx/>
              <a:buNone/>
            </a:pPr>
            <a:r>
              <a:rPr lang="pt-BR" altLang="pt-BR" sz="1400" b="1" dirty="0">
                <a:latin typeface="Courier New" panose="02070309020205020404" pitchFamily="49" charset="0"/>
              </a:rPr>
              <a:t>  </a:t>
            </a:r>
            <a:r>
              <a:rPr lang="pt-BR" altLang="pt-BR" sz="1800" b="1" dirty="0">
                <a:solidFill>
                  <a:schemeClr val="bg2"/>
                </a:solidFill>
                <a:latin typeface="Courier New" panose="02070309020205020404" pitchFamily="49" charset="0"/>
                <a:ea typeface="+mn-ea"/>
                <a:cs typeface="+mn-cs"/>
              </a:rPr>
              <a:t>}</a:t>
            </a:r>
          </a:p>
          <a:p>
            <a:pPr>
              <a:buFont typeface="Monotype Sorts" pitchFamily="2" charset="2"/>
              <a:buNone/>
            </a:pPr>
            <a:r>
              <a:rPr lang="pt-BR" altLang="pt-BR" sz="1400" b="1" dirty="0">
                <a:latin typeface="Courier New" panose="02070309020205020404" pitchFamily="49" charset="0"/>
              </a:rPr>
              <a:t>  }</a:t>
            </a:r>
          </a:p>
          <a:p>
            <a:pPr>
              <a:buFont typeface="Monotype Sorts" pitchFamily="2" charset="2"/>
              <a:buNone/>
            </a:pPr>
            <a:r>
              <a:rPr lang="pt-BR" altLang="pt-BR" sz="14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9221" name="Text Box 5">
            <a:extLst>
              <a:ext uri="{FF2B5EF4-FFF2-40B4-BE49-F238E27FC236}">
                <a16:creationId xmlns:a16="http://schemas.microsoft.com/office/drawing/2014/main" id="{FA057692-5A69-4C3E-AFC5-6C4C4D0696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6400800"/>
            <a:ext cx="1371600" cy="304800"/>
          </a:xfrm>
          <a:prstGeom prst="rect">
            <a:avLst/>
          </a:prstGeom>
          <a:solidFill>
            <a:srgbClr val="99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sz="1400" b="1"/>
              <a:t>Exemplo4.java</a:t>
            </a:r>
            <a:endParaRPr lang="pt-BR" alt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8869E4F8-DE26-4AC6-A44F-B8154F07A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pt-BR"/>
              <a:t>Dimas F. Cardoso</a:t>
            </a:r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5C6302A1-687E-4287-8280-204BF1BBF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/>
              <a:t>Fatec-Sorocaba  </a:t>
            </a:r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2DA4F645-6431-4E49-91D7-76E39D6A83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73163" y="304800"/>
            <a:ext cx="7772400" cy="457200"/>
          </a:xfr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2700000" scaled="1"/>
          </a:gradFill>
        </p:spPr>
        <p:txBody>
          <a:bodyPr/>
          <a:lstStyle/>
          <a:p>
            <a:pPr algn="ctr"/>
            <a:r>
              <a:rPr lang="pt-BR" altLang="pt-BR" sz="3600">
                <a:solidFill>
                  <a:schemeClr val="bg1"/>
                </a:solidFill>
              </a:rPr>
              <a:t>Estrutura Repetitiva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AB54430D-346A-4AA7-9BB0-2848343006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576" y="1736725"/>
            <a:ext cx="8424936" cy="4419600"/>
          </a:xfrm>
        </p:spPr>
        <p:txBody>
          <a:bodyPr/>
          <a:lstStyle/>
          <a:p>
            <a:pPr>
              <a:buFont typeface="Monotype Sorts" pitchFamily="2" charset="2"/>
              <a:buNone/>
            </a:pPr>
            <a:r>
              <a:rPr lang="pt-BR" altLang="pt-BR" sz="1600" b="1" dirty="0" err="1">
                <a:latin typeface="Courier New" panose="02070309020205020404" pitchFamily="49" charset="0"/>
              </a:rPr>
              <a:t>public</a:t>
            </a:r>
            <a:r>
              <a:rPr lang="pt-BR" altLang="pt-BR" sz="1600" b="1" dirty="0">
                <a:latin typeface="Courier New" panose="02070309020205020404" pitchFamily="49" charset="0"/>
              </a:rPr>
              <a:t> </a:t>
            </a:r>
            <a:r>
              <a:rPr lang="pt-BR" altLang="pt-BR" sz="1600" b="1" dirty="0" err="1">
                <a:latin typeface="Courier New" panose="02070309020205020404" pitchFamily="49" charset="0"/>
              </a:rPr>
              <a:t>class</a:t>
            </a:r>
            <a:r>
              <a:rPr lang="pt-BR" altLang="pt-BR" sz="1600" b="1" dirty="0">
                <a:latin typeface="Courier New" panose="02070309020205020404" pitchFamily="49" charset="0"/>
              </a:rPr>
              <a:t> Exemplo5{</a:t>
            </a:r>
          </a:p>
          <a:p>
            <a:pPr>
              <a:buFont typeface="Monotype Sorts" pitchFamily="2" charset="2"/>
              <a:buNone/>
            </a:pPr>
            <a:r>
              <a:rPr lang="pt-BR" altLang="pt-BR" sz="1600" b="1" dirty="0">
                <a:latin typeface="Courier New" panose="02070309020205020404" pitchFamily="49" charset="0"/>
              </a:rPr>
              <a:t>  </a:t>
            </a:r>
            <a:r>
              <a:rPr lang="pt-BR" altLang="pt-BR" sz="1600" b="1" dirty="0" err="1">
                <a:latin typeface="Courier New" panose="02070309020205020404" pitchFamily="49" charset="0"/>
              </a:rPr>
              <a:t>public</a:t>
            </a:r>
            <a:r>
              <a:rPr lang="pt-BR" altLang="pt-BR" sz="1600" b="1" dirty="0">
                <a:latin typeface="Courier New" panose="02070309020205020404" pitchFamily="49" charset="0"/>
              </a:rPr>
              <a:t> </a:t>
            </a:r>
            <a:r>
              <a:rPr lang="pt-BR" altLang="pt-BR" sz="1600" b="1" dirty="0" err="1">
                <a:latin typeface="Courier New" panose="02070309020205020404" pitchFamily="49" charset="0"/>
              </a:rPr>
              <a:t>static</a:t>
            </a:r>
            <a:r>
              <a:rPr lang="pt-BR" altLang="pt-BR" sz="1600" b="1" dirty="0">
                <a:latin typeface="Courier New" panose="02070309020205020404" pitchFamily="49" charset="0"/>
              </a:rPr>
              <a:t> </a:t>
            </a:r>
            <a:r>
              <a:rPr lang="pt-BR" altLang="pt-BR" sz="1600" b="1" dirty="0" err="1">
                <a:latin typeface="Courier New" panose="02070309020205020404" pitchFamily="49" charset="0"/>
              </a:rPr>
              <a:t>void</a:t>
            </a:r>
            <a:r>
              <a:rPr lang="pt-BR" altLang="pt-BR" sz="1600" b="1" dirty="0">
                <a:latin typeface="Courier New" panose="02070309020205020404" pitchFamily="49" charset="0"/>
              </a:rPr>
              <a:t> </a:t>
            </a:r>
            <a:r>
              <a:rPr lang="pt-BR" altLang="pt-BR" sz="1600" b="1" dirty="0" err="1">
                <a:latin typeface="Courier New" panose="02070309020205020404" pitchFamily="49" charset="0"/>
              </a:rPr>
              <a:t>main</a:t>
            </a:r>
            <a:r>
              <a:rPr lang="pt-BR" altLang="pt-BR" sz="1600" b="1" dirty="0">
                <a:latin typeface="Courier New" panose="02070309020205020404" pitchFamily="49" charset="0"/>
              </a:rPr>
              <a:t>(</a:t>
            </a:r>
            <a:r>
              <a:rPr lang="pt-BR" altLang="pt-BR" sz="1600" b="1" dirty="0" err="1">
                <a:latin typeface="Courier New" panose="02070309020205020404" pitchFamily="49" charset="0"/>
              </a:rPr>
              <a:t>String</a:t>
            </a:r>
            <a:r>
              <a:rPr lang="pt-BR" altLang="pt-BR" sz="1600" b="1" dirty="0">
                <a:latin typeface="Courier New" panose="02070309020205020404" pitchFamily="49" charset="0"/>
              </a:rPr>
              <a:t>[] </a:t>
            </a:r>
            <a:r>
              <a:rPr lang="pt-BR" altLang="pt-BR" sz="1600" b="1" dirty="0" err="1">
                <a:latin typeface="Courier New" panose="02070309020205020404" pitchFamily="49" charset="0"/>
              </a:rPr>
              <a:t>args</a:t>
            </a:r>
            <a:r>
              <a:rPr lang="pt-BR" altLang="pt-BR" sz="1600" b="1" dirty="0">
                <a:latin typeface="Courier New" panose="02070309020205020404" pitchFamily="49" charset="0"/>
              </a:rPr>
              <a:t>){</a:t>
            </a:r>
          </a:p>
          <a:p>
            <a:pPr>
              <a:buFont typeface="Monotype Sorts" pitchFamily="2" charset="2"/>
              <a:buNone/>
            </a:pPr>
            <a:r>
              <a:rPr lang="pt-BR" altLang="pt-BR" sz="1600" b="1" dirty="0">
                <a:latin typeface="Courier New" panose="02070309020205020404" pitchFamily="49" charset="0"/>
              </a:rPr>
              <a:t>    </a:t>
            </a:r>
            <a:r>
              <a:rPr lang="pt-BR" altLang="pt-BR" sz="1600" b="1" dirty="0" err="1">
                <a:latin typeface="Courier New" panose="02070309020205020404" pitchFamily="49" charset="0"/>
              </a:rPr>
              <a:t>int</a:t>
            </a:r>
            <a:r>
              <a:rPr lang="pt-BR" altLang="pt-BR" sz="1600" b="1" dirty="0">
                <a:latin typeface="Courier New" panose="02070309020205020404" pitchFamily="49" charset="0"/>
              </a:rPr>
              <a:t> </a:t>
            </a:r>
            <a:r>
              <a:rPr lang="pt-BR" altLang="pt-BR" sz="1600" b="1" dirty="0" err="1">
                <a:latin typeface="Courier New" panose="02070309020205020404" pitchFamily="49" charset="0"/>
              </a:rPr>
              <a:t>cont</a:t>
            </a:r>
            <a:r>
              <a:rPr lang="pt-BR" altLang="pt-BR" sz="1600" b="1" dirty="0">
                <a:latin typeface="Courier New" panose="02070309020205020404" pitchFamily="49" charset="0"/>
              </a:rPr>
              <a:t>, num;  </a:t>
            </a:r>
          </a:p>
          <a:p>
            <a:pPr>
              <a:buFont typeface="Monotype Sorts" pitchFamily="2" charset="2"/>
              <a:buNone/>
            </a:pPr>
            <a:r>
              <a:rPr lang="pt-BR" altLang="pt-BR" sz="1600" b="1" dirty="0">
                <a:latin typeface="Courier New" panose="02070309020205020404" pitchFamily="49" charset="0"/>
              </a:rPr>
              <a:t>    </a:t>
            </a:r>
          </a:p>
          <a:p>
            <a:pPr>
              <a:buNone/>
            </a:pPr>
            <a:r>
              <a:rPr lang="pt-BR" altLang="pt-BR" sz="1600" b="1" dirty="0">
                <a:latin typeface="Courier New" panose="02070309020205020404" pitchFamily="49" charset="0"/>
              </a:rPr>
              <a:t>    num = (</a:t>
            </a:r>
            <a:r>
              <a:rPr lang="pt-BR" altLang="pt-BR" sz="1600" b="1" dirty="0" err="1">
                <a:latin typeface="Courier New" panose="02070309020205020404" pitchFamily="49" charset="0"/>
              </a:rPr>
              <a:t>int</a:t>
            </a:r>
            <a:r>
              <a:rPr lang="pt-BR" altLang="pt-BR" sz="1600" b="1" dirty="0">
                <a:latin typeface="Courier New" panose="02070309020205020404" pitchFamily="49" charset="0"/>
              </a:rPr>
              <a:t>)(</a:t>
            </a:r>
            <a:r>
              <a:rPr lang="pt-BR" altLang="pt-BR" sz="1600" b="1" dirty="0" err="1">
                <a:latin typeface="Courier New" panose="02070309020205020404" pitchFamily="49" charset="0"/>
              </a:rPr>
              <a:t>Math.random</a:t>
            </a:r>
            <a:r>
              <a:rPr lang="pt-BR" altLang="pt-BR" sz="1600" b="1" dirty="0">
                <a:latin typeface="Courier New" panose="02070309020205020404" pitchFamily="49" charset="0"/>
              </a:rPr>
              <a:t>() * 100);</a:t>
            </a:r>
          </a:p>
          <a:p>
            <a:pPr>
              <a:buNone/>
            </a:pPr>
            <a:r>
              <a:rPr lang="pt-BR" altLang="pt-BR" sz="1600" b="1" dirty="0">
                <a:latin typeface="Courier New" panose="02070309020205020404" pitchFamily="49" charset="0"/>
              </a:rPr>
              <a:t>    </a:t>
            </a:r>
            <a:r>
              <a:rPr lang="pt-BR" altLang="pt-BR" sz="1600" b="1" dirty="0" err="1">
                <a:latin typeface="Courier New" panose="02070309020205020404" pitchFamily="49" charset="0"/>
              </a:rPr>
              <a:t>System.out.println</a:t>
            </a:r>
            <a:r>
              <a:rPr lang="pt-BR" altLang="pt-BR" sz="1600" b="1" dirty="0">
                <a:latin typeface="Courier New" panose="02070309020205020404" pitchFamily="49" charset="0"/>
              </a:rPr>
              <a:t>("\t\t\</a:t>
            </a:r>
            <a:r>
              <a:rPr lang="pt-BR" altLang="pt-BR" sz="1600" b="1" dirty="0" err="1">
                <a:latin typeface="Courier New" panose="02070309020205020404" pitchFamily="49" charset="0"/>
              </a:rPr>
              <a:t>tTABUADA</a:t>
            </a:r>
            <a:r>
              <a:rPr lang="pt-BR" altLang="pt-BR" sz="1600" b="1" dirty="0">
                <a:latin typeface="Courier New" panose="02070309020205020404" pitchFamily="49" charset="0"/>
              </a:rPr>
              <a:t> DO " + num);    </a:t>
            </a:r>
          </a:p>
          <a:p>
            <a:pPr>
              <a:spcBef>
                <a:spcPct val="0"/>
              </a:spcBef>
              <a:buFont typeface="Monotype Sorts" pitchFamily="2" charset="2"/>
              <a:buNone/>
            </a:pPr>
            <a:r>
              <a:rPr lang="pt-BR" altLang="pt-BR" sz="1600" b="1" dirty="0">
                <a:latin typeface="Courier New" panose="02070309020205020404" pitchFamily="49" charset="0"/>
              </a:rPr>
              <a:t>    </a:t>
            </a:r>
          </a:p>
          <a:p>
            <a:pPr>
              <a:spcBef>
                <a:spcPct val="0"/>
              </a:spcBef>
              <a:buFont typeface="Monotype Sorts" pitchFamily="2" charset="2"/>
              <a:buNone/>
            </a:pPr>
            <a:r>
              <a:rPr lang="pt-BR" altLang="pt-BR" sz="1600" b="1" dirty="0">
                <a:latin typeface="Courier New" panose="02070309020205020404" pitchFamily="49" charset="0"/>
              </a:rPr>
              <a:t>    </a:t>
            </a:r>
            <a:r>
              <a:rPr lang="pt-BR" altLang="pt-BR" sz="1600" b="1" dirty="0" err="1">
                <a:latin typeface="Courier New" panose="02070309020205020404" pitchFamily="49" charset="0"/>
              </a:rPr>
              <a:t>cont</a:t>
            </a:r>
            <a:r>
              <a:rPr lang="pt-BR" altLang="pt-BR" sz="1600" b="1" dirty="0">
                <a:latin typeface="Courier New" panose="02070309020205020404" pitchFamily="49" charset="0"/>
              </a:rPr>
              <a:t>=1;</a:t>
            </a:r>
          </a:p>
          <a:p>
            <a:pPr>
              <a:spcBef>
                <a:spcPct val="0"/>
              </a:spcBef>
              <a:buFont typeface="Monotype Sorts" pitchFamily="2" charset="2"/>
              <a:buNone/>
            </a:pPr>
            <a:r>
              <a:rPr lang="pt-BR" altLang="pt-BR" sz="3600" dirty="0">
                <a:latin typeface="Courier New" panose="02070309020205020404" pitchFamily="49" charset="0"/>
              </a:rPr>
              <a:t>  </a:t>
            </a:r>
            <a:r>
              <a:rPr lang="pt-BR" altLang="pt-BR" sz="2000" b="1" dirty="0" err="1">
                <a:solidFill>
                  <a:schemeClr val="bg2"/>
                </a:solidFill>
                <a:latin typeface="Courier New" panose="02070309020205020404" pitchFamily="49" charset="0"/>
              </a:rPr>
              <a:t>while</a:t>
            </a:r>
            <a:r>
              <a:rPr lang="pt-BR" altLang="pt-BR" sz="2000" b="1" dirty="0">
                <a:solidFill>
                  <a:schemeClr val="bg2"/>
                </a:solidFill>
                <a:latin typeface="Courier New" panose="02070309020205020404" pitchFamily="49" charset="0"/>
              </a:rPr>
              <a:t>(</a:t>
            </a:r>
            <a:r>
              <a:rPr lang="pt-BR" altLang="pt-BR" sz="1600" b="1" dirty="0" err="1">
                <a:latin typeface="Courier New" panose="02070309020205020404" pitchFamily="49" charset="0"/>
              </a:rPr>
              <a:t>cont</a:t>
            </a:r>
            <a:r>
              <a:rPr lang="pt-BR" altLang="pt-BR" sz="1600" b="1" dirty="0">
                <a:latin typeface="Courier New" panose="02070309020205020404" pitchFamily="49" charset="0"/>
              </a:rPr>
              <a:t> &lt;= 10</a:t>
            </a:r>
            <a:r>
              <a:rPr lang="pt-BR" altLang="pt-BR" sz="2000" b="1" dirty="0">
                <a:solidFill>
                  <a:schemeClr val="bg2"/>
                </a:solidFill>
                <a:latin typeface="Courier New" panose="02070309020205020404" pitchFamily="49" charset="0"/>
              </a:rPr>
              <a:t>){</a:t>
            </a:r>
          </a:p>
          <a:p>
            <a:pPr>
              <a:buNone/>
            </a:pPr>
            <a:r>
              <a:rPr lang="pt-BR" altLang="pt-BR" sz="1600" b="1" dirty="0">
                <a:latin typeface="Courier New" panose="02070309020205020404" pitchFamily="49" charset="0"/>
              </a:rPr>
              <a:t>      </a:t>
            </a:r>
            <a:r>
              <a:rPr lang="pt-BR" altLang="pt-BR" sz="1600" b="1" dirty="0" err="1">
                <a:latin typeface="Courier New" panose="02070309020205020404" pitchFamily="49" charset="0"/>
              </a:rPr>
              <a:t>System.out.println</a:t>
            </a:r>
            <a:r>
              <a:rPr lang="pt-BR" altLang="pt-BR" sz="1600" b="1" dirty="0">
                <a:latin typeface="Courier New" panose="02070309020205020404" pitchFamily="49" charset="0"/>
              </a:rPr>
              <a:t>(num + </a:t>
            </a:r>
            <a:r>
              <a:rPr lang="pt-BR" altLang="pt-BR" sz="1600" b="1" dirty="0">
                <a:solidFill>
                  <a:srgbClr val="FF3300"/>
                </a:solidFill>
                <a:latin typeface="Courier New" panose="02070309020205020404" pitchFamily="49" charset="0"/>
              </a:rPr>
              <a:t>" x " </a:t>
            </a:r>
            <a:r>
              <a:rPr lang="pt-BR" altLang="pt-BR" sz="1600" b="1" dirty="0">
                <a:latin typeface="Courier New" panose="02070309020205020404" pitchFamily="49" charset="0"/>
              </a:rPr>
              <a:t>+ </a:t>
            </a:r>
            <a:r>
              <a:rPr lang="pt-BR" altLang="pt-BR" sz="1600" b="1" dirty="0" err="1">
                <a:latin typeface="Courier New" panose="02070309020205020404" pitchFamily="49" charset="0"/>
              </a:rPr>
              <a:t>cont</a:t>
            </a:r>
            <a:r>
              <a:rPr lang="pt-BR" altLang="pt-BR" sz="1600" b="1" dirty="0">
                <a:latin typeface="Courier New" panose="02070309020205020404" pitchFamily="49" charset="0"/>
              </a:rPr>
              <a:t> + </a:t>
            </a:r>
            <a:r>
              <a:rPr lang="pt-BR" altLang="pt-BR" sz="1600" b="1" dirty="0">
                <a:solidFill>
                  <a:srgbClr val="FF3300"/>
                </a:solidFill>
                <a:latin typeface="Courier New" panose="02070309020205020404" pitchFamily="49" charset="0"/>
              </a:rPr>
              <a:t>" = "</a:t>
            </a:r>
            <a:r>
              <a:rPr lang="pt-BR" altLang="pt-BR" sz="1600" b="1" dirty="0">
                <a:latin typeface="Courier New" panose="02070309020205020404" pitchFamily="49" charset="0"/>
              </a:rPr>
              <a:t> + </a:t>
            </a:r>
            <a:r>
              <a:rPr lang="pt-BR" altLang="pt-BR" sz="1600" b="1" dirty="0" err="1">
                <a:latin typeface="Courier New" panose="02070309020205020404" pitchFamily="49" charset="0"/>
              </a:rPr>
              <a:t>cont</a:t>
            </a:r>
            <a:r>
              <a:rPr lang="pt-BR" altLang="pt-BR" sz="1600" b="1" dirty="0">
                <a:latin typeface="Courier New" panose="02070309020205020404" pitchFamily="49" charset="0"/>
              </a:rPr>
              <a:t> * num);</a:t>
            </a:r>
          </a:p>
          <a:p>
            <a:pPr>
              <a:buFont typeface="Monotype Sorts" pitchFamily="2" charset="2"/>
              <a:buNone/>
            </a:pPr>
            <a:r>
              <a:rPr lang="pt-BR" altLang="pt-BR" sz="1600" b="1" dirty="0">
                <a:latin typeface="Courier New" panose="02070309020205020404" pitchFamily="49" charset="0"/>
              </a:rPr>
              <a:t>      </a:t>
            </a:r>
            <a:r>
              <a:rPr lang="pt-BR" altLang="pt-BR" sz="1600" b="1" dirty="0" err="1">
                <a:latin typeface="Courier New" panose="02070309020205020404" pitchFamily="49" charset="0"/>
              </a:rPr>
              <a:t>cont</a:t>
            </a:r>
            <a:r>
              <a:rPr lang="pt-BR" altLang="pt-BR" sz="1600" b="1" dirty="0">
                <a:latin typeface="Courier New" panose="02070309020205020404" pitchFamily="49" charset="0"/>
              </a:rPr>
              <a:t>=cont+1;</a:t>
            </a:r>
          </a:p>
          <a:p>
            <a:pPr>
              <a:buFont typeface="Monotype Sorts" pitchFamily="2" charset="2"/>
              <a:buNone/>
            </a:pPr>
            <a:r>
              <a:rPr lang="pt-BR" altLang="pt-BR" sz="1600" b="1" dirty="0">
                <a:latin typeface="Courier New" panose="02070309020205020404" pitchFamily="49" charset="0"/>
              </a:rPr>
              <a:t>     </a:t>
            </a:r>
            <a:r>
              <a:rPr lang="pt-BR" altLang="pt-BR" sz="2000" b="1" dirty="0">
                <a:solidFill>
                  <a:schemeClr val="bg2"/>
                </a:solidFill>
                <a:latin typeface="Courier New" panose="02070309020205020404" pitchFamily="49" charset="0"/>
              </a:rPr>
              <a:t>}</a:t>
            </a:r>
          </a:p>
          <a:p>
            <a:pPr>
              <a:buFont typeface="Monotype Sorts" pitchFamily="2" charset="2"/>
              <a:buNone/>
            </a:pPr>
            <a:r>
              <a:rPr lang="pt-BR" altLang="pt-BR" sz="1600" b="1" dirty="0">
                <a:latin typeface="Courier New" panose="02070309020205020404" pitchFamily="49" charset="0"/>
              </a:rPr>
              <a:t>  }</a:t>
            </a:r>
          </a:p>
          <a:p>
            <a:pPr>
              <a:buFont typeface="Monotype Sorts" pitchFamily="2" charset="2"/>
              <a:buNone/>
            </a:pPr>
            <a:r>
              <a:rPr lang="pt-BR" altLang="pt-BR" sz="16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0245" name="Text Box 5">
            <a:extLst>
              <a:ext uri="{FF2B5EF4-FFF2-40B4-BE49-F238E27FC236}">
                <a16:creationId xmlns:a16="http://schemas.microsoft.com/office/drawing/2014/main" id="{669CF219-15B9-41F5-85B9-1EEEE4E0B9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6400800"/>
            <a:ext cx="1371600" cy="304800"/>
          </a:xfrm>
          <a:prstGeom prst="rect">
            <a:avLst/>
          </a:prstGeom>
          <a:solidFill>
            <a:srgbClr val="99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sz="1400" b="1"/>
              <a:t>Exemplo5.java</a:t>
            </a:r>
            <a:endParaRPr lang="pt-BR" altLang="pt-B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89E9B659-6852-4A1C-8D37-8640FFC1B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pt-BR"/>
              <a:t>Dimas F. Cardoso</a:t>
            </a:r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741F6082-6037-40FE-BE65-6D0BBBAD1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/>
              <a:t>Fatec-Sorocaba  </a:t>
            </a:r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6715CEFE-1B67-4A57-959F-15512ADE32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73163" y="304800"/>
            <a:ext cx="7772400" cy="457200"/>
          </a:xfr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2700000" scaled="1"/>
          </a:gradFill>
        </p:spPr>
        <p:txBody>
          <a:bodyPr/>
          <a:lstStyle/>
          <a:p>
            <a:pPr algn="ctr"/>
            <a:r>
              <a:rPr lang="pt-BR" altLang="pt-BR" sz="3600">
                <a:solidFill>
                  <a:schemeClr val="bg1"/>
                </a:solidFill>
              </a:rPr>
              <a:t>Matriz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3B7E818C-4048-46E0-B35A-C24AFE3BB2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66800" y="990600"/>
            <a:ext cx="7772400" cy="5334000"/>
          </a:xfrm>
        </p:spPr>
        <p:txBody>
          <a:bodyPr/>
          <a:lstStyle/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pt-BR" altLang="pt-BR" sz="1600" b="1" dirty="0" err="1">
                <a:latin typeface="Courier New" panose="02070309020205020404" pitchFamily="49" charset="0"/>
              </a:rPr>
              <a:t>public</a:t>
            </a:r>
            <a:r>
              <a:rPr lang="pt-BR" altLang="pt-BR" sz="1600" b="1" dirty="0">
                <a:latin typeface="Courier New" panose="02070309020205020404" pitchFamily="49" charset="0"/>
              </a:rPr>
              <a:t> </a:t>
            </a:r>
            <a:r>
              <a:rPr lang="pt-BR" altLang="pt-BR" sz="1600" b="1" dirty="0" err="1">
                <a:latin typeface="Courier New" panose="02070309020205020404" pitchFamily="49" charset="0"/>
              </a:rPr>
              <a:t>class</a:t>
            </a:r>
            <a:r>
              <a:rPr lang="pt-BR" altLang="pt-BR" sz="1600" b="1" dirty="0">
                <a:latin typeface="Courier New" panose="02070309020205020404" pitchFamily="49" charset="0"/>
              </a:rPr>
              <a:t> Exemplo6{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pt-BR" altLang="pt-BR" sz="1600" b="1" dirty="0">
                <a:latin typeface="Courier New" panose="02070309020205020404" pitchFamily="49" charset="0"/>
              </a:rPr>
              <a:t>  </a:t>
            </a:r>
            <a:r>
              <a:rPr lang="pt-BR" altLang="pt-BR" sz="1600" b="1" dirty="0" err="1">
                <a:latin typeface="Courier New" panose="02070309020205020404" pitchFamily="49" charset="0"/>
              </a:rPr>
              <a:t>public</a:t>
            </a:r>
            <a:r>
              <a:rPr lang="pt-BR" altLang="pt-BR" sz="1600" b="1" dirty="0">
                <a:latin typeface="Courier New" panose="02070309020205020404" pitchFamily="49" charset="0"/>
              </a:rPr>
              <a:t> </a:t>
            </a:r>
            <a:r>
              <a:rPr lang="pt-BR" altLang="pt-BR" sz="1600" b="1" dirty="0" err="1">
                <a:latin typeface="Courier New" panose="02070309020205020404" pitchFamily="49" charset="0"/>
              </a:rPr>
              <a:t>static</a:t>
            </a:r>
            <a:r>
              <a:rPr lang="pt-BR" altLang="pt-BR" sz="1600" b="1" dirty="0">
                <a:latin typeface="Courier New" panose="02070309020205020404" pitchFamily="49" charset="0"/>
              </a:rPr>
              <a:t> </a:t>
            </a:r>
            <a:r>
              <a:rPr lang="pt-BR" altLang="pt-BR" sz="1600" b="1" dirty="0" err="1">
                <a:latin typeface="Courier New" panose="02070309020205020404" pitchFamily="49" charset="0"/>
              </a:rPr>
              <a:t>void</a:t>
            </a:r>
            <a:r>
              <a:rPr lang="pt-BR" altLang="pt-BR" sz="1600" b="1" dirty="0">
                <a:latin typeface="Courier New" panose="02070309020205020404" pitchFamily="49" charset="0"/>
              </a:rPr>
              <a:t> </a:t>
            </a:r>
            <a:r>
              <a:rPr lang="pt-BR" altLang="pt-BR" sz="1600" b="1" dirty="0" err="1">
                <a:latin typeface="Courier New" panose="02070309020205020404" pitchFamily="49" charset="0"/>
              </a:rPr>
              <a:t>main</a:t>
            </a:r>
            <a:r>
              <a:rPr lang="pt-BR" altLang="pt-BR" sz="1600" b="1" dirty="0">
                <a:latin typeface="Courier New" panose="02070309020205020404" pitchFamily="49" charset="0"/>
              </a:rPr>
              <a:t>(</a:t>
            </a:r>
            <a:r>
              <a:rPr lang="pt-BR" altLang="pt-BR" sz="1600" b="1" dirty="0" err="1">
                <a:latin typeface="Courier New" panose="02070309020205020404" pitchFamily="49" charset="0"/>
              </a:rPr>
              <a:t>String</a:t>
            </a:r>
            <a:r>
              <a:rPr lang="pt-BR" altLang="pt-BR" sz="1600" b="1" dirty="0">
                <a:latin typeface="Courier New" panose="02070309020205020404" pitchFamily="49" charset="0"/>
              </a:rPr>
              <a:t>[] </a:t>
            </a:r>
            <a:r>
              <a:rPr lang="pt-BR" altLang="pt-BR" sz="1600" b="1" dirty="0" err="1">
                <a:latin typeface="Courier New" panose="02070309020205020404" pitchFamily="49" charset="0"/>
              </a:rPr>
              <a:t>args</a:t>
            </a:r>
            <a:r>
              <a:rPr lang="pt-BR" altLang="pt-BR" sz="1600" b="1" dirty="0">
                <a:latin typeface="Courier New" panose="02070309020205020404" pitchFamily="49" charset="0"/>
              </a:rPr>
              <a:t>)  {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pt-BR" altLang="pt-BR" sz="1600" b="1" dirty="0">
                <a:latin typeface="Courier New" panose="02070309020205020404" pitchFamily="49" charset="0"/>
              </a:rPr>
              <a:t>    </a:t>
            </a:r>
            <a:r>
              <a:rPr lang="pt-BR" altLang="pt-BR" sz="1600" b="1" dirty="0" err="1">
                <a:latin typeface="Courier New" panose="02070309020205020404" pitchFamily="49" charset="0"/>
              </a:rPr>
              <a:t>int</a:t>
            </a:r>
            <a:r>
              <a:rPr lang="pt-BR" altLang="pt-BR" sz="1600" b="1" dirty="0">
                <a:latin typeface="Courier New" panose="02070309020205020404" pitchFamily="49" charset="0"/>
              </a:rPr>
              <a:t>[] </a:t>
            </a:r>
            <a:r>
              <a:rPr lang="pt-BR" altLang="pt-BR" sz="2000" b="1" dirty="0" err="1">
                <a:solidFill>
                  <a:srgbClr val="FF3300"/>
                </a:solidFill>
                <a:latin typeface="Courier New" panose="02070309020205020404" pitchFamily="49" charset="0"/>
              </a:rPr>
              <a:t>TabNum</a:t>
            </a:r>
            <a:r>
              <a:rPr lang="pt-BR" altLang="pt-BR" sz="1600" b="1" dirty="0">
                <a:latin typeface="Courier New" panose="02070309020205020404" pitchFamily="49" charset="0"/>
              </a:rPr>
              <a:t>; </a:t>
            </a:r>
            <a:r>
              <a:rPr lang="pt-BR" altLang="pt-BR" sz="2000" b="1" dirty="0">
                <a:solidFill>
                  <a:srgbClr val="009900"/>
                </a:solidFill>
                <a:latin typeface="Courier New" panose="02070309020205020404" pitchFamily="49" charset="0"/>
              </a:rPr>
              <a:t>//Declaração</a:t>
            </a:r>
            <a:r>
              <a:rPr lang="pt-BR" altLang="pt-BR" sz="1600" b="1" dirty="0"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pt-BR" altLang="pt-BR" sz="1600" b="1" dirty="0">
                <a:latin typeface="Courier New" panose="02070309020205020404" pitchFamily="49" charset="0"/>
              </a:rPr>
              <a:t>    </a:t>
            </a:r>
            <a:r>
              <a:rPr lang="pt-BR" altLang="pt-BR" sz="1600" b="1" dirty="0" err="1">
                <a:latin typeface="Courier New" panose="02070309020205020404" pitchFamily="49" charset="0"/>
              </a:rPr>
              <a:t>int</a:t>
            </a:r>
            <a:r>
              <a:rPr lang="pt-BR" altLang="pt-BR" sz="1600" b="1" dirty="0">
                <a:latin typeface="Courier New" panose="02070309020205020404" pitchFamily="49" charset="0"/>
              </a:rPr>
              <a:t> </a:t>
            </a:r>
            <a:r>
              <a:rPr lang="pt-BR" altLang="pt-BR" sz="1600" b="1" dirty="0" err="1">
                <a:latin typeface="Courier New" panose="02070309020205020404" pitchFamily="49" charset="0"/>
              </a:rPr>
              <a:t>Cont</a:t>
            </a:r>
            <a:r>
              <a:rPr lang="pt-BR" altLang="pt-BR" sz="1600" b="1" dirty="0"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pt-BR" altLang="pt-BR" sz="1600" b="1" dirty="0">
                <a:latin typeface="Courier New" panose="02070309020205020404" pitchFamily="49" charset="0"/>
              </a:rPr>
              <a:t>   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pt-BR" altLang="pt-BR" sz="1600" b="1" dirty="0">
                <a:latin typeface="Courier New" panose="02070309020205020404" pitchFamily="49" charset="0"/>
              </a:rPr>
              <a:t>    </a:t>
            </a:r>
            <a:r>
              <a:rPr lang="pt-BR" altLang="pt-BR" sz="2000" b="1" dirty="0" err="1">
                <a:solidFill>
                  <a:srgbClr val="FF3300"/>
                </a:solidFill>
                <a:latin typeface="Courier New" panose="02070309020205020404" pitchFamily="49" charset="0"/>
              </a:rPr>
              <a:t>TabNum</a:t>
            </a:r>
            <a:r>
              <a:rPr lang="pt-BR" altLang="pt-BR" sz="1600" b="1" dirty="0">
                <a:latin typeface="Courier New" panose="02070309020205020404" pitchFamily="49" charset="0"/>
              </a:rPr>
              <a:t> = </a:t>
            </a:r>
            <a:r>
              <a:rPr lang="pt-BR" altLang="pt-BR" sz="2000" b="1" dirty="0">
                <a:solidFill>
                  <a:schemeClr val="bg2"/>
                </a:solidFill>
                <a:latin typeface="Courier New" panose="02070309020205020404" pitchFamily="49" charset="0"/>
              </a:rPr>
              <a:t>new</a:t>
            </a:r>
            <a:r>
              <a:rPr lang="pt-BR" altLang="pt-BR" sz="1600" b="1" dirty="0">
                <a:latin typeface="Courier New" panose="02070309020205020404" pitchFamily="49" charset="0"/>
              </a:rPr>
              <a:t> </a:t>
            </a:r>
            <a:r>
              <a:rPr lang="pt-BR" altLang="pt-BR" sz="1600" b="1" dirty="0" err="1">
                <a:latin typeface="Courier New" panose="02070309020205020404" pitchFamily="49" charset="0"/>
              </a:rPr>
              <a:t>int</a:t>
            </a:r>
            <a:r>
              <a:rPr lang="pt-BR" altLang="pt-BR" sz="1600" b="1" dirty="0">
                <a:latin typeface="Courier New" panose="02070309020205020404" pitchFamily="49" charset="0"/>
              </a:rPr>
              <a:t>[3]; </a:t>
            </a:r>
            <a:r>
              <a:rPr lang="pt-BR" altLang="pt-BR" sz="2000" b="1" dirty="0">
                <a:solidFill>
                  <a:srgbClr val="009900"/>
                </a:solidFill>
                <a:latin typeface="Courier New" panose="02070309020205020404" pitchFamily="49" charset="0"/>
              </a:rPr>
              <a:t>//Criação</a:t>
            </a:r>
            <a:r>
              <a:rPr lang="pt-BR" altLang="pt-BR" sz="1600" b="1" dirty="0"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pt-BR" altLang="pt-BR" sz="1600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pt-BR" altLang="pt-BR" sz="1600" b="1" dirty="0">
                <a:latin typeface="Courier New" panose="02070309020205020404" pitchFamily="49" charset="0"/>
              </a:rPr>
              <a:t>    </a:t>
            </a:r>
            <a:r>
              <a:rPr lang="pt-BR" altLang="pt-BR" sz="2000" b="1" dirty="0" err="1">
                <a:solidFill>
                  <a:srgbClr val="FF3300"/>
                </a:solidFill>
                <a:latin typeface="Courier New" panose="02070309020205020404" pitchFamily="49" charset="0"/>
              </a:rPr>
              <a:t>TabNum</a:t>
            </a:r>
            <a:r>
              <a:rPr lang="pt-BR" altLang="pt-BR" sz="2000" b="1" dirty="0">
                <a:solidFill>
                  <a:srgbClr val="FF3300"/>
                </a:solidFill>
                <a:latin typeface="Courier New" panose="02070309020205020404" pitchFamily="49" charset="0"/>
              </a:rPr>
              <a:t>[</a:t>
            </a:r>
            <a:r>
              <a:rPr lang="pt-BR" altLang="pt-BR" sz="1600" b="1" dirty="0">
                <a:latin typeface="Courier New" panose="02070309020205020404" pitchFamily="49" charset="0"/>
              </a:rPr>
              <a:t>0</a:t>
            </a:r>
            <a:r>
              <a:rPr lang="pt-BR" altLang="pt-BR" sz="2000" b="1" dirty="0">
                <a:solidFill>
                  <a:srgbClr val="FF3300"/>
                </a:solidFill>
                <a:latin typeface="Courier New" panose="02070309020205020404" pitchFamily="49" charset="0"/>
              </a:rPr>
              <a:t>]</a:t>
            </a:r>
            <a:r>
              <a:rPr lang="pt-BR" altLang="pt-BR" sz="1600" b="1" dirty="0">
                <a:latin typeface="Courier New" panose="02070309020205020404" pitchFamily="49" charset="0"/>
              </a:rPr>
              <a:t>=34;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pt-BR" altLang="pt-BR" sz="1600" b="1" dirty="0">
                <a:latin typeface="Courier New" panose="02070309020205020404" pitchFamily="49" charset="0"/>
              </a:rPr>
              <a:t>    </a:t>
            </a:r>
            <a:r>
              <a:rPr lang="pt-BR" altLang="pt-BR" sz="2000" b="1" dirty="0" err="1">
                <a:solidFill>
                  <a:srgbClr val="FF3300"/>
                </a:solidFill>
                <a:latin typeface="Courier New" panose="02070309020205020404" pitchFamily="49" charset="0"/>
              </a:rPr>
              <a:t>TabNum</a:t>
            </a:r>
            <a:r>
              <a:rPr lang="pt-BR" altLang="pt-BR" sz="2000" b="1" dirty="0">
                <a:solidFill>
                  <a:srgbClr val="FF3300"/>
                </a:solidFill>
                <a:latin typeface="Courier New" panose="02070309020205020404" pitchFamily="49" charset="0"/>
              </a:rPr>
              <a:t>[</a:t>
            </a:r>
            <a:r>
              <a:rPr lang="pt-BR" altLang="pt-BR" sz="1600" b="1" dirty="0">
                <a:latin typeface="Courier New" panose="02070309020205020404" pitchFamily="49" charset="0"/>
              </a:rPr>
              <a:t>1</a:t>
            </a:r>
            <a:r>
              <a:rPr lang="pt-BR" altLang="pt-BR" sz="2000" b="1" dirty="0">
                <a:solidFill>
                  <a:srgbClr val="FF3300"/>
                </a:solidFill>
                <a:latin typeface="Courier New" panose="02070309020205020404" pitchFamily="49" charset="0"/>
              </a:rPr>
              <a:t>]</a:t>
            </a:r>
            <a:r>
              <a:rPr lang="pt-BR" altLang="pt-BR" sz="1600" b="1" dirty="0">
                <a:latin typeface="Courier New" panose="02070309020205020404" pitchFamily="49" charset="0"/>
              </a:rPr>
              <a:t>=18;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pt-BR" altLang="pt-BR" sz="1600" b="1" dirty="0">
                <a:latin typeface="Courier New" panose="02070309020205020404" pitchFamily="49" charset="0"/>
              </a:rPr>
              <a:t>    </a:t>
            </a:r>
            <a:r>
              <a:rPr lang="pt-BR" altLang="pt-BR" sz="2000" b="1" dirty="0" err="1">
                <a:solidFill>
                  <a:srgbClr val="FF3300"/>
                </a:solidFill>
                <a:latin typeface="Courier New" panose="02070309020205020404" pitchFamily="49" charset="0"/>
              </a:rPr>
              <a:t>TabNum</a:t>
            </a:r>
            <a:r>
              <a:rPr lang="pt-BR" altLang="pt-BR" sz="2000" b="1" dirty="0">
                <a:solidFill>
                  <a:srgbClr val="FF3300"/>
                </a:solidFill>
                <a:latin typeface="Courier New" panose="02070309020205020404" pitchFamily="49" charset="0"/>
              </a:rPr>
              <a:t>[</a:t>
            </a:r>
            <a:r>
              <a:rPr lang="pt-BR" altLang="pt-BR" sz="1600" b="1" dirty="0">
                <a:latin typeface="Courier New" panose="02070309020205020404" pitchFamily="49" charset="0"/>
              </a:rPr>
              <a:t>2</a:t>
            </a:r>
            <a:r>
              <a:rPr lang="pt-BR" altLang="pt-BR" sz="2000" b="1" dirty="0">
                <a:solidFill>
                  <a:srgbClr val="FF3300"/>
                </a:solidFill>
                <a:latin typeface="Courier New" panose="02070309020205020404" pitchFamily="49" charset="0"/>
              </a:rPr>
              <a:t>]</a:t>
            </a:r>
            <a:r>
              <a:rPr lang="pt-BR" altLang="pt-BR" sz="1600" b="1" dirty="0">
                <a:latin typeface="Courier New" panose="02070309020205020404" pitchFamily="49" charset="0"/>
              </a:rPr>
              <a:t>=27;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pt-BR" altLang="pt-BR" sz="1600" b="1" dirty="0">
                <a:latin typeface="Courier New" panose="02070309020205020404" pitchFamily="49" charset="0"/>
              </a:rPr>
              <a:t>    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pt-BR" altLang="pt-BR" sz="1600" b="1" dirty="0">
                <a:latin typeface="Courier New" panose="02070309020205020404" pitchFamily="49" charset="0"/>
              </a:rPr>
              <a:t>    for(</a:t>
            </a:r>
            <a:r>
              <a:rPr lang="pt-BR" altLang="pt-BR" sz="1600" b="1" dirty="0" err="1">
                <a:latin typeface="Courier New" panose="02070309020205020404" pitchFamily="49" charset="0"/>
              </a:rPr>
              <a:t>Cont</a:t>
            </a:r>
            <a:r>
              <a:rPr lang="pt-BR" altLang="pt-BR" sz="1600" b="1" dirty="0">
                <a:latin typeface="Courier New" panose="02070309020205020404" pitchFamily="49" charset="0"/>
              </a:rPr>
              <a:t>=0;Cont &lt; 3;Cont++){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pt-BR" altLang="pt-BR" sz="1600" b="1" dirty="0">
                <a:latin typeface="Courier New" panose="02070309020205020404" pitchFamily="49" charset="0"/>
              </a:rPr>
              <a:t>        </a:t>
            </a:r>
            <a:r>
              <a:rPr lang="pt-BR" altLang="pt-BR" sz="1600" b="1" dirty="0" err="1">
                <a:latin typeface="Courier New" panose="02070309020205020404" pitchFamily="49" charset="0"/>
              </a:rPr>
              <a:t>System.out.print</a:t>
            </a:r>
            <a:r>
              <a:rPr lang="pt-BR" altLang="pt-BR" sz="1600" b="1" dirty="0">
                <a:latin typeface="Courier New" panose="02070309020205020404" pitchFamily="49" charset="0"/>
              </a:rPr>
              <a:t>("</a:t>
            </a:r>
            <a:r>
              <a:rPr lang="pt-BR" altLang="pt-BR" sz="1600" b="1" dirty="0" err="1">
                <a:latin typeface="Courier New" panose="02070309020205020404" pitchFamily="49" charset="0"/>
              </a:rPr>
              <a:t>Conteudo</a:t>
            </a:r>
            <a:r>
              <a:rPr lang="pt-BR" altLang="pt-BR" sz="1600" b="1" dirty="0">
                <a:latin typeface="Courier New" panose="02070309020205020404" pitchFamily="49" charset="0"/>
              </a:rPr>
              <a:t> de </a:t>
            </a:r>
            <a:r>
              <a:rPr lang="pt-BR" altLang="pt-BR" sz="1600" b="1" dirty="0" err="1">
                <a:latin typeface="Courier New" panose="02070309020205020404" pitchFamily="49" charset="0"/>
              </a:rPr>
              <a:t>TabNum</a:t>
            </a:r>
            <a:r>
              <a:rPr lang="pt-BR" altLang="pt-BR" sz="1600" b="1" dirty="0">
                <a:latin typeface="Courier New" panose="02070309020205020404" pitchFamily="49" charset="0"/>
              </a:rPr>
              <a:t>[" + </a:t>
            </a:r>
            <a:r>
              <a:rPr lang="pt-BR" altLang="pt-BR" sz="1600" b="1" dirty="0" err="1">
                <a:latin typeface="Courier New" panose="02070309020205020404" pitchFamily="49" charset="0"/>
              </a:rPr>
              <a:t>Cont</a:t>
            </a:r>
            <a:r>
              <a:rPr lang="pt-BR" altLang="pt-BR" sz="1600" b="1" dirty="0">
                <a:latin typeface="Courier New" panose="02070309020205020404" pitchFamily="49" charset="0"/>
              </a:rPr>
              <a:t> +"]= ");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pt-BR" altLang="pt-BR" sz="1600" b="1" dirty="0">
                <a:latin typeface="Courier New" panose="02070309020205020404" pitchFamily="49" charset="0"/>
              </a:rPr>
              <a:t>        </a:t>
            </a:r>
            <a:r>
              <a:rPr lang="pt-BR" altLang="pt-BR" sz="1600" b="1" dirty="0" err="1">
                <a:latin typeface="Courier New" panose="02070309020205020404" pitchFamily="49" charset="0"/>
              </a:rPr>
              <a:t>System.out.println</a:t>
            </a:r>
            <a:r>
              <a:rPr lang="pt-BR" altLang="pt-BR" sz="1600" b="1" dirty="0">
                <a:latin typeface="Courier New" panose="02070309020205020404" pitchFamily="49" charset="0"/>
              </a:rPr>
              <a:t>(</a:t>
            </a:r>
            <a:r>
              <a:rPr lang="pt-BR" altLang="pt-BR" sz="2000" b="1" dirty="0" err="1">
                <a:solidFill>
                  <a:srgbClr val="FF3300"/>
                </a:solidFill>
                <a:latin typeface="Courier New" panose="02070309020205020404" pitchFamily="49" charset="0"/>
              </a:rPr>
              <a:t>TabNum</a:t>
            </a:r>
            <a:r>
              <a:rPr lang="pt-BR" altLang="pt-BR" sz="2000" b="1" dirty="0">
                <a:solidFill>
                  <a:srgbClr val="FF3300"/>
                </a:solidFill>
                <a:latin typeface="Courier New" panose="02070309020205020404" pitchFamily="49" charset="0"/>
              </a:rPr>
              <a:t>[</a:t>
            </a:r>
            <a:r>
              <a:rPr lang="pt-BR" altLang="pt-BR" sz="2000" b="1" dirty="0" err="1">
                <a:solidFill>
                  <a:srgbClr val="FF3300"/>
                </a:solidFill>
                <a:latin typeface="Courier New" panose="02070309020205020404" pitchFamily="49" charset="0"/>
              </a:rPr>
              <a:t>Cont</a:t>
            </a:r>
            <a:r>
              <a:rPr lang="pt-BR" altLang="pt-BR" sz="2000" b="1" dirty="0">
                <a:solidFill>
                  <a:srgbClr val="FF3300"/>
                </a:solidFill>
                <a:latin typeface="Courier New" panose="02070309020205020404" pitchFamily="49" charset="0"/>
              </a:rPr>
              <a:t>]</a:t>
            </a:r>
            <a:r>
              <a:rPr lang="pt-BR" altLang="pt-BR" sz="1600" b="1" dirty="0">
                <a:latin typeface="Courier New" panose="02070309020205020404" pitchFamily="49" charset="0"/>
              </a:rPr>
              <a:t>)</a:t>
            </a:r>
            <a:r>
              <a:rPr lang="pt-BR" altLang="pt-BR" sz="2000" b="1" dirty="0">
                <a:solidFill>
                  <a:srgbClr val="FF3300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pt-BR" altLang="pt-BR" sz="2000" b="1" dirty="0">
                <a:solidFill>
                  <a:srgbClr val="FF3300"/>
                </a:solidFill>
                <a:latin typeface="Courier New" panose="02070309020205020404" pitchFamily="49" charset="0"/>
              </a:rPr>
              <a:t>   </a:t>
            </a:r>
            <a:r>
              <a:rPr lang="pt-BR" altLang="pt-BR" sz="2000" b="1" dirty="0">
                <a:latin typeface="Courier New" panose="02070309020205020404" pitchFamily="49" charset="0"/>
              </a:rPr>
              <a:t>}</a:t>
            </a:r>
            <a:endParaRPr lang="pt-BR" altLang="pt-BR" sz="1600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pt-BR" altLang="pt-BR" sz="1600" b="1" dirty="0">
                <a:latin typeface="Courier New" panose="02070309020205020404" pitchFamily="49" charset="0"/>
              </a:rPr>
              <a:t>  }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pt-BR" altLang="pt-BR" sz="16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2293" name="Text Box 5">
            <a:extLst>
              <a:ext uri="{FF2B5EF4-FFF2-40B4-BE49-F238E27FC236}">
                <a16:creationId xmlns:a16="http://schemas.microsoft.com/office/drawing/2014/main" id="{7A07EF04-D637-4BA3-AAE1-6B4C89431C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6400800"/>
            <a:ext cx="1371600" cy="307777"/>
          </a:xfrm>
          <a:prstGeom prst="rect">
            <a:avLst/>
          </a:prstGeom>
          <a:solidFill>
            <a:srgbClr val="99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sz="1400" b="1" dirty="0"/>
              <a:t>Exemplo6.java</a:t>
            </a:r>
            <a:endParaRPr lang="pt-BR" altLang="pt-B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vata">
  <a:themeElements>
    <a:clrScheme name="Gravata 2">
      <a:dk1>
        <a:srgbClr val="000000"/>
      </a:dk1>
      <a:lt1>
        <a:srgbClr val="FFFFFF"/>
      </a:lt1>
      <a:dk2>
        <a:srgbClr val="003366"/>
      </a:dk2>
      <a:lt2>
        <a:srgbClr val="5490A8"/>
      </a:lt2>
      <a:accent1>
        <a:srgbClr val="0099CC"/>
      </a:accent1>
      <a:accent2>
        <a:srgbClr val="3366CC"/>
      </a:accent2>
      <a:accent3>
        <a:srgbClr val="FFFFFF"/>
      </a:accent3>
      <a:accent4>
        <a:srgbClr val="000000"/>
      </a:accent4>
      <a:accent5>
        <a:srgbClr val="AACAE2"/>
      </a:accent5>
      <a:accent6>
        <a:srgbClr val="2D5CB9"/>
      </a:accent6>
      <a:hlink>
        <a:srgbClr val="99CCFF"/>
      </a:hlink>
      <a:folHlink>
        <a:srgbClr val="E1E1B7"/>
      </a:folHlink>
    </a:clrScheme>
    <a:fontScheme name="Gravata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Gravata 1">
        <a:dk1>
          <a:srgbClr val="5490A8"/>
        </a:dk1>
        <a:lt1>
          <a:srgbClr val="DDDDDD"/>
        </a:lt1>
        <a:dk2>
          <a:srgbClr val="00172E"/>
        </a:dk2>
        <a:lt2>
          <a:srgbClr val="CCECFF"/>
        </a:lt2>
        <a:accent1>
          <a:srgbClr val="0099CC"/>
        </a:accent1>
        <a:accent2>
          <a:srgbClr val="3366CC"/>
        </a:accent2>
        <a:accent3>
          <a:srgbClr val="AAABAD"/>
        </a:accent3>
        <a:accent4>
          <a:srgbClr val="BDBDBD"/>
        </a:accent4>
        <a:accent5>
          <a:srgbClr val="AACAE2"/>
        </a:accent5>
        <a:accent6>
          <a:srgbClr val="2D5CB9"/>
        </a:accent6>
        <a:hlink>
          <a:srgbClr val="99CCFF"/>
        </a:hlink>
        <a:folHlink>
          <a:srgbClr val="E1E1B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avata 2">
        <a:dk1>
          <a:srgbClr val="000000"/>
        </a:dk1>
        <a:lt1>
          <a:srgbClr val="FFFFFF"/>
        </a:lt1>
        <a:dk2>
          <a:srgbClr val="003366"/>
        </a:dk2>
        <a:lt2>
          <a:srgbClr val="5490A8"/>
        </a:lt2>
        <a:accent1>
          <a:srgbClr val="0099CC"/>
        </a:accent1>
        <a:accent2>
          <a:srgbClr val="3366CC"/>
        </a:accent2>
        <a:accent3>
          <a:srgbClr val="FFFFFF"/>
        </a:accent3>
        <a:accent4>
          <a:srgbClr val="000000"/>
        </a:accent4>
        <a:accent5>
          <a:srgbClr val="AACAE2"/>
        </a:accent5>
        <a:accent6>
          <a:srgbClr val="2D5CB9"/>
        </a:accent6>
        <a:hlink>
          <a:srgbClr val="99CCFF"/>
        </a:hlink>
        <a:folHlink>
          <a:srgbClr val="E1E1B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avata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avata 4">
        <a:dk1>
          <a:srgbClr val="000000"/>
        </a:dk1>
        <a:lt1>
          <a:srgbClr val="FFFFFF"/>
        </a:lt1>
        <a:dk2>
          <a:srgbClr val="666633"/>
        </a:dk2>
        <a:lt2>
          <a:srgbClr val="908A6C"/>
        </a:lt2>
        <a:accent1>
          <a:srgbClr val="808000"/>
        </a:accent1>
        <a:accent2>
          <a:srgbClr val="996633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8A5C2D"/>
        </a:accent6>
        <a:hlink>
          <a:srgbClr val="CCCC00"/>
        </a:hlink>
        <a:folHlink>
          <a:srgbClr val="D6DE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avata 5">
        <a:dk1>
          <a:srgbClr val="000000"/>
        </a:dk1>
        <a:lt1>
          <a:srgbClr val="FFFFFF"/>
        </a:lt1>
        <a:dk2>
          <a:srgbClr val="181848"/>
        </a:dk2>
        <a:lt2>
          <a:srgbClr val="656F97"/>
        </a:lt2>
        <a:accent1>
          <a:srgbClr val="6666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B8B8FF"/>
        </a:accent5>
        <a:accent6>
          <a:srgbClr val="2D2D8A"/>
        </a:accent6>
        <a:hlink>
          <a:srgbClr val="9A9ABC"/>
        </a:hlink>
        <a:folHlink>
          <a:srgbClr val="D2B6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avata 6">
        <a:dk1>
          <a:srgbClr val="CC0066"/>
        </a:dk1>
        <a:lt1>
          <a:srgbClr val="FFFFFF"/>
        </a:lt1>
        <a:dk2>
          <a:srgbClr val="000000"/>
        </a:dk2>
        <a:lt2>
          <a:srgbClr val="CC0099"/>
        </a:lt2>
        <a:accent1>
          <a:srgbClr val="FF9900"/>
        </a:accent1>
        <a:accent2>
          <a:srgbClr val="CC6600"/>
        </a:accent2>
        <a:accent3>
          <a:srgbClr val="AAAAAA"/>
        </a:accent3>
        <a:accent4>
          <a:srgbClr val="DADADA"/>
        </a:accent4>
        <a:accent5>
          <a:srgbClr val="FFCAAA"/>
        </a:accent5>
        <a:accent6>
          <a:srgbClr val="B95C00"/>
        </a:accent6>
        <a:hlink>
          <a:srgbClr val="0099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91CF7CAD3336F43B26E249B762A2551" ma:contentTypeVersion="0" ma:contentTypeDescription="Crie um novo documento." ma:contentTypeScope="" ma:versionID="84f10ae0064297c318a46f88e288ce35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97561fba88d9dece65508bac662637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88AC129-F489-4286-A4C1-F1D189F7F185}"/>
</file>

<file path=customXml/itemProps2.xml><?xml version="1.0" encoding="utf-8"?>
<ds:datastoreItem xmlns:ds="http://schemas.openxmlformats.org/officeDocument/2006/customXml" ds:itemID="{18FC1115-D0C6-4D92-A718-E741BD22B8BD}"/>
</file>

<file path=customXml/itemProps3.xml><?xml version="1.0" encoding="utf-8"?>
<ds:datastoreItem xmlns:ds="http://schemas.openxmlformats.org/officeDocument/2006/customXml" ds:itemID="{1642C322-20E7-436D-99F1-E6295D60E07C}"/>
</file>

<file path=docProps/app.xml><?xml version="1.0" encoding="utf-8"?>
<Properties xmlns="http://schemas.openxmlformats.org/officeDocument/2006/extended-properties" xmlns:vt="http://schemas.openxmlformats.org/officeDocument/2006/docPropsVTypes">
  <Template>C:\Arquivos de programas\Microsoft Office\Modelos\Estruturas de apresentação\GRAVATA.POT</Template>
  <TotalTime>1395</TotalTime>
  <Words>625</Words>
  <Application>Microsoft Office PowerPoint</Application>
  <PresentationFormat>Apresentação na tela (4:3)</PresentationFormat>
  <Paragraphs>117</Paragraphs>
  <Slides>8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3" baseType="lpstr">
      <vt:lpstr>Arial</vt:lpstr>
      <vt:lpstr>Courier New</vt:lpstr>
      <vt:lpstr>Monotype Sorts</vt:lpstr>
      <vt:lpstr>Times New Roman</vt:lpstr>
      <vt:lpstr>Gravata</vt:lpstr>
      <vt:lpstr>Programação Orientada a Objetos</vt:lpstr>
      <vt:lpstr>Estrutura Básica</vt:lpstr>
      <vt:lpstr>Estrutura Básica</vt:lpstr>
      <vt:lpstr>Declaração de Variáveis</vt:lpstr>
      <vt:lpstr>Estrutura Condicional</vt:lpstr>
      <vt:lpstr>Estrutura Repetitiva</vt:lpstr>
      <vt:lpstr>Estrutura Repetitiva</vt:lpstr>
      <vt:lpstr>Matriz</vt:lpstr>
    </vt:vector>
  </TitlesOfParts>
  <Company>FATEC-SO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Análise Orientada a Objetos</dc:title>
  <dc:creator>dimas</dc:creator>
  <cp:lastModifiedBy>Dimas Cardoso</cp:lastModifiedBy>
  <cp:revision>64</cp:revision>
  <dcterms:created xsi:type="dcterms:W3CDTF">2003-08-12T17:50:11Z</dcterms:created>
  <dcterms:modified xsi:type="dcterms:W3CDTF">2026-02-26T23:33:24Z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0x010100A91CF7CAD3336F43B26E249B762A2551</vt:lpwstr>
  </property>
</Properties>
</file>